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76" r:id="rId2"/>
    <p:sldMasterId id="2147483663" r:id="rId3"/>
  </p:sldMasterIdLst>
  <p:notesMasterIdLst>
    <p:notesMasterId r:id="rId25"/>
  </p:notesMasterIdLst>
  <p:handoutMasterIdLst>
    <p:handoutMasterId r:id="rId26"/>
  </p:handoutMasterIdLst>
  <p:sldIdLst>
    <p:sldId id="256" r:id="rId4"/>
    <p:sldId id="264" r:id="rId5"/>
    <p:sldId id="325" r:id="rId6"/>
    <p:sldId id="314" r:id="rId7"/>
    <p:sldId id="470" r:id="rId8"/>
    <p:sldId id="464" r:id="rId9"/>
    <p:sldId id="471" r:id="rId10"/>
    <p:sldId id="468" r:id="rId11"/>
    <p:sldId id="472" r:id="rId12"/>
    <p:sldId id="473" r:id="rId13"/>
    <p:sldId id="474" r:id="rId14"/>
    <p:sldId id="476" r:id="rId15"/>
    <p:sldId id="495" r:id="rId16"/>
    <p:sldId id="477" r:id="rId17"/>
    <p:sldId id="478" r:id="rId18"/>
    <p:sldId id="479" r:id="rId19"/>
    <p:sldId id="480" r:id="rId20"/>
    <p:sldId id="482" r:id="rId21"/>
    <p:sldId id="483" r:id="rId22"/>
    <p:sldId id="484" r:id="rId23"/>
    <p:sldId id="312" r:id="rId24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3C41"/>
    <a:srgbClr val="FEFEFE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39" autoAdjust="0"/>
    <p:restoredTop sz="85359" autoAdjust="0"/>
  </p:normalViewPr>
  <p:slideViewPr>
    <p:cSldViewPr snapToGrid="0">
      <p:cViewPr varScale="1">
        <p:scale>
          <a:sx n="93" d="100"/>
          <a:sy n="93" d="100"/>
        </p:scale>
        <p:origin x="1306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8" d="100"/>
          <a:sy n="88" d="100"/>
        </p:scale>
        <p:origin x="2964" y="66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handoutMaster" Target="handoutMasters/handout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74FABB-6DBE-47C4-B626-20167906F47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2926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Az 'Arany </a:t>
            </a:r>
            <a:r>
              <a:rPr lang="en-US" dirty="0" err="1"/>
              <a:t>szabály</a:t>
            </a:r>
            <a:r>
              <a:rPr lang="en-US" dirty="0"/>
              <a:t>': SOHA ne rebase-</a:t>
            </a:r>
            <a:r>
              <a:rPr lang="en-US" dirty="0" err="1"/>
              <a:t>elj</a:t>
            </a:r>
            <a:r>
              <a:rPr lang="en-US" dirty="0"/>
              <a:t> </a:t>
            </a:r>
            <a:r>
              <a:rPr lang="en-US" dirty="0" err="1"/>
              <a:t>publikus</a:t>
            </a:r>
            <a:r>
              <a:rPr lang="en-US" dirty="0"/>
              <a:t> (shared) branch-</a:t>
            </a:r>
            <a:r>
              <a:rPr lang="en-US" dirty="0" err="1"/>
              <a:t>en</a:t>
            </a:r>
            <a:r>
              <a:rPr lang="en-US" dirty="0"/>
              <a:t>! 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legfontosabb</a:t>
            </a:r>
            <a:r>
              <a:rPr lang="en-US" dirty="0"/>
              <a:t> </a:t>
            </a:r>
            <a:r>
              <a:rPr lang="en-US" dirty="0" err="1"/>
              <a:t>üzenet</a:t>
            </a:r>
            <a:r>
              <a:rPr lang="en-US" dirty="0"/>
              <a:t>. A 'the golden rule of rebasing' - ha </a:t>
            </a:r>
            <a:r>
              <a:rPr lang="en-US" dirty="0" err="1"/>
              <a:t>mások</a:t>
            </a:r>
            <a:r>
              <a:rPr lang="en-US" dirty="0"/>
              <a:t> is </a:t>
            </a:r>
            <a:r>
              <a:rPr lang="en-US" dirty="0" err="1"/>
              <a:t>dolgoznak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ágon</a:t>
            </a:r>
            <a:r>
              <a:rPr lang="en-US" dirty="0"/>
              <a:t>, a rebase </a:t>
            </a:r>
            <a:r>
              <a:rPr lang="en-US" dirty="0" err="1"/>
              <a:t>felülírja</a:t>
            </a:r>
            <a:r>
              <a:rPr lang="en-US" dirty="0"/>
              <a:t> a commit hash-</a:t>
            </a:r>
            <a:r>
              <a:rPr lang="en-US" dirty="0" err="1"/>
              <a:t>eket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mindenki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en-US" dirty="0"/>
              <a:t> </a:t>
            </a:r>
            <a:r>
              <a:rPr lang="en-US" dirty="0" err="1"/>
              <a:t>káoszt</a:t>
            </a:r>
            <a:r>
              <a:rPr lang="en-US" dirty="0"/>
              <a:t> </a:t>
            </a:r>
            <a:r>
              <a:rPr lang="en-US" dirty="0" err="1"/>
              <a:t>okoz</a:t>
            </a:r>
            <a:r>
              <a:rPr lang="en-US" dirty="0"/>
              <a:t>. </a:t>
            </a:r>
            <a:r>
              <a:rPr lang="en-US" dirty="0" err="1"/>
              <a:t>Lokális</a:t>
            </a:r>
            <a:r>
              <a:rPr lang="en-US" dirty="0"/>
              <a:t> feature branch-</a:t>
            </a:r>
            <a:r>
              <a:rPr lang="en-US" dirty="0" err="1"/>
              <a:t>eken</a:t>
            </a:r>
            <a:r>
              <a:rPr lang="en-US" dirty="0"/>
              <a:t> </a:t>
            </a:r>
            <a:r>
              <a:rPr lang="en-US" dirty="0" err="1"/>
              <a:t>viszont</a:t>
            </a:r>
            <a:r>
              <a:rPr lang="en-US" dirty="0"/>
              <a:t> a rebase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elegáns</a:t>
            </a:r>
            <a:r>
              <a:rPr lang="en-US" dirty="0"/>
              <a:t> </a:t>
            </a:r>
            <a:r>
              <a:rPr lang="en-US" dirty="0" err="1"/>
              <a:t>eszköz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74FABB-6DBE-47C4-B626-20167906F4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21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GitFlow</a:t>
            </a:r>
            <a:r>
              <a:rPr lang="en-US" dirty="0"/>
              <a:t>-t 2010-ben Vincent Driessen </a:t>
            </a:r>
            <a:r>
              <a:rPr lang="en-US" dirty="0" err="1"/>
              <a:t>publikálta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blog </a:t>
            </a:r>
            <a:r>
              <a:rPr lang="en-US" dirty="0" err="1"/>
              <a:t>posztban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azonnal</a:t>
            </a:r>
            <a:r>
              <a:rPr lang="en-US" dirty="0"/>
              <a:t> </a:t>
            </a:r>
            <a:r>
              <a:rPr lang="en-US" dirty="0" err="1"/>
              <a:t>iparistandarddá</a:t>
            </a:r>
            <a:r>
              <a:rPr lang="en-US" dirty="0"/>
              <a:t> </a:t>
            </a:r>
            <a:r>
              <a:rPr lang="en-US" dirty="0" err="1"/>
              <a:t>vált</a:t>
            </a:r>
            <a:r>
              <a:rPr lang="en-US" dirty="0"/>
              <a:t>. Ma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Driessen is </a:t>
            </a:r>
            <a:r>
              <a:rPr lang="en-US" dirty="0" err="1"/>
              <a:t>hozzáteszi</a:t>
            </a:r>
            <a:r>
              <a:rPr lang="en-US" dirty="0"/>
              <a:t>: 'Ha </a:t>
            </a:r>
            <a:r>
              <a:rPr lang="en-US" dirty="0" err="1"/>
              <a:t>folyamatos</a:t>
            </a:r>
            <a:r>
              <a:rPr lang="en-US" dirty="0"/>
              <a:t> </a:t>
            </a:r>
            <a:r>
              <a:rPr lang="en-US" dirty="0" err="1"/>
              <a:t>szállítást</a:t>
            </a:r>
            <a:r>
              <a:rPr lang="en-US" dirty="0"/>
              <a:t> </a:t>
            </a:r>
            <a:r>
              <a:rPr lang="en-US" dirty="0" err="1"/>
              <a:t>végzel</a:t>
            </a:r>
            <a:r>
              <a:rPr lang="en-US" dirty="0"/>
              <a:t>, </a:t>
            </a:r>
            <a:r>
              <a:rPr lang="en-US" dirty="0" err="1"/>
              <a:t>ez</a:t>
            </a:r>
            <a:r>
              <a:rPr lang="en-US" dirty="0"/>
              <a:t> a </a:t>
            </a:r>
            <a:r>
              <a:rPr lang="en-US" dirty="0" err="1"/>
              <a:t>modell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neked</a:t>
            </a:r>
            <a:r>
              <a:rPr lang="en-US" dirty="0"/>
              <a:t> </a:t>
            </a:r>
            <a:r>
              <a:rPr lang="en-US" dirty="0" err="1"/>
              <a:t>való</a:t>
            </a:r>
            <a:r>
              <a:rPr lang="en-US" dirty="0"/>
              <a:t>.'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74FABB-6DBE-47C4-B626-20167906F47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1007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GitHub Flow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népszerű</a:t>
            </a:r>
            <a:r>
              <a:rPr lang="en-US" dirty="0"/>
              <a:t> </a:t>
            </a:r>
            <a:r>
              <a:rPr lang="en-US" dirty="0" err="1"/>
              <a:t>startupok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small teams </a:t>
            </a:r>
            <a:r>
              <a:rPr lang="en-US" dirty="0" err="1"/>
              <a:t>esetén</a:t>
            </a:r>
            <a:r>
              <a:rPr lang="en-US" dirty="0"/>
              <a:t>. A </a:t>
            </a:r>
            <a:r>
              <a:rPr lang="en-US" dirty="0" err="1"/>
              <a:t>kulcseleme</a:t>
            </a:r>
            <a:r>
              <a:rPr lang="en-US" dirty="0"/>
              <a:t>: a main branch MINDIG </a:t>
            </a:r>
            <a:r>
              <a:rPr lang="en-US" dirty="0" err="1"/>
              <a:t>deployolható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. 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robusztus</a:t>
            </a:r>
            <a:r>
              <a:rPr lang="en-US" dirty="0"/>
              <a:t> CI/CD pipeline </a:t>
            </a:r>
            <a:r>
              <a:rPr lang="en-US" dirty="0" err="1"/>
              <a:t>szükséges</a:t>
            </a:r>
            <a:r>
              <a:rPr lang="en-US" dirty="0"/>
              <a:t>. Ide </a:t>
            </a:r>
            <a:r>
              <a:rPr lang="en-US" dirty="0" err="1"/>
              <a:t>tartozik</a:t>
            </a:r>
            <a:r>
              <a:rPr lang="en-US" dirty="0"/>
              <a:t> a Pull Request </a:t>
            </a:r>
            <a:r>
              <a:rPr lang="en-US" dirty="0" err="1"/>
              <a:t>kultúra</a:t>
            </a:r>
            <a:r>
              <a:rPr lang="en-US" dirty="0"/>
              <a:t> –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kód</a:t>
            </a:r>
            <a:r>
              <a:rPr lang="en-US" dirty="0"/>
              <a:t> review-on </a:t>
            </a:r>
            <a:r>
              <a:rPr lang="en-US" dirty="0" err="1"/>
              <a:t>megy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</a:t>
            </a:r>
            <a:r>
              <a:rPr lang="en-US" dirty="0" err="1"/>
              <a:t>mielőtt</a:t>
            </a:r>
            <a:r>
              <a:rPr lang="en-US" dirty="0"/>
              <a:t> main-be </a:t>
            </a:r>
            <a:r>
              <a:rPr lang="en-US" dirty="0" err="1"/>
              <a:t>kerül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74FABB-6DBE-47C4-B626-20167906F47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383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Trunk-Based Development </a:t>
            </a:r>
            <a:r>
              <a:rPr lang="en-US" dirty="0" err="1"/>
              <a:t>stratégiát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'Accelerate' </a:t>
            </a:r>
            <a:r>
              <a:rPr lang="en-US" dirty="0" err="1"/>
              <a:t>könyv</a:t>
            </a:r>
            <a:r>
              <a:rPr lang="en-US" dirty="0"/>
              <a:t> (Forsgren, Humble, Kim, 2018) </a:t>
            </a:r>
            <a:r>
              <a:rPr lang="en-US" dirty="0" err="1"/>
              <a:t>kutatásai</a:t>
            </a:r>
            <a:r>
              <a:rPr lang="en-US" dirty="0"/>
              <a:t> </a:t>
            </a:r>
            <a:r>
              <a:rPr lang="en-US" dirty="0" err="1"/>
              <a:t>szerint</a:t>
            </a:r>
            <a:r>
              <a:rPr lang="en-US" dirty="0"/>
              <a:t> a high-performing </a:t>
            </a:r>
            <a:r>
              <a:rPr lang="en-US" dirty="0" err="1"/>
              <a:t>szoftvercégek</a:t>
            </a:r>
            <a:r>
              <a:rPr lang="en-US" dirty="0"/>
              <a:t> </a:t>
            </a:r>
            <a:r>
              <a:rPr lang="en-US" dirty="0" err="1"/>
              <a:t>szinte</a:t>
            </a:r>
            <a:r>
              <a:rPr lang="en-US" dirty="0"/>
              <a:t> mind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használják</a:t>
            </a:r>
            <a:r>
              <a:rPr lang="en-US" dirty="0"/>
              <a:t>. A feature flag </a:t>
            </a:r>
            <a:r>
              <a:rPr lang="en-US" dirty="0" err="1"/>
              <a:t>fogalma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hallgatónak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– </a:t>
            </a:r>
            <a:r>
              <a:rPr lang="en-US" dirty="0" err="1"/>
              <a:t>érdemes</a:t>
            </a:r>
            <a:r>
              <a:rPr lang="en-US" dirty="0"/>
              <a:t> </a:t>
            </a:r>
            <a:r>
              <a:rPr lang="en-US" dirty="0" err="1"/>
              <a:t>részletezni</a:t>
            </a:r>
            <a:r>
              <a:rPr lang="en-US" dirty="0"/>
              <a:t>: a </a:t>
            </a:r>
            <a:r>
              <a:rPr lang="en-US" dirty="0" err="1"/>
              <a:t>kód</a:t>
            </a:r>
            <a:r>
              <a:rPr lang="en-US" dirty="0"/>
              <a:t> </a:t>
            </a:r>
            <a:r>
              <a:rPr lang="en-US" dirty="0" err="1"/>
              <a:t>bekerül</a:t>
            </a:r>
            <a:r>
              <a:rPr lang="en-US" dirty="0"/>
              <a:t> production-</a:t>
            </a:r>
            <a:r>
              <a:rPr lang="en-US" dirty="0" err="1"/>
              <a:t>ba</a:t>
            </a:r>
            <a:r>
              <a:rPr lang="en-US" dirty="0"/>
              <a:t>, de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kapcsolóval</a:t>
            </a:r>
            <a:r>
              <a:rPr lang="en-US" dirty="0"/>
              <a:t> ki van </a:t>
            </a:r>
            <a:r>
              <a:rPr lang="en-US" dirty="0" err="1"/>
              <a:t>kapcsolva</a:t>
            </a:r>
            <a:r>
              <a:rPr lang="en-US" dirty="0"/>
              <a:t> a </a:t>
            </a:r>
            <a:r>
              <a:rPr lang="en-US" dirty="0" err="1"/>
              <a:t>végfelhasználók</a:t>
            </a:r>
            <a:r>
              <a:rPr lang="en-US" dirty="0"/>
              <a:t> </a:t>
            </a:r>
            <a:r>
              <a:rPr lang="en-US" dirty="0" err="1"/>
              <a:t>elől</a:t>
            </a:r>
            <a:r>
              <a:rPr lang="en-US" dirty="0"/>
              <a:t>. Ez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 a continuous deployment-et </a:t>
            </a:r>
            <a:r>
              <a:rPr lang="en-US" dirty="0" err="1"/>
              <a:t>befejezetlen</a:t>
            </a:r>
            <a:r>
              <a:rPr lang="en-US" dirty="0"/>
              <a:t> feature-</a:t>
            </a:r>
            <a:r>
              <a:rPr lang="en-US" dirty="0" err="1"/>
              <a:t>ökkel</a:t>
            </a:r>
            <a:r>
              <a:rPr lang="en-US" dirty="0"/>
              <a:t> is.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74FABB-6DBE-47C4-B626-20167906F47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679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 </a:t>
            </a:r>
            <a:r>
              <a:rPr lang="en-US" dirty="0" err="1"/>
              <a:t>arról</a:t>
            </a:r>
            <a:r>
              <a:rPr lang="en-US" dirty="0"/>
              <a:t> van </a:t>
            </a:r>
            <a:r>
              <a:rPr lang="en-US" dirty="0" err="1"/>
              <a:t>szó</a:t>
            </a:r>
            <a:r>
              <a:rPr lang="en-US" dirty="0"/>
              <a:t>, </a:t>
            </a:r>
            <a:r>
              <a:rPr lang="en-US" dirty="0" err="1"/>
              <a:t>melyik</a:t>
            </a:r>
            <a:r>
              <a:rPr lang="en-US" dirty="0"/>
              <a:t> a '</a:t>
            </a:r>
            <a:r>
              <a:rPr lang="en-US" dirty="0" err="1"/>
              <a:t>legjobb</a:t>
            </a:r>
            <a:r>
              <a:rPr lang="en-US" dirty="0"/>
              <a:t>',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melyik</a:t>
            </a:r>
            <a:r>
              <a:rPr lang="en-US" dirty="0"/>
              <a:t> </a:t>
            </a:r>
            <a:r>
              <a:rPr lang="en-US" dirty="0" err="1"/>
              <a:t>illik</a:t>
            </a:r>
            <a:r>
              <a:rPr lang="en-US" dirty="0"/>
              <a:t> a </a:t>
            </a:r>
            <a:r>
              <a:rPr lang="en-US" dirty="0" err="1"/>
              <a:t>csapathoz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a </a:t>
            </a:r>
            <a:r>
              <a:rPr lang="en-US" dirty="0" err="1"/>
              <a:t>projekthez</a:t>
            </a:r>
            <a:r>
              <a:rPr lang="en-US" dirty="0"/>
              <a:t>. Sok </a:t>
            </a:r>
            <a:r>
              <a:rPr lang="en-US" dirty="0" err="1"/>
              <a:t>cég</a:t>
            </a:r>
            <a:r>
              <a:rPr lang="en-US" dirty="0"/>
              <a:t> </a:t>
            </a:r>
            <a:r>
              <a:rPr lang="en-US" dirty="0" err="1"/>
              <a:t>GitFlow-val</a:t>
            </a:r>
            <a:r>
              <a:rPr lang="en-US" dirty="0"/>
              <a:t> </a:t>
            </a:r>
            <a:r>
              <a:rPr lang="en-US" dirty="0" err="1"/>
              <a:t>kezd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átvált</a:t>
            </a:r>
            <a:r>
              <a:rPr lang="en-US" dirty="0"/>
              <a:t> GitHub Flow-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trunk-based </a:t>
            </a:r>
            <a:r>
              <a:rPr lang="en-US" dirty="0" err="1"/>
              <a:t>fejlesztésre</a:t>
            </a:r>
            <a:r>
              <a:rPr lang="en-US" dirty="0"/>
              <a:t> </a:t>
            </a:r>
            <a:r>
              <a:rPr lang="en-US" dirty="0" err="1"/>
              <a:t>ahogy</a:t>
            </a:r>
            <a:r>
              <a:rPr lang="en-US" dirty="0"/>
              <a:t> </a:t>
            </a:r>
            <a:r>
              <a:rPr lang="en-US" dirty="0" err="1"/>
              <a:t>nő</a:t>
            </a:r>
            <a:r>
              <a:rPr lang="en-US" dirty="0"/>
              <a:t> a CI/CD </a:t>
            </a:r>
            <a:r>
              <a:rPr lang="en-US" dirty="0" err="1"/>
              <a:t>érettségük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74FABB-6DBE-47C4-B626-20167906F47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024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1466" y="1412416"/>
            <a:ext cx="4315968" cy="14219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title here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tIns="0" anchor="ctr" anchorCtr="0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DATE OR VENUE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531466" y="3049747"/>
            <a:ext cx="4315968" cy="3139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Please add subtitle here</a:t>
            </a:r>
          </a:p>
        </p:txBody>
      </p:sp>
      <p:pic>
        <p:nvPicPr>
          <p:cNvPr id="5" name="Picture Placeholder 6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333937" y="0"/>
            <a:ext cx="3810000" cy="5143500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5333937" y="0"/>
            <a:ext cx="3810000" cy="5143500"/>
          </a:xfrm>
          <a:prstGeom prst="rect">
            <a:avLst/>
          </a:prstGeom>
          <a:solidFill>
            <a:srgbClr val="464547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4" tIns="45717" rIns="91434" bIns="45717"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/>
          <a:stretch/>
        </p:blipFill>
        <p:spPr>
          <a:xfrm rot="5400000">
            <a:off x="2767227" y="2306574"/>
            <a:ext cx="5143500" cy="53035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H="1" flipV="1">
            <a:off x="627880" y="511280"/>
            <a:ext cx="891284" cy="316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9780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with Custom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1466" y="1412416"/>
            <a:ext cx="4315968" cy="14219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title here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531466" y="3843769"/>
            <a:ext cx="1945326" cy="399456"/>
          </a:xfrm>
        </p:spPr>
        <p:txBody>
          <a:bodyPr tIns="0" anchor="ctr" anchorCtr="0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DATE OR VENUE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531466" y="3049747"/>
            <a:ext cx="4315968" cy="3139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Please add subtitle here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5334000" y="0"/>
            <a:ext cx="3810000" cy="51435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baseline="0"/>
            </a:lvl1pPr>
          </a:lstStyle>
          <a:p>
            <a:r>
              <a:rPr lang="en-US" dirty="0"/>
              <a:t>Please add cover picture here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5073801" y="0"/>
            <a:ext cx="53035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H="1" flipV="1">
            <a:off x="627880" y="511280"/>
            <a:ext cx="891284" cy="316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81AF72-7AD6-334A-BFA2-32789379DA3D}"/>
              </a:ext>
            </a:extLst>
          </p:cNvPr>
          <p:cNvSpPr txBox="1"/>
          <p:nvPr userDrawn="1"/>
        </p:nvSpPr>
        <p:spPr>
          <a:xfrm>
            <a:off x="421400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2020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92641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nv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E38DE0-131E-E04E-BD2E-B00FD5B34CB6}"/>
              </a:ext>
            </a:extLst>
          </p:cNvPr>
          <p:cNvSpPr txBox="1"/>
          <p:nvPr userDrawn="1"/>
        </p:nvSpPr>
        <p:spPr>
          <a:xfrm>
            <a:off x="130783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2020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07877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079500"/>
            <a:ext cx="8429625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 dirty="0">
                <a:latin typeface="+mj-lt"/>
              </a:rPr>
              <a:t>In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consectetur</a:t>
            </a:r>
            <a:r>
              <a:rPr lang="en-US" sz="1100" dirty="0">
                <a:latin typeface="+mj-lt"/>
              </a:rPr>
              <a:t>. In dolor ipsum, gravida et </a:t>
            </a:r>
            <a:r>
              <a:rPr lang="en-US" sz="1100" dirty="0" err="1">
                <a:latin typeface="+mj-lt"/>
              </a:rPr>
              <a:t>sagittis</a:t>
            </a:r>
            <a:r>
              <a:rPr lang="en-US" sz="1100" dirty="0">
                <a:latin typeface="+mj-lt"/>
              </a:rPr>
              <a:t> id, </a:t>
            </a:r>
            <a:r>
              <a:rPr lang="en-US" sz="1100" dirty="0" err="1">
                <a:latin typeface="+mj-lt"/>
              </a:rPr>
              <a:t>sollicitudin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nisl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tempus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. Nam in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metus</a:t>
            </a:r>
            <a:r>
              <a:rPr lang="en-US" sz="1100" dirty="0">
                <a:latin typeface="+mj-lt"/>
              </a:rPr>
              <a:t>, ac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purus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consequat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lectus</a:t>
            </a:r>
            <a:r>
              <a:rPr lang="en-US" sz="1100" dirty="0">
                <a:latin typeface="+mj-lt"/>
              </a:rPr>
              <a:t> sit </a:t>
            </a:r>
            <a:r>
              <a:rPr lang="en-US" sz="1100" dirty="0" err="1">
                <a:latin typeface="+mj-lt"/>
              </a:rPr>
              <a:t>amet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pharetra,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venenatis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erat</a:t>
            </a:r>
            <a:r>
              <a:rPr lang="en-US" sz="1100" dirty="0">
                <a:latin typeface="+mj-lt"/>
              </a:rPr>
              <a:t> libero.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lorem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commodo</a:t>
            </a:r>
            <a:r>
              <a:rPr lang="en-US" sz="1100" dirty="0">
                <a:latin typeface="+mj-lt"/>
              </a:rPr>
              <a:t> vitae ex at, pharetra convallis </a:t>
            </a:r>
            <a:r>
              <a:rPr lang="en-US" sz="1100" dirty="0" err="1">
                <a:latin typeface="+mj-lt"/>
              </a:rPr>
              <a:t>nunc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vehicula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mauris</a:t>
            </a:r>
            <a:r>
              <a:rPr lang="en-US" sz="1100" dirty="0">
                <a:latin typeface="+mj-lt"/>
              </a:rPr>
              <a:t> ligula. </a:t>
            </a:r>
            <a:r>
              <a:rPr lang="en-US" sz="1100" dirty="0" err="1">
                <a:latin typeface="+mj-lt"/>
              </a:rPr>
              <a:t>Suspendisse</a:t>
            </a:r>
            <a:r>
              <a:rPr lang="en-US" sz="1100" dirty="0">
                <a:latin typeface="+mj-lt"/>
              </a:rPr>
              <a:t> in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congue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odio</a:t>
            </a:r>
            <a:r>
              <a:rPr lang="en-US" sz="1100" dirty="0">
                <a:latin typeface="+mj-lt"/>
              </a:rPr>
              <a:t> pharetra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. Nam </a:t>
            </a:r>
            <a:r>
              <a:rPr lang="en-US" sz="1100" dirty="0" err="1">
                <a:latin typeface="+mj-lt"/>
              </a:rPr>
              <a:t>vel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auctor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justo</a:t>
            </a:r>
            <a:r>
              <a:rPr lang="en-US" sz="1100" dirty="0">
                <a:latin typeface="+mj-lt"/>
              </a:rPr>
              <a:t>, vitae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Duis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sapien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pellentesque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massa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Nulla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feugiat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turpis</a:t>
            </a:r>
            <a:r>
              <a:rPr lang="en-US" sz="1100" dirty="0">
                <a:latin typeface="+mj-lt"/>
              </a:rPr>
              <a:t> et </a:t>
            </a:r>
            <a:r>
              <a:rPr lang="en-US" sz="1100" dirty="0" err="1">
                <a:latin typeface="+mj-lt"/>
              </a:rPr>
              <a:t>posuere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ipsum </a:t>
            </a:r>
            <a:r>
              <a:rPr lang="en-US" sz="1100" dirty="0" err="1">
                <a:latin typeface="+mj-lt"/>
              </a:rPr>
              <a:t>sem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tincidunt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est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ante semper diam. </a:t>
            </a:r>
            <a:r>
              <a:rPr lang="en-US" sz="1100" dirty="0" err="1">
                <a:latin typeface="+mj-lt"/>
              </a:rPr>
              <a:t>Nullam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quis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sem. </a:t>
            </a:r>
            <a:r>
              <a:rPr lang="en-US" sz="1100" dirty="0" err="1">
                <a:latin typeface="+mj-lt"/>
              </a:rPr>
              <a:t>Morbi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iaculis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elit</a:t>
            </a:r>
            <a:r>
              <a:rPr lang="en-US" sz="1100" dirty="0">
                <a:latin typeface="+mj-lt"/>
              </a:rPr>
              <a:t>, non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ac.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ultrices</a:t>
            </a:r>
            <a:r>
              <a:rPr lang="en-US" sz="1100" dirty="0">
                <a:latin typeface="+mj-lt"/>
              </a:rPr>
              <a:t> mi lorem,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vel.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284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079500"/>
            <a:ext cx="3986212" cy="33972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4800600" y="1079500"/>
            <a:ext cx="3986213" cy="33972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077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422400"/>
            <a:ext cx="8429625" cy="30543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 dirty="0">
                <a:latin typeface="+mj-lt"/>
              </a:rPr>
              <a:t>In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consectetur</a:t>
            </a:r>
            <a:r>
              <a:rPr lang="en-US" sz="1100" dirty="0">
                <a:latin typeface="+mj-lt"/>
              </a:rPr>
              <a:t>. In dolor ipsum, gravida et </a:t>
            </a:r>
            <a:r>
              <a:rPr lang="en-US" sz="1100" dirty="0" err="1">
                <a:latin typeface="+mj-lt"/>
              </a:rPr>
              <a:t>sagittis</a:t>
            </a:r>
            <a:r>
              <a:rPr lang="en-US" sz="1100" dirty="0">
                <a:latin typeface="+mj-lt"/>
              </a:rPr>
              <a:t> id, </a:t>
            </a:r>
            <a:r>
              <a:rPr lang="en-US" sz="1100" dirty="0" err="1">
                <a:latin typeface="+mj-lt"/>
              </a:rPr>
              <a:t>sollicitudin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nisl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tempus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. Nam in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metus</a:t>
            </a:r>
            <a:r>
              <a:rPr lang="en-US" sz="1100" dirty="0">
                <a:latin typeface="+mj-lt"/>
              </a:rPr>
              <a:t>, ac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purus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consequat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lectus</a:t>
            </a:r>
            <a:r>
              <a:rPr lang="en-US" sz="1100" dirty="0">
                <a:latin typeface="+mj-lt"/>
              </a:rPr>
              <a:t> sit </a:t>
            </a:r>
            <a:r>
              <a:rPr lang="en-US" sz="1100" dirty="0" err="1">
                <a:latin typeface="+mj-lt"/>
              </a:rPr>
              <a:t>amet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pharetra,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venenatis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erat</a:t>
            </a:r>
            <a:r>
              <a:rPr lang="en-US" sz="1100" dirty="0">
                <a:latin typeface="+mj-lt"/>
              </a:rPr>
              <a:t> libero.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lorem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commodo</a:t>
            </a:r>
            <a:r>
              <a:rPr lang="en-US" sz="1100" dirty="0">
                <a:latin typeface="+mj-lt"/>
              </a:rPr>
              <a:t> vitae ex at, pharetra convallis </a:t>
            </a:r>
            <a:r>
              <a:rPr lang="en-US" sz="1100" dirty="0" err="1">
                <a:latin typeface="+mj-lt"/>
              </a:rPr>
              <a:t>nunc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vehicula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mauris</a:t>
            </a:r>
            <a:r>
              <a:rPr lang="en-US" sz="1100" dirty="0">
                <a:latin typeface="+mj-lt"/>
              </a:rPr>
              <a:t> ligula. </a:t>
            </a:r>
            <a:r>
              <a:rPr lang="en-US" sz="1100" dirty="0" err="1">
                <a:latin typeface="+mj-lt"/>
              </a:rPr>
              <a:t>Suspendisse</a:t>
            </a:r>
            <a:r>
              <a:rPr lang="en-US" sz="1100" dirty="0">
                <a:latin typeface="+mj-lt"/>
              </a:rPr>
              <a:t> in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congue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odio</a:t>
            </a:r>
            <a:r>
              <a:rPr lang="en-US" sz="1100" dirty="0">
                <a:latin typeface="+mj-lt"/>
              </a:rPr>
              <a:t> pharetra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. Nam </a:t>
            </a:r>
            <a:r>
              <a:rPr lang="en-US" sz="1100" dirty="0" err="1">
                <a:latin typeface="+mj-lt"/>
              </a:rPr>
              <a:t>vel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auctor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justo</a:t>
            </a:r>
            <a:r>
              <a:rPr lang="en-US" sz="1100" dirty="0">
                <a:latin typeface="+mj-lt"/>
              </a:rPr>
              <a:t>, vitae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Duis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sapien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pellentesque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massa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Nulla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feugiat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turpis</a:t>
            </a:r>
            <a:r>
              <a:rPr lang="en-US" sz="1100" dirty="0">
                <a:latin typeface="+mj-lt"/>
              </a:rPr>
              <a:t> et </a:t>
            </a:r>
            <a:r>
              <a:rPr lang="en-US" sz="1100" dirty="0" err="1">
                <a:latin typeface="+mj-lt"/>
              </a:rPr>
              <a:t>posuere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ipsum </a:t>
            </a:r>
            <a:r>
              <a:rPr lang="en-US" sz="1100" dirty="0" err="1">
                <a:latin typeface="+mj-lt"/>
              </a:rPr>
              <a:t>sem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tincidunt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est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ante semper diam. </a:t>
            </a:r>
            <a:r>
              <a:rPr lang="en-US" sz="1100" dirty="0" err="1">
                <a:latin typeface="+mj-lt"/>
              </a:rPr>
              <a:t>Nullam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quis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sem. </a:t>
            </a:r>
            <a:r>
              <a:rPr lang="en-US" sz="1100" dirty="0" err="1">
                <a:latin typeface="+mj-lt"/>
              </a:rPr>
              <a:t>Morbi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iaculis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elit</a:t>
            </a:r>
            <a:r>
              <a:rPr lang="en-US" sz="1100" dirty="0">
                <a:latin typeface="+mj-lt"/>
              </a:rPr>
              <a:t>, non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ac.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ultrices</a:t>
            </a:r>
            <a:r>
              <a:rPr lang="en-US" sz="1100" dirty="0">
                <a:latin typeface="+mj-lt"/>
              </a:rPr>
              <a:t> mi lorem,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vel.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8" y="1079500"/>
            <a:ext cx="8429625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6467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1" cy="30543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800599" y="1422400"/>
            <a:ext cx="3993357" cy="30543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800597" y="1079500"/>
            <a:ext cx="3993359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OTHER Highlight goes here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4111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079500"/>
            <a:ext cx="3986211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13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Highligh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2" cy="30543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217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357188" y="1092491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3" hasCustomPrompt="1"/>
          </p:nvPr>
        </p:nvSpPr>
        <p:spPr>
          <a:xfrm>
            <a:off x="710972" y="1092491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Please put section one title here</a:t>
            </a:r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357188" y="4120134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357188" y="1698020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57188" y="2303549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4" name="Text Placeholder 13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2909078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5" name="Text Placeholder 13"/>
          <p:cNvSpPr>
            <a:spLocks noGrp="1"/>
          </p:cNvSpPr>
          <p:nvPr>
            <p:ph type="body" sz="quarter" idx="18" hasCustomPrompt="1"/>
          </p:nvPr>
        </p:nvSpPr>
        <p:spPr>
          <a:xfrm>
            <a:off x="357188" y="3514607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9" hasCustomPrompt="1"/>
          </p:nvPr>
        </p:nvSpPr>
        <p:spPr>
          <a:xfrm>
            <a:off x="710972" y="1697608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Please put section TWO title here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710972" y="2302725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Please put section THREE title here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1" hasCustomPrompt="1"/>
          </p:nvPr>
        </p:nvSpPr>
        <p:spPr>
          <a:xfrm>
            <a:off x="710972" y="2907842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22" hasCustomPrompt="1"/>
          </p:nvPr>
        </p:nvSpPr>
        <p:spPr>
          <a:xfrm>
            <a:off x="710972" y="3512959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And delete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3" hasCustomPrompt="1"/>
          </p:nvPr>
        </p:nvSpPr>
        <p:spPr>
          <a:xfrm>
            <a:off x="710972" y="4118077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The extras</a:t>
            </a:r>
          </a:p>
        </p:txBody>
      </p:sp>
      <p:sp>
        <p:nvSpPr>
          <p:cNvPr id="33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7082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Profile -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673894" y="1780394"/>
            <a:ext cx="3986211" cy="2696355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73893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sp>
        <p:nvSpPr>
          <p:cNvPr id="11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673893" y="1437495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900" b="1" i="1" cap="none" spc="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Please put title here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5333999" y="0"/>
            <a:ext cx="3810001" cy="48266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 userDrawn="1"/>
        </p:nvSpPr>
        <p:spPr>
          <a:xfrm>
            <a:off x="6228906" y="1403226"/>
            <a:ext cx="2020186" cy="2020186"/>
          </a:xfrm>
          <a:prstGeom prst="ellipse">
            <a:avLst/>
          </a:prstGeom>
          <a:noFill/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6406895" y="1581215"/>
            <a:ext cx="1664208" cy="1664208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1586703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480321" y="1780394"/>
            <a:ext cx="3993357" cy="2696355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480321" y="1079500"/>
            <a:ext cx="3986213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Please put name here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-1" y="0"/>
            <a:ext cx="3810001" cy="48266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 userDrawn="1"/>
        </p:nvSpPr>
        <p:spPr>
          <a:xfrm>
            <a:off x="894906" y="1403226"/>
            <a:ext cx="2020186" cy="2020186"/>
          </a:xfrm>
          <a:prstGeom prst="ellipse">
            <a:avLst/>
          </a:prstGeom>
          <a:noFill/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72895" y="1581215"/>
            <a:ext cx="1664208" cy="1664208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INSERT PHOTO HERE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4480321" y="1437495"/>
            <a:ext cx="399354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900" b="1" i="1" cap="none" spc="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Please put title here</a:t>
            </a:r>
          </a:p>
        </p:txBody>
      </p:sp>
      <p:sp>
        <p:nvSpPr>
          <p:cNvPr id="15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48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00" userDrawn="1">
          <p15:clr>
            <a:srgbClr val="FBAE40"/>
          </p15:clr>
        </p15:guide>
        <p15:guide id="2" orient="horz" pos="1524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 Color Canva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079500"/>
            <a:ext cx="8429625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 dirty="0">
                <a:latin typeface="+mj-lt"/>
              </a:rPr>
              <a:t>In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consectetur</a:t>
            </a:r>
            <a:r>
              <a:rPr lang="en-US" sz="1100" dirty="0">
                <a:latin typeface="+mj-lt"/>
              </a:rPr>
              <a:t>. In dolor ipsum, gravida et </a:t>
            </a:r>
            <a:r>
              <a:rPr lang="en-US" sz="1100" dirty="0" err="1">
                <a:latin typeface="+mj-lt"/>
              </a:rPr>
              <a:t>sagittis</a:t>
            </a:r>
            <a:r>
              <a:rPr lang="en-US" sz="1100" dirty="0">
                <a:latin typeface="+mj-lt"/>
              </a:rPr>
              <a:t> id, </a:t>
            </a:r>
            <a:r>
              <a:rPr lang="en-US" sz="1100" dirty="0" err="1">
                <a:latin typeface="+mj-lt"/>
              </a:rPr>
              <a:t>sollicitudin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nisl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tempus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. Nam in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metus</a:t>
            </a:r>
            <a:r>
              <a:rPr lang="en-US" sz="1100" dirty="0">
                <a:latin typeface="+mj-lt"/>
              </a:rPr>
              <a:t>, ac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purus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consequat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lectus</a:t>
            </a:r>
            <a:r>
              <a:rPr lang="en-US" sz="1100" dirty="0">
                <a:latin typeface="+mj-lt"/>
              </a:rPr>
              <a:t> sit </a:t>
            </a:r>
            <a:r>
              <a:rPr lang="en-US" sz="1100" dirty="0" err="1">
                <a:latin typeface="+mj-lt"/>
              </a:rPr>
              <a:t>amet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pharetra,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venenatis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erat</a:t>
            </a:r>
            <a:r>
              <a:rPr lang="en-US" sz="1100" dirty="0">
                <a:latin typeface="+mj-lt"/>
              </a:rPr>
              <a:t> libero.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lorem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commodo</a:t>
            </a:r>
            <a:r>
              <a:rPr lang="en-US" sz="1100" dirty="0">
                <a:latin typeface="+mj-lt"/>
              </a:rPr>
              <a:t> vitae ex at, pharetra convallis </a:t>
            </a:r>
            <a:r>
              <a:rPr lang="en-US" sz="1100" dirty="0" err="1">
                <a:latin typeface="+mj-lt"/>
              </a:rPr>
              <a:t>nunc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vehicula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mauris</a:t>
            </a:r>
            <a:r>
              <a:rPr lang="en-US" sz="1100" dirty="0">
                <a:latin typeface="+mj-lt"/>
              </a:rPr>
              <a:t> ligula. </a:t>
            </a:r>
            <a:r>
              <a:rPr lang="en-US" sz="1100" dirty="0" err="1">
                <a:latin typeface="+mj-lt"/>
              </a:rPr>
              <a:t>Suspendisse</a:t>
            </a:r>
            <a:r>
              <a:rPr lang="en-US" sz="1100" dirty="0">
                <a:latin typeface="+mj-lt"/>
              </a:rPr>
              <a:t> in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congue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odio</a:t>
            </a:r>
            <a:r>
              <a:rPr lang="en-US" sz="1100" dirty="0">
                <a:latin typeface="+mj-lt"/>
              </a:rPr>
              <a:t> pharetra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. Nam </a:t>
            </a:r>
            <a:r>
              <a:rPr lang="en-US" sz="1100" dirty="0" err="1">
                <a:latin typeface="+mj-lt"/>
              </a:rPr>
              <a:t>vel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auctor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justo</a:t>
            </a:r>
            <a:r>
              <a:rPr lang="en-US" sz="1100" dirty="0">
                <a:latin typeface="+mj-lt"/>
              </a:rPr>
              <a:t>, vitae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Duis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sapien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pellentesque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massa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Nulla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feugiat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turpis</a:t>
            </a:r>
            <a:r>
              <a:rPr lang="en-US" sz="1100" dirty="0">
                <a:latin typeface="+mj-lt"/>
              </a:rPr>
              <a:t> et </a:t>
            </a:r>
            <a:r>
              <a:rPr lang="en-US" sz="1100" dirty="0" err="1">
                <a:latin typeface="+mj-lt"/>
              </a:rPr>
              <a:t>posuere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ipsum </a:t>
            </a:r>
            <a:r>
              <a:rPr lang="en-US" sz="1100" dirty="0" err="1">
                <a:latin typeface="+mj-lt"/>
              </a:rPr>
              <a:t>sem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tincidunt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est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ante semper diam. </a:t>
            </a:r>
            <a:r>
              <a:rPr lang="en-US" sz="1100" dirty="0" err="1">
                <a:latin typeface="+mj-lt"/>
              </a:rPr>
              <a:t>Nullam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quis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sem. </a:t>
            </a:r>
            <a:r>
              <a:rPr lang="en-US" sz="1100" dirty="0" err="1">
                <a:latin typeface="+mj-lt"/>
              </a:rPr>
              <a:t>Morbi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iaculis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elit</a:t>
            </a:r>
            <a:r>
              <a:rPr lang="en-US" sz="1100" dirty="0">
                <a:latin typeface="+mj-lt"/>
              </a:rPr>
              <a:t>, non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ac.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ultrices</a:t>
            </a:r>
            <a:r>
              <a:rPr lang="en-US" sz="1100" dirty="0">
                <a:latin typeface="+mj-lt"/>
              </a:rPr>
              <a:t> mi lorem,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vel.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78541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on Color Canva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1" cy="30543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800599" y="1422400"/>
            <a:ext cx="3993357" cy="30543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800599" y="1079500"/>
            <a:ext cx="3986214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OTHER Highlight goes here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403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on Color Canvas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/>
          <p:cNvSpPr>
            <a:spLocks noGrp="1"/>
          </p:cNvSpPr>
          <p:nvPr>
            <p:ph sz="quarter" idx="16" hasCustomPrompt="1"/>
          </p:nvPr>
        </p:nvSpPr>
        <p:spPr>
          <a:xfrm>
            <a:off x="1127175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</p:txBody>
      </p:sp>
      <p:sp>
        <p:nvSpPr>
          <p:cNvPr id="5" name="Title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5735751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4" name="Title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431463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6" name="Title Placeholder 1"/>
          <p:cNvSpPr>
            <a:spLocks noGrp="1"/>
          </p:cNvSpPr>
          <p:nvPr>
            <p:ph type="body" sz="quarter" idx="12" hasCustomPrompt="1"/>
          </p:nvPr>
        </p:nvSpPr>
        <p:spPr>
          <a:xfrm>
            <a:off x="1127175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13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Content Placeholder 14"/>
          <p:cNvSpPr>
            <a:spLocks noGrp="1"/>
          </p:cNvSpPr>
          <p:nvPr>
            <p:ph sz="quarter" idx="17" hasCustomPrompt="1"/>
          </p:nvPr>
        </p:nvSpPr>
        <p:spPr>
          <a:xfrm>
            <a:off x="5735751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</p:txBody>
      </p:sp>
      <p:sp>
        <p:nvSpPr>
          <p:cNvPr id="17" name="Content Placeholder 14"/>
          <p:cNvSpPr>
            <a:spLocks noGrp="1"/>
          </p:cNvSpPr>
          <p:nvPr>
            <p:ph sz="quarter" idx="18" hasCustomPrompt="1"/>
          </p:nvPr>
        </p:nvSpPr>
        <p:spPr>
          <a:xfrm>
            <a:off x="3431463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177371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- EPAM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1780953" y="2098360"/>
            <a:ext cx="5582093" cy="58738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algn="ctr">
              <a:lnSpc>
                <a:spcPts val="2400"/>
              </a:lnSpc>
            </a:pP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Please add call out or quote here</a:t>
            </a:r>
            <a:br>
              <a:rPr lang="en-US" sz="1600" baseline="0" dirty="0">
                <a:solidFill>
                  <a:schemeClr val="bg1"/>
                </a:solidFill>
                <a:latin typeface="+mj-lt"/>
              </a:rPr>
            </a:b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sit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amet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consectetur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adipiscing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elit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Sed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nec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sem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gravida,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dapibus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turpis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porttitor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tincidunt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nibh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Orci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varius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natoque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penatibus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et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magnis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dis parturient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montes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nascetur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ridiculus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mus. Nam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eget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enim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mauris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Vivamus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sit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amet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congue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nunc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Duis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pellentesque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posuere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rutrum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Pellentesque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ac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diam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quis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justo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placerat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porta.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Phasellus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bibendum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vehicula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sem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id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ornare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Nam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commodo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ac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purus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condimentum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porta.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Proin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condimentum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lectus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leo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in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lacinia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diam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placerat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convallis. </a:t>
            </a:r>
            <a:endParaRPr lang="en-US" sz="1600" b="1" spc="200" baseline="0" dirty="0">
              <a:solidFill>
                <a:schemeClr val="bg1"/>
              </a:solidFill>
              <a:latin typeface="+mj-lt"/>
              <a:ea typeface="Calibri" charset="0"/>
              <a:cs typeface="Calibri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3049" r="42496"/>
          <a:stretch/>
        </p:blipFill>
        <p:spPr>
          <a:xfrm>
            <a:off x="1" y="-122440"/>
            <a:ext cx="1548202" cy="118744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3049" r="42496"/>
          <a:stretch/>
        </p:blipFill>
        <p:spPr>
          <a:xfrm rot="10800000">
            <a:off x="7595798" y="3681859"/>
            <a:ext cx="1548202" cy="1187447"/>
          </a:xfrm>
          <a:prstGeom prst="rect">
            <a:avLst/>
          </a:prstGeom>
        </p:spPr>
      </p:pic>
      <p:sp>
        <p:nvSpPr>
          <p:cNvPr id="7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066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2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4314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040C60-A39E-8442-A520-BA092303AC98}"/>
              </a:ext>
            </a:extLst>
          </p:cNvPr>
          <p:cNvCxnSpPr/>
          <p:nvPr userDrawn="1"/>
        </p:nvCxnSpPr>
        <p:spPr>
          <a:xfrm flipV="1">
            <a:off x="5986464" y="703218"/>
            <a:ext cx="0" cy="4123421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21FF28FE-B84E-5D44-B6A6-4B55087B12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711726"/>
            <a:ext cx="5986464" cy="408999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Shape 920">
            <a:extLst>
              <a:ext uri="{FF2B5EF4-FFF2-40B4-BE49-F238E27FC236}">
                <a16:creationId xmlns:a16="http://schemas.microsoft.com/office/drawing/2014/main" id="{D1A5E50C-7A92-6F49-870C-2507B203D755}"/>
              </a:ext>
            </a:extLst>
          </p:cNvPr>
          <p:cNvSpPr/>
          <p:nvPr userDrawn="1"/>
        </p:nvSpPr>
        <p:spPr>
          <a:xfrm>
            <a:off x="5986464" y="711726"/>
            <a:ext cx="3157536" cy="51859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28575" rIns="0" bIns="28575" anchor="ctr">
            <a:noAutofit/>
          </a:bodyPr>
          <a:lstStyle/>
          <a:p>
            <a:pPr marR="23813" indent="23813" algn="ctr" defTabSz="309567">
              <a:lnSpc>
                <a:spcPct val="90000"/>
              </a:lnSpc>
              <a:defRPr sz="2800" cap="all">
                <a:solidFill>
                  <a:srgbClr val="FFFFFF"/>
                </a:solidFill>
                <a:latin typeface="Oswald DemiBold"/>
                <a:ea typeface="Oswald DemiBold"/>
                <a:cs typeface="Oswald DemiBold"/>
                <a:sym typeface="Oswald DemiBold"/>
              </a:defRPr>
            </a:pPr>
            <a:endParaRPr sz="1200" b="1" kern="0" cap="all" spc="100" dirty="0">
              <a:solidFill>
                <a:srgbClr val="FFFFFF"/>
              </a:solidFill>
              <a:latin typeface="Calibri" charset="0"/>
              <a:ea typeface="Calibri" charset="0"/>
              <a:cs typeface="Calibri" charset="0"/>
              <a:sym typeface="Oswald DemiBold"/>
            </a:endParaRP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D86B7237-6AD3-844E-9A6E-C3E0C1013A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462" y="769496"/>
            <a:ext cx="3157537" cy="438912"/>
          </a:xfrm>
          <a:noFill/>
          <a:ln>
            <a:noFill/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94328E10-B013-0A4C-A50C-6D1D6CFD70B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93213" y="1772289"/>
            <a:ext cx="2656378" cy="305435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ts val="148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</a:p>
          <a:p>
            <a:pPr marL="171450" marR="0" lvl="0" indent="-171450" algn="l" defTabSz="914400" rtl="0" eaLnBrk="1" fontAlgn="auto" latinLnBrk="0" hangingPunct="1">
              <a:lnSpc>
                <a:spcPts val="148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ABD56F5B-8455-0345-910E-53CDD8476F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93213" y="1429389"/>
            <a:ext cx="2656378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</p:spTree>
    <p:extLst>
      <p:ext uri="{BB962C8B-B14F-4D97-AF65-F5344CB8AC3E}">
        <p14:creationId xmlns:p14="http://schemas.microsoft.com/office/powerpoint/2010/main" val="15118937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327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idx="1" hasCustomPrompt="1"/>
          </p:nvPr>
        </p:nvSpPr>
        <p:spPr>
          <a:xfrm>
            <a:off x="360363" y="1332311"/>
            <a:ext cx="8329612" cy="3147325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130302" marR="0" indent="-130302" algn="l" defTabSz="3429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 sz="14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add bulleted list</a:t>
            </a:r>
          </a:p>
          <a:p>
            <a:pPr lvl="0"/>
            <a:r>
              <a:rPr lang="en-US" dirty="0"/>
              <a:t>Click to add bulleted list</a:t>
            </a:r>
          </a:p>
          <a:p>
            <a:pPr lvl="0"/>
            <a:r>
              <a:rPr lang="en-US" dirty="0"/>
              <a:t>Click to add bulleted list</a:t>
            </a:r>
          </a:p>
          <a:p>
            <a:pPr marL="130302" marR="0" lvl="0" indent="-130302" algn="l" defTabSz="3429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10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/>
              <a:t>Click to add bulleted list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0"/>
            <a:ext cx="9144000" cy="6995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274320" tIns="34290" rIns="68580" bIns="34290" anchor="ctr" anchorCtr="0">
            <a:normAutofit/>
          </a:bodyPr>
          <a:lstStyle>
            <a:lvl1pPr marL="0" indent="0">
              <a:buNone/>
              <a:defRPr sz="20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418148" y="987552"/>
            <a:ext cx="1480576" cy="2646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lIns="68580" tIns="54864" rIns="68580" bIns="54864" anchor="ctr" anchorCtr="0">
            <a:spAutoFit/>
          </a:bodyPr>
          <a:lstStyle>
            <a:lvl1pPr marL="0" indent="0" algn="l">
              <a:spcBef>
                <a:spcPts val="0"/>
              </a:spcBef>
              <a:buNone/>
              <a:defRPr sz="100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TITLE TO GO HERE</a:t>
            </a:r>
          </a:p>
        </p:txBody>
      </p:sp>
    </p:spTree>
    <p:extLst>
      <p:ext uri="{BB962C8B-B14F-4D97-AF65-F5344CB8AC3E}">
        <p14:creationId xmlns:p14="http://schemas.microsoft.com/office/powerpoint/2010/main" val="16032465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EPAM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>
                <a:latin typeface="+mn-lt"/>
              </a:defRPr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18608758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Bright Blu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/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30461953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Lime Gree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/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162525151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Cora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/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2165456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3.xml"/><Relationship Id="rId19" Type="http://schemas.openxmlformats.org/officeDocument/2006/relationships/image" Target="../media/image5.emf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.e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31466" y="1412416"/>
            <a:ext cx="4315968" cy="142192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add title here</a:t>
            </a:r>
          </a:p>
        </p:txBody>
      </p:sp>
      <p:sp>
        <p:nvSpPr>
          <p:cNvPr id="4" name="Date Placeholder 3"/>
          <p:cNvSpPr>
            <a:spLocks noGrp="1"/>
          </p:cNvSpPr>
          <p:nvPr userDrawn="1">
            <p:ph type="dt" sz="half" idx="2"/>
          </p:nvPr>
        </p:nvSpPr>
        <p:spPr>
          <a:xfrm>
            <a:off x="625596" y="3843769"/>
            <a:ext cx="1945326" cy="399456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182880" tIns="91440" rIns="182880" bIns="0" rtlCol="0" anchor="ctr" anchorCtr="0"/>
          <a:lstStyle>
            <a:lvl1pPr algn="l">
              <a:defRPr sz="1200" b="1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230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0" r:id="rId2"/>
    <p:sldLayoutId id="2147483696" r:id="rId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800" kern="12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1600" b="1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3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4826639"/>
            <a:ext cx="9144000" cy="316862"/>
          </a:xfrm>
          <a:prstGeom prst="rect">
            <a:avLst/>
          </a:prstGeom>
          <a:solidFill>
            <a:srgbClr val="133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0364" y="1079500"/>
            <a:ext cx="8426449" cy="3397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Second</a:t>
            </a:r>
          </a:p>
          <a:p>
            <a:pPr lvl="2"/>
            <a:r>
              <a:rPr lang="en-US" dirty="0"/>
              <a:t>third</a:t>
            </a:r>
          </a:p>
          <a:p>
            <a:pPr lvl="3"/>
            <a:r>
              <a:rPr lang="en-US" dirty="0"/>
              <a:t>fourth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364" y="4911973"/>
            <a:ext cx="470910" cy="166976"/>
          </a:xfrm>
          <a:prstGeom prst="rect">
            <a:avLst/>
          </a:prstGeom>
        </p:spPr>
      </p:pic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</p:spPr>
        <p:txBody>
          <a:bodyPr vert="horz" wrap="none" lIns="0" tIns="45720" rIns="0" bIns="45720" rtlCol="0" anchor="ctr">
            <a:noAutofit/>
          </a:bodyPr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9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78E00D-81AB-8847-9E12-0981E03F6A7D}"/>
              </a:ext>
            </a:extLst>
          </p:cNvPr>
          <p:cNvSpPr txBox="1"/>
          <p:nvPr userDrawn="1"/>
        </p:nvSpPr>
        <p:spPr>
          <a:xfrm>
            <a:off x="943583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2026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77352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3" r:id="rId2"/>
    <p:sldLayoutId id="2147483681" r:id="rId3"/>
    <p:sldLayoutId id="2147483682" r:id="rId4"/>
    <p:sldLayoutId id="2147483685" r:id="rId5"/>
    <p:sldLayoutId id="2147483686" r:id="rId6"/>
    <p:sldLayoutId id="2147483687" r:id="rId7"/>
    <p:sldLayoutId id="2147483692" r:id="rId8"/>
    <p:sldLayoutId id="2147483688" r:id="rId9"/>
    <p:sldLayoutId id="2147483689" r:id="rId10"/>
    <p:sldLayoutId id="2147483684" r:id="rId11"/>
    <p:sldLayoutId id="2147483695" r:id="rId12"/>
    <p:sldLayoutId id="2147483694" r:id="rId13"/>
    <p:sldLayoutId id="2147483690" r:id="rId14"/>
    <p:sldLayoutId id="2147483697" r:id="rId15"/>
    <p:sldLayoutId id="2147483691" r:id="rId16"/>
    <p:sldLayoutId id="2147483698" r:id="rId17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 cap="none" spc="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914400" rtl="0" eaLnBrk="1" latinLnBrk="0" hangingPunct="1">
        <a:lnSpc>
          <a:spcPts val="1600"/>
        </a:lnSpc>
        <a:spcBef>
          <a:spcPts val="264"/>
        </a:spcBef>
        <a:spcAft>
          <a:spcPts val="3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628650" indent="-1714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5850" indent="-1714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orient="horz" pos="338" userDrawn="1">
          <p15:clr>
            <a:srgbClr val="F26B43"/>
          </p15:clr>
        </p15:guide>
        <p15:guide id="3" orient="horz" pos="680" userDrawn="1">
          <p15:clr>
            <a:srgbClr val="F26B43"/>
          </p15:clr>
        </p15:guide>
        <p15:guide id="4" orient="horz" pos="2820" userDrawn="1">
          <p15:clr>
            <a:srgbClr val="F26B43"/>
          </p15:clr>
        </p15:guide>
        <p15:guide id="5" pos="226" userDrawn="1">
          <p15:clr>
            <a:srgbClr val="F26B43"/>
          </p15:clr>
        </p15:guide>
        <p15:guide id="6" pos="5535" userDrawn="1">
          <p15:clr>
            <a:srgbClr val="F26B43"/>
          </p15:clr>
        </p15:guide>
        <p15:guide id="7" orient="horz" pos="896" userDrawn="1">
          <p15:clr>
            <a:srgbClr val="F26B43"/>
          </p15:clr>
        </p15:guide>
        <p15:guide id="8" pos="2736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orient="horz" pos="3036" userDrawn="1">
          <p15:clr>
            <a:srgbClr val="F26B43"/>
          </p15:clr>
        </p15:guide>
        <p15:guide id="11" orient="horz" pos="3084" userDrawn="1">
          <p15:clr>
            <a:srgbClr val="F26B43"/>
          </p15:clr>
        </p15:guide>
        <p15:guide id="12" orient="horz" pos="318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80954" y="1803228"/>
            <a:ext cx="5582093" cy="12201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endParaRPr lang="en-US" sz="4400" b="1" spc="200" dirty="0">
              <a:solidFill>
                <a:schemeClr val="bg1"/>
              </a:solidFill>
              <a:latin typeface="Calibri" charset="0"/>
              <a:ea typeface="Calibri" charset="0"/>
              <a:cs typeface="Calibri" charset="0"/>
            </a:endParaRPr>
          </a:p>
        </p:txBody>
      </p:sp>
      <p:sp>
        <p:nvSpPr>
          <p:cNvPr id="7" name="Rectangle 6"/>
          <p:cNvSpPr/>
          <p:nvPr userDrawn="1"/>
        </p:nvSpPr>
        <p:spPr>
          <a:xfrm>
            <a:off x="0" y="4826639"/>
            <a:ext cx="9144000" cy="316862"/>
          </a:xfrm>
          <a:prstGeom prst="rect">
            <a:avLst/>
          </a:prstGeom>
          <a:solidFill>
            <a:schemeClr val="accent1">
              <a:lumMod val="2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364" y="4911973"/>
            <a:ext cx="470910" cy="1669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32217A-8F11-8743-849F-F8E866BEB919}"/>
              </a:ext>
            </a:extLst>
          </p:cNvPr>
          <p:cNvSpPr txBox="1"/>
          <p:nvPr userDrawn="1"/>
        </p:nvSpPr>
        <p:spPr>
          <a:xfrm>
            <a:off x="943583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2026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48617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bg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31466" y="1761860"/>
            <a:ext cx="4315968" cy="738293"/>
          </a:xfrm>
        </p:spPr>
        <p:txBody>
          <a:bodyPr/>
          <a:lstStyle/>
          <a:p>
            <a:r>
              <a:rPr lang="en-US" dirty="0" err="1"/>
              <a:t>Verziókezelés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Git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531466" y="3381640"/>
            <a:ext cx="4315968" cy="313932"/>
          </a:xfrm>
        </p:spPr>
        <p:txBody>
          <a:bodyPr/>
          <a:lstStyle/>
          <a:p>
            <a:r>
              <a:rPr lang="en-US" dirty="0"/>
              <a:t>Szilard Szabo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AD212A-E369-CB46-BE9C-0744152A0BAF}"/>
              </a:ext>
            </a:extLst>
          </p:cNvPr>
          <p:cNvSpPr txBox="1"/>
          <p:nvPr/>
        </p:nvSpPr>
        <p:spPr>
          <a:xfrm>
            <a:off x="433143" y="4867516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2026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33196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Agenda</a:t>
            </a:r>
            <a:endParaRPr lang="en-US" dirty="0"/>
          </a:p>
        </p:txBody>
      </p:sp>
      <p:pic>
        <p:nvPicPr>
          <p:cNvPr id="7" name="Picture Placeholder 6" descr="A person using a computer&#10;&#10;Description automatically generated">
            <a:extLst>
              <a:ext uri="{FF2B5EF4-FFF2-40B4-BE49-F238E27FC236}">
                <a16:creationId xmlns:a16="http://schemas.microsoft.com/office/drawing/2014/main" id="{C335CE7A-98B6-4D9A-9C0D-C196EBC0CFE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3" r="20353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357188" y="908243"/>
            <a:ext cx="356616" cy="356616"/>
          </a:xfrm>
        </p:spPr>
        <p:txBody>
          <a:bodyPr/>
          <a:lstStyle/>
          <a:p>
            <a:r>
              <a:rPr lang="hu-HU" dirty="0"/>
              <a:t>1</a:t>
            </a:r>
            <a:endParaRPr 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710972" y="908243"/>
            <a:ext cx="3632428" cy="356616"/>
          </a:xfrm>
        </p:spPr>
        <p:txBody>
          <a:bodyPr/>
          <a:lstStyle/>
          <a:p>
            <a:r>
              <a:rPr lang="en-US" dirty="0" err="1">
                <a:solidFill>
                  <a:srgbClr val="444444"/>
                </a:solidFill>
              </a:rPr>
              <a:t>verziókezelés</a:t>
            </a:r>
            <a:endParaRPr lang="en-US" dirty="0"/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15"/>
          </p:nvPr>
        </p:nvSpPr>
        <p:spPr>
          <a:xfrm>
            <a:off x="357188" y="1513772"/>
            <a:ext cx="356616" cy="356616"/>
          </a:xfrm>
        </p:spPr>
        <p:txBody>
          <a:bodyPr/>
          <a:lstStyle/>
          <a:p>
            <a:r>
              <a:rPr lang="hu-HU" dirty="0"/>
              <a:t>2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6"/>
          </p:nvPr>
        </p:nvSpPr>
        <p:spPr>
          <a:xfrm>
            <a:off x="357188" y="2119301"/>
            <a:ext cx="356616" cy="356616"/>
          </a:xfrm>
        </p:spPr>
        <p:txBody>
          <a:bodyPr/>
          <a:lstStyle/>
          <a:p>
            <a:r>
              <a:rPr lang="hu-HU" dirty="0"/>
              <a:t>3</a:t>
            </a:r>
            <a:endParaRPr lang="en-US" dirty="0"/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19"/>
          </p:nvPr>
        </p:nvSpPr>
        <p:spPr>
          <a:xfrm>
            <a:off x="710972" y="1513360"/>
            <a:ext cx="3632428" cy="356616"/>
          </a:xfrm>
        </p:spPr>
        <p:txBody>
          <a:bodyPr/>
          <a:lstStyle/>
          <a:p>
            <a:r>
              <a:rPr lang="en-US" dirty="0" err="1">
                <a:solidFill>
                  <a:srgbClr val="444444"/>
                </a:solidFill>
              </a:rPr>
              <a:t>Verziókezelő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rendszerek</a:t>
            </a:r>
            <a:r>
              <a:rPr lang="en-US" dirty="0">
                <a:solidFill>
                  <a:srgbClr val="444444"/>
                </a:solidFill>
              </a:rPr>
              <a:t> (VCS) </a:t>
            </a:r>
            <a:r>
              <a:rPr lang="en-US" dirty="0" err="1">
                <a:solidFill>
                  <a:srgbClr val="444444"/>
                </a:solidFill>
              </a:rPr>
              <a:t>típusai</a:t>
            </a:r>
            <a:endParaRPr lang="en-US" dirty="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710972" y="2118477"/>
            <a:ext cx="3632428" cy="356616"/>
          </a:xfrm>
        </p:spPr>
        <p:txBody>
          <a:bodyPr/>
          <a:lstStyle/>
          <a:p>
            <a:r>
              <a:rPr lang="en-US" dirty="0" err="1"/>
              <a:t>Git</a:t>
            </a:r>
            <a:r>
              <a:rPr lang="en-US" dirty="0"/>
              <a:t>, GITHUB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1C89A-3E1B-FF47-B76F-3E8ED7756F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A707DD9-E92B-45E8-BE0A-E6B2EDF345EB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1" name="Text Placeholder 23"/>
          <p:cNvSpPr>
            <a:spLocks noGrp="1"/>
          </p:cNvSpPr>
          <p:nvPr>
            <p:ph type="body" sz="quarter" idx="16"/>
          </p:nvPr>
        </p:nvSpPr>
        <p:spPr>
          <a:xfrm>
            <a:off x="352636" y="2653838"/>
            <a:ext cx="356616" cy="356616"/>
          </a:xfrm>
        </p:spPr>
        <p:txBody>
          <a:bodyPr/>
          <a:lstStyle/>
          <a:p>
            <a:r>
              <a:rPr lang="en-US" dirty="0"/>
              <a:t>4</a:t>
            </a:r>
          </a:p>
        </p:txBody>
      </p:sp>
      <p:sp>
        <p:nvSpPr>
          <p:cNvPr id="12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706420" y="2653014"/>
            <a:ext cx="3632428" cy="356616"/>
          </a:xfrm>
        </p:spPr>
        <p:txBody>
          <a:bodyPr/>
          <a:lstStyle/>
          <a:p>
            <a:r>
              <a:rPr lang="en-US" dirty="0" err="1"/>
              <a:t>Git</a:t>
            </a:r>
            <a:r>
              <a:rPr lang="en-US" dirty="0"/>
              <a:t> </a:t>
            </a:r>
            <a:r>
              <a:rPr lang="en-US" dirty="0" err="1"/>
              <a:t>architecktúrája</a:t>
            </a:r>
            <a:endParaRPr lang="en-US" dirty="0"/>
          </a:p>
        </p:txBody>
      </p:sp>
      <p:sp>
        <p:nvSpPr>
          <p:cNvPr id="13" name="Text Placeholder 23"/>
          <p:cNvSpPr>
            <a:spLocks noGrp="1"/>
          </p:cNvSpPr>
          <p:nvPr>
            <p:ph type="body" sz="quarter" idx="16"/>
          </p:nvPr>
        </p:nvSpPr>
        <p:spPr>
          <a:xfrm>
            <a:off x="354908" y="3202025"/>
            <a:ext cx="356616" cy="356616"/>
          </a:xfrm>
        </p:spPr>
        <p:txBody>
          <a:bodyPr/>
          <a:lstStyle/>
          <a:p>
            <a:r>
              <a:rPr lang="en-US" dirty="0"/>
              <a:t>5</a:t>
            </a:r>
          </a:p>
        </p:txBody>
      </p:sp>
      <p:sp>
        <p:nvSpPr>
          <p:cNvPr id="14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708692" y="3201201"/>
            <a:ext cx="3632428" cy="356616"/>
          </a:xfrm>
        </p:spPr>
        <p:txBody>
          <a:bodyPr/>
          <a:lstStyle/>
          <a:p>
            <a:r>
              <a:rPr lang="en-US" dirty="0" err="1"/>
              <a:t>Git</a:t>
            </a:r>
            <a:r>
              <a:rPr lang="en-US" dirty="0"/>
              <a:t> </a:t>
            </a:r>
            <a:r>
              <a:rPr lang="en-US" dirty="0" err="1"/>
              <a:t>parancsok</a:t>
            </a:r>
            <a:endParaRPr lang="en-US" dirty="0"/>
          </a:p>
        </p:txBody>
      </p:sp>
      <p:sp>
        <p:nvSpPr>
          <p:cNvPr id="15" name="Text Placeholder 23"/>
          <p:cNvSpPr>
            <a:spLocks noGrp="1"/>
          </p:cNvSpPr>
          <p:nvPr>
            <p:ph type="body" sz="quarter" idx="16"/>
          </p:nvPr>
        </p:nvSpPr>
        <p:spPr>
          <a:xfrm>
            <a:off x="357180" y="3729742"/>
            <a:ext cx="356616" cy="356616"/>
          </a:xfrm>
        </p:spPr>
        <p:txBody>
          <a:bodyPr/>
          <a:lstStyle/>
          <a:p>
            <a:r>
              <a:rPr lang="en-US" dirty="0"/>
              <a:t>6</a:t>
            </a:r>
          </a:p>
        </p:txBody>
      </p:sp>
      <p:sp>
        <p:nvSpPr>
          <p:cNvPr id="16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710964" y="3728918"/>
            <a:ext cx="3632428" cy="356616"/>
          </a:xfrm>
        </p:spPr>
        <p:txBody>
          <a:bodyPr/>
          <a:lstStyle/>
          <a:p>
            <a:r>
              <a:rPr lang="en-US" dirty="0"/>
              <a:t>branching</a:t>
            </a:r>
          </a:p>
        </p:txBody>
      </p:sp>
      <p:sp>
        <p:nvSpPr>
          <p:cNvPr id="17" name="Text Placeholder 23"/>
          <p:cNvSpPr>
            <a:spLocks noGrp="1"/>
          </p:cNvSpPr>
          <p:nvPr>
            <p:ph type="body" sz="quarter" idx="16"/>
          </p:nvPr>
        </p:nvSpPr>
        <p:spPr>
          <a:xfrm>
            <a:off x="352628" y="4243810"/>
            <a:ext cx="356616" cy="356616"/>
          </a:xfrm>
        </p:spPr>
        <p:txBody>
          <a:bodyPr/>
          <a:lstStyle/>
          <a:p>
            <a:r>
              <a:rPr lang="en-US" dirty="0"/>
              <a:t>7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706412" y="4242986"/>
            <a:ext cx="3632428" cy="356616"/>
          </a:xfrm>
        </p:spPr>
        <p:txBody>
          <a:bodyPr/>
          <a:lstStyle/>
          <a:p>
            <a:r>
              <a:rPr lang="en-US" dirty="0"/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568211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 err="1"/>
              <a:t>Mi</a:t>
            </a:r>
            <a:r>
              <a:rPr lang="en-US" sz="3200" dirty="0"/>
              <a:t> a </a:t>
            </a:r>
            <a:r>
              <a:rPr lang="en-US" sz="3200" dirty="0" err="1"/>
              <a:t>verziókezelés</a:t>
            </a:r>
            <a:r>
              <a:rPr lang="en-US" sz="3200" dirty="0"/>
              <a:t>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95E08B-236F-5B4F-801C-4C75369E0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A707DD9-E92B-45E8-BE0A-E6B2EDF345EB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" name="Tartalom helye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800" dirty="0" err="1"/>
              <a:t>Változások</a:t>
            </a:r>
            <a:r>
              <a:rPr lang="en-US" sz="2800" dirty="0"/>
              <a:t> </a:t>
            </a:r>
            <a:r>
              <a:rPr lang="en-US" sz="2800" dirty="0" err="1"/>
              <a:t>követése</a:t>
            </a:r>
            <a:r>
              <a:rPr lang="en-US" sz="2800" dirty="0"/>
              <a:t> </a:t>
            </a:r>
            <a:r>
              <a:rPr lang="en-US" sz="2800" dirty="0" err="1"/>
              <a:t>az</a:t>
            </a:r>
            <a:r>
              <a:rPr lang="en-US" sz="2800" dirty="0"/>
              <a:t> </a:t>
            </a:r>
            <a:r>
              <a:rPr lang="en-US" sz="2800" dirty="0" err="1"/>
              <a:t>időben</a:t>
            </a:r>
            <a:r>
              <a:rPr lang="en-US" sz="28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Ki, </a:t>
            </a:r>
            <a:r>
              <a:rPr lang="en-US" sz="2800" dirty="0" err="1"/>
              <a:t>mit</a:t>
            </a:r>
            <a:r>
              <a:rPr lang="en-US" sz="2800" dirty="0"/>
              <a:t>, </a:t>
            </a:r>
            <a:r>
              <a:rPr lang="en-US" sz="2800" dirty="0" err="1"/>
              <a:t>mikor</a:t>
            </a:r>
            <a:r>
              <a:rPr lang="en-US" sz="2800" dirty="0"/>
              <a:t> </a:t>
            </a:r>
            <a:r>
              <a:rPr lang="en-US" sz="2800" dirty="0" err="1"/>
              <a:t>és</a:t>
            </a:r>
            <a:r>
              <a:rPr lang="en-US" sz="2800" dirty="0"/>
              <a:t> </a:t>
            </a:r>
            <a:r>
              <a:rPr lang="en-US" sz="2800" dirty="0" err="1"/>
              <a:t>miért</a:t>
            </a:r>
            <a:r>
              <a:rPr lang="en-US" sz="2800" dirty="0"/>
              <a:t> </a:t>
            </a:r>
            <a:r>
              <a:rPr lang="en-US" sz="2800" dirty="0" err="1"/>
              <a:t>módosított</a:t>
            </a:r>
            <a:r>
              <a:rPr lang="en-US" sz="2800" dirty="0"/>
              <a:t>?</a:t>
            </a:r>
          </a:p>
          <a:p>
            <a:pPr>
              <a:lnSpc>
                <a:spcPct val="150000"/>
              </a:lnSpc>
            </a:pPr>
            <a:r>
              <a:rPr lang="en-US" sz="2800" dirty="0" err="1"/>
              <a:t>Visszaállási</a:t>
            </a:r>
            <a:r>
              <a:rPr lang="en-US" sz="2800" dirty="0"/>
              <a:t> </a:t>
            </a:r>
            <a:r>
              <a:rPr lang="en-US" sz="2800" dirty="0" err="1"/>
              <a:t>lehetőség</a:t>
            </a:r>
            <a:r>
              <a:rPr lang="en-US" sz="2800" dirty="0"/>
              <a:t> (Rollback).</a:t>
            </a:r>
          </a:p>
          <a:p>
            <a:pPr>
              <a:lnSpc>
                <a:spcPct val="150000"/>
              </a:lnSpc>
            </a:pPr>
            <a:r>
              <a:rPr lang="en-US" sz="2800" dirty="0" err="1"/>
              <a:t>Párhuzamos</a:t>
            </a:r>
            <a:r>
              <a:rPr lang="en-US" sz="2800" dirty="0"/>
              <a:t> </a:t>
            </a:r>
            <a:r>
              <a:rPr lang="en-US" sz="2800" dirty="0" err="1"/>
              <a:t>munkavégzés</a:t>
            </a:r>
            <a:r>
              <a:rPr lang="en-US" sz="2800" dirty="0"/>
              <a:t> </a:t>
            </a:r>
            <a:r>
              <a:rPr lang="en-US" sz="2800" dirty="0" err="1"/>
              <a:t>támogatása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7990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 err="1"/>
              <a:t>Verziókezelés</a:t>
            </a:r>
            <a:r>
              <a:rPr lang="en-US" sz="2400" dirty="0"/>
              <a:t> </a:t>
            </a:r>
            <a:r>
              <a:rPr lang="en-US" sz="2400" dirty="0" err="1"/>
              <a:t>nélkül</a:t>
            </a:r>
            <a:endParaRPr lang="en-US" sz="2400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357188" y="1422400"/>
            <a:ext cx="4580571" cy="211328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hu-HU" sz="2000" dirty="0"/>
              <a:t>final_v2.java</a:t>
            </a:r>
          </a:p>
          <a:p>
            <a:pPr>
              <a:lnSpc>
                <a:spcPct val="150000"/>
              </a:lnSpc>
            </a:pPr>
            <a:r>
              <a:rPr lang="hu-HU" sz="2000" dirty="0"/>
              <a:t>final_final.java</a:t>
            </a:r>
          </a:p>
          <a:p>
            <a:pPr>
              <a:lnSpc>
                <a:spcPct val="150000"/>
              </a:lnSpc>
            </a:pPr>
            <a:r>
              <a:rPr lang="hu-HU" sz="2000" dirty="0"/>
              <a:t>final_final_REAL.java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800160-BC63-054B-87DD-D877764D4B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A707DD9-E92B-45E8-BE0A-E6B2EDF345EB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133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Verziókezelő</a:t>
            </a:r>
            <a:r>
              <a:rPr lang="en-US" dirty="0"/>
              <a:t> </a:t>
            </a:r>
            <a:r>
              <a:rPr lang="en-US" dirty="0" err="1"/>
              <a:t>rendszerek</a:t>
            </a:r>
            <a:r>
              <a:rPr lang="en-US" dirty="0"/>
              <a:t> (VCS)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360364" y="1074381"/>
            <a:ext cx="5941253" cy="2856174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1800" b="1" dirty="0" err="1"/>
              <a:t>Helyi</a:t>
            </a:r>
            <a:r>
              <a:rPr lang="en-US" sz="1800" b="1" dirty="0"/>
              <a:t> (Local): </a:t>
            </a:r>
            <a:r>
              <a:rPr lang="en-US" sz="1800" dirty="0" err="1"/>
              <a:t>csak</a:t>
            </a:r>
            <a:r>
              <a:rPr lang="en-US" sz="1800" dirty="0"/>
              <a:t> a </a:t>
            </a:r>
            <a:r>
              <a:rPr lang="en-US" sz="1800" dirty="0" err="1"/>
              <a:t>saját</a:t>
            </a:r>
            <a:r>
              <a:rPr lang="en-US" sz="1800" dirty="0"/>
              <a:t> </a:t>
            </a:r>
            <a:r>
              <a:rPr lang="en-US" sz="1800" dirty="0" err="1"/>
              <a:t>gépen</a:t>
            </a:r>
            <a:r>
              <a:rPr lang="en-US" sz="1800" dirty="0"/>
              <a:t> (pl. RCS)</a:t>
            </a:r>
            <a:endParaRPr lang="hu-HU" sz="1800" dirty="0"/>
          </a:p>
          <a:p>
            <a:pPr>
              <a:lnSpc>
                <a:spcPct val="150000"/>
              </a:lnSpc>
            </a:pPr>
            <a:r>
              <a:rPr lang="en-US" sz="1800" b="1" dirty="0" err="1"/>
              <a:t>Központosított</a:t>
            </a:r>
            <a:r>
              <a:rPr lang="en-US" sz="1800" b="1" dirty="0"/>
              <a:t> (CVCS):</a:t>
            </a:r>
            <a:r>
              <a:rPr lang="en-US" sz="1800" dirty="0"/>
              <a:t> </a:t>
            </a:r>
            <a:r>
              <a:rPr lang="en-US" sz="1800" dirty="0" err="1"/>
              <a:t>egy</a:t>
            </a:r>
            <a:r>
              <a:rPr lang="en-US" sz="1800" dirty="0"/>
              <a:t> </a:t>
            </a:r>
            <a:r>
              <a:rPr lang="en-US" sz="1800" dirty="0" err="1"/>
              <a:t>szerver</a:t>
            </a:r>
            <a:r>
              <a:rPr lang="en-US" sz="1800" dirty="0"/>
              <a:t>, </a:t>
            </a:r>
            <a:r>
              <a:rPr lang="en-US" sz="1800" dirty="0" err="1"/>
              <a:t>mindenki</a:t>
            </a:r>
            <a:r>
              <a:rPr lang="en-US" sz="1800" dirty="0"/>
              <a:t> </a:t>
            </a:r>
            <a:r>
              <a:rPr lang="en-US" sz="1800" dirty="0" err="1"/>
              <a:t>oda</a:t>
            </a:r>
            <a:r>
              <a:rPr lang="en-US" sz="1800" dirty="0"/>
              <a:t> </a:t>
            </a:r>
            <a:r>
              <a:rPr lang="en-US" sz="1800" dirty="0" err="1"/>
              <a:t>commitol</a:t>
            </a:r>
            <a:r>
              <a:rPr lang="en-US" sz="1800" dirty="0"/>
              <a:t> (pl. SVN, Perforce, VSS)</a:t>
            </a:r>
            <a:br>
              <a:rPr lang="en-US" sz="1800" dirty="0"/>
            </a:br>
            <a:r>
              <a:rPr lang="en-US" sz="1800" i="1" dirty="0" err="1"/>
              <a:t>Hibaforrás</a:t>
            </a:r>
            <a:r>
              <a:rPr lang="en-US" sz="1800" i="1" dirty="0"/>
              <a:t>: Single Point of Failure</a:t>
            </a:r>
            <a:endParaRPr lang="hu-HU" sz="1800" dirty="0"/>
          </a:p>
          <a:p>
            <a:pPr>
              <a:lnSpc>
                <a:spcPct val="150000"/>
              </a:lnSpc>
            </a:pPr>
            <a:r>
              <a:rPr lang="en-US" sz="1800" b="1" dirty="0" err="1"/>
              <a:t>Elosztott</a:t>
            </a:r>
            <a:r>
              <a:rPr lang="en-US" sz="1800" b="1" dirty="0"/>
              <a:t> (DVCS): </a:t>
            </a:r>
            <a:r>
              <a:rPr lang="en-US" sz="1800" dirty="0" err="1"/>
              <a:t>mindenkinél</a:t>
            </a:r>
            <a:r>
              <a:rPr lang="en-US" sz="1800" dirty="0"/>
              <a:t> </a:t>
            </a:r>
            <a:r>
              <a:rPr lang="en-US" sz="1800" dirty="0" err="1"/>
              <a:t>ott</a:t>
            </a:r>
            <a:r>
              <a:rPr lang="en-US" sz="1800" dirty="0"/>
              <a:t> a </a:t>
            </a:r>
            <a:r>
              <a:rPr lang="en-US" sz="1800" dirty="0" err="1"/>
              <a:t>teljes</a:t>
            </a:r>
            <a:r>
              <a:rPr lang="en-US" sz="1800" dirty="0"/>
              <a:t> </a:t>
            </a:r>
            <a:r>
              <a:rPr lang="en-US" sz="1800" dirty="0" err="1"/>
              <a:t>történet</a:t>
            </a:r>
            <a:r>
              <a:rPr lang="en-US" sz="1800" dirty="0"/>
              <a:t> (pl. </a:t>
            </a:r>
            <a:r>
              <a:rPr lang="en-US" sz="1800" dirty="0" err="1"/>
              <a:t>Git</a:t>
            </a:r>
            <a:r>
              <a:rPr lang="en-US" sz="1800" dirty="0"/>
              <a:t>, Mercurial).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800160-BC63-054B-87DD-D877764D4B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A707DD9-E92B-45E8-BE0A-E6B2EDF345EB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17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30000"/>
              </a:lnSpc>
              <a:spcAft>
                <a:spcPts val="1000"/>
              </a:spcAft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: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maga</a:t>
            </a:r>
            <a:r>
              <a:rPr lang="en-US" sz="1800" dirty="0">
                <a:solidFill>
                  <a:srgbClr val="444444"/>
                </a:solidFill>
              </a:rPr>
              <a:t> a </a:t>
            </a:r>
            <a:r>
              <a:rPr lang="en-US" sz="1800" dirty="0" err="1">
                <a:solidFill>
                  <a:srgbClr val="444444"/>
                </a:solidFill>
              </a:rPr>
              <a:t>szoftver</a:t>
            </a:r>
            <a:r>
              <a:rPr lang="en-US" sz="1800" dirty="0">
                <a:solidFill>
                  <a:srgbClr val="444444"/>
                </a:solidFill>
              </a:rPr>
              <a:t> (</a:t>
            </a:r>
            <a:r>
              <a:rPr lang="en-US" sz="1800" dirty="0" err="1">
                <a:solidFill>
                  <a:srgbClr val="444444"/>
                </a:solidFill>
              </a:rPr>
              <a:t>verziókezelő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rendszer</a:t>
            </a:r>
            <a:r>
              <a:rPr lang="en-US" sz="1800" dirty="0">
                <a:solidFill>
                  <a:srgbClr val="444444"/>
                </a:solidFill>
              </a:rPr>
              <a:t>).</a:t>
            </a:r>
          </a:p>
          <a:p>
            <a:pPr>
              <a:lnSpc>
                <a:spcPct val="130000"/>
              </a:lnSpc>
              <a:spcAft>
                <a:spcPts val="1000"/>
              </a:spcAft>
              <a:buClr>
                <a:srgbClr val="2FC2D9"/>
              </a:buClr>
            </a:pPr>
            <a:r>
              <a:rPr lang="en-US" sz="1800" b="1" dirty="0">
                <a:solidFill>
                  <a:srgbClr val="444444"/>
                </a:solidFill>
              </a:rPr>
              <a:t>GitHub/</a:t>
            </a:r>
            <a:r>
              <a:rPr lang="en-US" sz="1800" b="1" dirty="0" err="1">
                <a:solidFill>
                  <a:srgbClr val="444444"/>
                </a:solidFill>
              </a:rPr>
              <a:t>GitLab</a:t>
            </a:r>
            <a:r>
              <a:rPr lang="en-US" sz="1800" b="1" dirty="0">
                <a:solidFill>
                  <a:srgbClr val="444444"/>
                </a:solidFill>
              </a:rPr>
              <a:t>/</a:t>
            </a:r>
            <a:r>
              <a:rPr lang="en-US" sz="1800" b="1" dirty="0" err="1">
                <a:solidFill>
                  <a:srgbClr val="444444"/>
                </a:solidFill>
              </a:rPr>
              <a:t>Bitbucket</a:t>
            </a:r>
            <a:r>
              <a:rPr lang="en-US" sz="1800" b="1" dirty="0">
                <a:solidFill>
                  <a:srgbClr val="444444"/>
                </a:solidFill>
              </a:rPr>
              <a:t>: </a:t>
            </a:r>
            <a:r>
              <a:rPr lang="en-US" sz="1800" dirty="0" err="1">
                <a:solidFill>
                  <a:srgbClr val="444444"/>
                </a:solidFill>
              </a:rPr>
              <a:t>tárhelyszolgáltatók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és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kollaborációs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platformok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spcAft>
                <a:spcPts val="1000"/>
              </a:spcAft>
              <a:buClr>
                <a:srgbClr val="2FC2D9"/>
              </a:buClr>
            </a:pPr>
            <a:r>
              <a:rPr lang="en-US" sz="1800" b="1" dirty="0">
                <a:solidFill>
                  <a:srgbClr val="444444"/>
                </a:solidFill>
              </a:rPr>
              <a:t>Fun fact: </a:t>
            </a:r>
            <a:r>
              <a:rPr lang="en-US" sz="1800" dirty="0">
                <a:solidFill>
                  <a:srgbClr val="444444"/>
                </a:solidFill>
              </a:rPr>
              <a:t>Linus Torvalds (a Linux </a:t>
            </a:r>
            <a:r>
              <a:rPr lang="en-US" sz="1800" dirty="0" err="1">
                <a:solidFill>
                  <a:srgbClr val="444444"/>
                </a:solidFill>
              </a:rPr>
              <a:t>atyja</a:t>
            </a:r>
            <a:r>
              <a:rPr lang="en-US" sz="1800" dirty="0">
                <a:solidFill>
                  <a:srgbClr val="444444"/>
                </a:solidFill>
              </a:rPr>
              <a:t>) </a:t>
            </a:r>
            <a:r>
              <a:rPr lang="en-US" sz="1800" dirty="0" err="1">
                <a:solidFill>
                  <a:srgbClr val="444444"/>
                </a:solidFill>
              </a:rPr>
              <a:t>mindössze</a:t>
            </a:r>
            <a:r>
              <a:rPr lang="en-US" sz="1800" dirty="0">
                <a:solidFill>
                  <a:srgbClr val="444444"/>
                </a:solidFill>
              </a:rPr>
              <a:t> kb. 2 </a:t>
            </a:r>
            <a:r>
              <a:rPr lang="en-US" sz="1800" dirty="0" err="1">
                <a:solidFill>
                  <a:srgbClr val="444444"/>
                </a:solidFill>
              </a:rPr>
              <a:t>hét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alatt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írta</a:t>
            </a:r>
            <a:r>
              <a:rPr lang="en-US" sz="1800" dirty="0">
                <a:solidFill>
                  <a:srgbClr val="444444"/>
                </a:solidFill>
              </a:rPr>
              <a:t> meg a </a:t>
            </a:r>
            <a:r>
              <a:rPr lang="en-US" sz="1800" dirty="0" err="1">
                <a:solidFill>
                  <a:srgbClr val="444444"/>
                </a:solidFill>
              </a:rPr>
              <a:t>Git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alapjait</a:t>
            </a:r>
            <a:r>
              <a:rPr lang="en-US" sz="1800" dirty="0">
                <a:solidFill>
                  <a:srgbClr val="444444"/>
                </a:solidFill>
              </a:rPr>
              <a:t>, </a:t>
            </a:r>
            <a:r>
              <a:rPr lang="en-US" sz="1800" dirty="0" err="1">
                <a:solidFill>
                  <a:srgbClr val="444444"/>
                </a:solidFill>
              </a:rPr>
              <a:t>mert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dühös</a:t>
            </a:r>
            <a:r>
              <a:rPr lang="en-US" sz="1800" dirty="0">
                <a:solidFill>
                  <a:srgbClr val="444444"/>
                </a:solidFill>
              </a:rPr>
              <a:t> volt a </a:t>
            </a:r>
            <a:r>
              <a:rPr lang="en-US" sz="1800" dirty="0" err="1">
                <a:solidFill>
                  <a:srgbClr val="444444"/>
                </a:solidFill>
              </a:rPr>
              <a:t>korábbi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rendszerre</a:t>
            </a:r>
            <a:r>
              <a:rPr lang="en-US" sz="1800" dirty="0">
                <a:solidFill>
                  <a:srgbClr val="444444"/>
                </a:solidFill>
              </a:rPr>
              <a:t> (</a:t>
            </a:r>
            <a:r>
              <a:rPr lang="en-US" sz="1800" dirty="0" err="1">
                <a:solidFill>
                  <a:srgbClr val="444444"/>
                </a:solidFill>
              </a:rPr>
              <a:t>BitKeeper</a:t>
            </a:r>
            <a:r>
              <a:rPr lang="en-US" sz="1800" dirty="0">
                <a:solidFill>
                  <a:srgbClr val="444444"/>
                </a:solidFill>
              </a:rPr>
              <a:t>). A </a:t>
            </a:r>
            <a:r>
              <a:rPr lang="en-US" sz="1800" dirty="0" err="1">
                <a:solidFill>
                  <a:srgbClr val="444444"/>
                </a:solidFill>
              </a:rPr>
              <a:t>név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jelentése</a:t>
            </a:r>
            <a:r>
              <a:rPr lang="en-US" sz="1800" dirty="0">
                <a:solidFill>
                  <a:srgbClr val="444444"/>
                </a:solidFill>
              </a:rPr>
              <a:t> a brit </a:t>
            </a:r>
            <a:r>
              <a:rPr lang="en-US" sz="1800" dirty="0" err="1">
                <a:solidFill>
                  <a:srgbClr val="444444"/>
                </a:solidFill>
              </a:rPr>
              <a:t>szlengben</a:t>
            </a:r>
            <a:r>
              <a:rPr lang="en-US" sz="1800" dirty="0">
                <a:solidFill>
                  <a:srgbClr val="444444"/>
                </a:solidFill>
              </a:rPr>
              <a:t>: "</a:t>
            </a:r>
            <a:r>
              <a:rPr lang="en-US" sz="1800" dirty="0" err="1">
                <a:solidFill>
                  <a:srgbClr val="444444"/>
                </a:solidFill>
              </a:rPr>
              <a:t>idióta</a:t>
            </a:r>
            <a:r>
              <a:rPr lang="en-US" sz="1800" dirty="0">
                <a:solidFill>
                  <a:srgbClr val="444444"/>
                </a:solidFill>
              </a:rPr>
              <a:t>/</a:t>
            </a:r>
            <a:r>
              <a:rPr lang="en-US" sz="1800" dirty="0" err="1">
                <a:solidFill>
                  <a:srgbClr val="444444"/>
                </a:solidFill>
              </a:rPr>
              <a:t>tahó</a:t>
            </a:r>
            <a:r>
              <a:rPr lang="en-US" sz="1800" dirty="0">
                <a:solidFill>
                  <a:srgbClr val="444444"/>
                </a:solidFill>
              </a:rPr>
              <a:t>". Linus </a:t>
            </a:r>
            <a:r>
              <a:rPr lang="en-US" sz="1800" dirty="0" err="1">
                <a:solidFill>
                  <a:srgbClr val="444444"/>
                </a:solidFill>
              </a:rPr>
              <a:t>szerint</a:t>
            </a:r>
            <a:r>
              <a:rPr lang="en-US" sz="1800" dirty="0">
                <a:solidFill>
                  <a:srgbClr val="444444"/>
                </a:solidFill>
              </a:rPr>
              <a:t>: "I'm an egotistical bastard, and I name all my projects after myself. First 'Linux', now '</a:t>
            </a:r>
            <a:r>
              <a:rPr lang="en-US" sz="1800" dirty="0" err="1">
                <a:solidFill>
                  <a:srgbClr val="444444"/>
                </a:solidFill>
              </a:rPr>
              <a:t>Git</a:t>
            </a:r>
            <a:r>
              <a:rPr lang="en-US" sz="1800" dirty="0">
                <a:solidFill>
                  <a:srgbClr val="444444"/>
                </a:solidFill>
              </a:rPr>
              <a:t>'."</a:t>
            </a:r>
            <a:endParaRPr lang="en-US" sz="1400" dirty="0">
              <a:solidFill>
                <a:srgbClr val="444444"/>
              </a:solidFill>
            </a:endParaRPr>
          </a:p>
          <a:p>
            <a:pPr marL="0" indent="0">
              <a:lnSpc>
                <a:spcPct val="130000"/>
              </a:lnSpc>
              <a:buClr>
                <a:srgbClr val="2FC2D9"/>
              </a:buClr>
              <a:buNone/>
            </a:pPr>
            <a:endParaRPr lang="en-US" sz="2000" dirty="0">
              <a:solidFill>
                <a:srgbClr val="444444"/>
              </a:solidFill>
            </a:endParaRPr>
          </a:p>
          <a:p>
            <a:pPr marL="0" indent="0">
              <a:lnSpc>
                <a:spcPts val="2200"/>
              </a:lnSpc>
              <a:spcAft>
                <a:spcPts val="1000"/>
              </a:spcAft>
              <a:buNone/>
            </a:pPr>
            <a:endParaRPr lang="en-US" sz="1800" dirty="0">
              <a:solidFill>
                <a:srgbClr val="444444"/>
              </a:solidFill>
            </a:endParaRPr>
          </a:p>
          <a:p>
            <a:pPr>
              <a:lnSpc>
                <a:spcPct val="130000"/>
              </a:lnSpc>
              <a:buClr>
                <a:srgbClr val="2FC2D9"/>
              </a:buClr>
            </a:pPr>
            <a:endParaRPr lang="en-US" dirty="0">
              <a:solidFill>
                <a:srgbClr val="444444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>
                <a:latin typeface="+mn-lt"/>
              </a:rPr>
              <a:t>Git</a:t>
            </a:r>
            <a:r>
              <a:rPr lang="en-US" dirty="0">
                <a:latin typeface="+mn-lt"/>
              </a:rPr>
              <a:t> vs. </a:t>
            </a:r>
            <a:r>
              <a:rPr lang="en-US" dirty="0" err="1">
                <a:latin typeface="+mn-lt"/>
              </a:rPr>
              <a:t>Github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93976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A </a:t>
            </a:r>
            <a:r>
              <a:rPr lang="en-US" dirty="0" err="1">
                <a:latin typeface="+mn-lt"/>
              </a:rPr>
              <a:t>Git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architektúrája</a:t>
            </a:r>
            <a:endParaRPr lang="en-US" dirty="0">
              <a:latin typeface="+mn-lt"/>
            </a:endParaRPr>
          </a:p>
        </p:txBody>
      </p:sp>
      <p:sp>
        <p:nvSpPr>
          <p:cNvPr id="6" name="Content Placeholder 1"/>
          <p:cNvSpPr>
            <a:spLocks noGrp="1"/>
          </p:cNvSpPr>
          <p:nvPr>
            <p:ph idx="1"/>
          </p:nvPr>
        </p:nvSpPr>
        <p:spPr>
          <a:xfrm>
            <a:off x="360363" y="1319215"/>
            <a:ext cx="8329612" cy="300749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>
                <a:solidFill>
                  <a:srgbClr val="444444"/>
                </a:solidFill>
              </a:rPr>
              <a:t>Working Directory: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ahol</a:t>
            </a:r>
            <a:r>
              <a:rPr lang="en-US" sz="1800" dirty="0">
                <a:solidFill>
                  <a:srgbClr val="444444"/>
                </a:solidFill>
              </a:rPr>
              <a:t> a </a:t>
            </a:r>
            <a:r>
              <a:rPr lang="en-US" sz="1800" dirty="0" err="1">
                <a:solidFill>
                  <a:srgbClr val="444444"/>
                </a:solidFill>
              </a:rPr>
              <a:t>fájlokat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szerkesztjük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>
                <a:solidFill>
                  <a:srgbClr val="444444"/>
                </a:solidFill>
              </a:rPr>
              <a:t>Staging Area (Index): </a:t>
            </a:r>
            <a:r>
              <a:rPr lang="en-US" sz="1800" dirty="0">
                <a:solidFill>
                  <a:srgbClr val="444444"/>
                </a:solidFill>
              </a:rPr>
              <a:t>a “puffer”, ide </a:t>
            </a:r>
            <a:r>
              <a:rPr lang="en-US" sz="1800" dirty="0" err="1">
                <a:solidFill>
                  <a:srgbClr val="444444"/>
                </a:solidFill>
              </a:rPr>
              <a:t>készítjük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össze</a:t>
            </a:r>
            <a:r>
              <a:rPr lang="en-US" sz="1800" dirty="0">
                <a:solidFill>
                  <a:srgbClr val="444444"/>
                </a:solidFill>
              </a:rPr>
              <a:t> a </a:t>
            </a:r>
            <a:r>
              <a:rPr lang="en-US" sz="1800" dirty="0" err="1">
                <a:solidFill>
                  <a:srgbClr val="444444"/>
                </a:solidFill>
              </a:rPr>
              <a:t>következő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csomagot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>
                <a:solidFill>
                  <a:srgbClr val="444444"/>
                </a:solidFill>
              </a:rPr>
              <a:t>Repository (.</a:t>
            </a: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 </a:t>
            </a:r>
            <a:r>
              <a:rPr lang="en-US" sz="1800" b="1" dirty="0" err="1">
                <a:solidFill>
                  <a:srgbClr val="444444"/>
                </a:solidFill>
              </a:rPr>
              <a:t>mappa</a:t>
            </a:r>
            <a:r>
              <a:rPr lang="en-US" sz="1800" b="1" dirty="0">
                <a:solidFill>
                  <a:srgbClr val="444444"/>
                </a:solidFill>
              </a:rPr>
              <a:t>):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ahol</a:t>
            </a:r>
            <a:r>
              <a:rPr lang="en-US" sz="1800" dirty="0">
                <a:solidFill>
                  <a:srgbClr val="444444"/>
                </a:solidFill>
              </a:rPr>
              <a:t> a </a:t>
            </a:r>
            <a:r>
              <a:rPr lang="en-US" sz="1800" dirty="0" err="1">
                <a:solidFill>
                  <a:srgbClr val="444444"/>
                </a:solidFill>
              </a:rPr>
              <a:t>Git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tárolja</a:t>
            </a:r>
            <a:r>
              <a:rPr lang="en-US" sz="1800" dirty="0">
                <a:solidFill>
                  <a:srgbClr val="444444"/>
                </a:solidFill>
              </a:rPr>
              <a:t> a </a:t>
            </a:r>
            <a:r>
              <a:rPr lang="en-US" sz="1800" dirty="0" err="1">
                <a:solidFill>
                  <a:srgbClr val="444444"/>
                </a:solidFill>
              </a:rPr>
              <a:t>véglegesített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pillanatképeket</a:t>
            </a:r>
            <a:r>
              <a:rPr lang="en-US" sz="1800" dirty="0">
                <a:solidFill>
                  <a:srgbClr val="444444"/>
                </a:solidFill>
              </a:rPr>
              <a:t> (snapshots).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dirty="0" err="1"/>
              <a:t>git</a:t>
            </a:r>
            <a:r>
              <a:rPr lang="en-US" dirty="0"/>
              <a:t> add -&gt; </a:t>
            </a:r>
            <a:r>
              <a:rPr lang="en-US" dirty="0" err="1"/>
              <a:t>mozgatás</a:t>
            </a:r>
            <a:r>
              <a:rPr lang="en-US" dirty="0"/>
              <a:t> a Stage-re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dirty="0" err="1"/>
              <a:t>git</a:t>
            </a:r>
            <a:r>
              <a:rPr lang="en-US" dirty="0"/>
              <a:t> commit -&gt; </a:t>
            </a:r>
            <a:r>
              <a:rPr lang="en-US" dirty="0" err="1"/>
              <a:t>mozgatás</a:t>
            </a:r>
            <a:r>
              <a:rPr lang="en-US" dirty="0"/>
              <a:t> a </a:t>
            </a:r>
            <a:r>
              <a:rPr lang="en-US" dirty="0" err="1"/>
              <a:t>mentett</a:t>
            </a:r>
            <a:r>
              <a:rPr lang="en-US" dirty="0"/>
              <a:t> </a:t>
            </a:r>
            <a:r>
              <a:rPr lang="en-US" dirty="0" err="1"/>
              <a:t>történetbe</a:t>
            </a:r>
            <a:endParaRPr lang="en-US" sz="1400" b="1" dirty="0">
              <a:solidFill>
                <a:srgbClr val="444444"/>
              </a:solidFill>
            </a:endParaRPr>
          </a:p>
          <a:p>
            <a:pPr>
              <a:lnSpc>
                <a:spcPct val="130000"/>
              </a:lnSpc>
              <a:buClr>
                <a:srgbClr val="2FC2D9"/>
              </a:buClr>
            </a:pPr>
            <a:endParaRPr lang="en-US" sz="2000" dirty="0">
              <a:solidFill>
                <a:srgbClr val="444444"/>
              </a:solidFill>
            </a:endParaRPr>
          </a:p>
          <a:p>
            <a:pPr marL="0" indent="0">
              <a:lnSpc>
                <a:spcPts val="2200"/>
              </a:lnSpc>
              <a:spcAft>
                <a:spcPts val="1000"/>
              </a:spcAft>
              <a:buNone/>
            </a:pPr>
            <a:endParaRPr lang="en-US" sz="1800" dirty="0">
              <a:solidFill>
                <a:srgbClr val="4444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2809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>
                <a:latin typeface="+mn-lt"/>
              </a:rPr>
              <a:t>Git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objektum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modell</a:t>
            </a:r>
            <a:endParaRPr lang="en-US" dirty="0">
              <a:latin typeface="+mn-lt"/>
            </a:endParaRPr>
          </a:p>
        </p:txBody>
      </p:sp>
      <p:sp>
        <p:nvSpPr>
          <p:cNvPr id="4" name="Content Placeholder 1"/>
          <p:cNvSpPr>
            <a:spLocks noGrp="1"/>
          </p:cNvSpPr>
          <p:nvPr>
            <p:ph idx="1"/>
          </p:nvPr>
        </p:nvSpPr>
        <p:spPr>
          <a:xfrm>
            <a:off x="407194" y="1030890"/>
            <a:ext cx="8329612" cy="375808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2000" b="1" dirty="0">
                <a:solidFill>
                  <a:srgbClr val="444444"/>
                </a:solidFill>
              </a:rPr>
              <a:t>Blob: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fájl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tartalom</a:t>
            </a:r>
            <a:endParaRPr lang="en-US" sz="2000" dirty="0">
              <a:solidFill>
                <a:srgbClr val="444444"/>
              </a:solidFill>
            </a:endParaRP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2000" b="1" dirty="0">
                <a:solidFill>
                  <a:srgbClr val="444444"/>
                </a:solidFill>
              </a:rPr>
              <a:t>Tree: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könyvtár-szerkezet</a:t>
            </a:r>
            <a:r>
              <a:rPr lang="en-US" sz="2000" dirty="0">
                <a:solidFill>
                  <a:srgbClr val="444444"/>
                </a:solidFill>
              </a:rPr>
              <a:t>: </a:t>
            </a:r>
            <a:r>
              <a:rPr lang="en-US" sz="2000" dirty="0" err="1">
                <a:solidFill>
                  <a:srgbClr val="444444"/>
                </a:solidFill>
              </a:rPr>
              <a:t>blobokra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és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más</a:t>
            </a:r>
            <a:r>
              <a:rPr lang="en-US" sz="2000" dirty="0">
                <a:solidFill>
                  <a:srgbClr val="444444"/>
                </a:solidFill>
              </a:rPr>
              <a:t> tree-</a:t>
            </a:r>
            <a:r>
              <a:rPr lang="en-US" sz="2000" dirty="0" err="1">
                <a:solidFill>
                  <a:srgbClr val="444444"/>
                </a:solidFill>
              </a:rPr>
              <a:t>kre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mutató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pointerek</a:t>
            </a:r>
            <a:endParaRPr lang="en-US" sz="2000" dirty="0">
              <a:solidFill>
                <a:srgbClr val="444444"/>
              </a:solidFill>
            </a:endParaRP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2000" b="1" dirty="0">
                <a:solidFill>
                  <a:srgbClr val="444444"/>
                </a:solidFill>
              </a:rPr>
              <a:t>Commit: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egy</a:t>
            </a:r>
            <a:r>
              <a:rPr lang="en-US" sz="2000" dirty="0">
                <a:solidFill>
                  <a:srgbClr val="444444"/>
                </a:solidFill>
              </a:rPr>
              <a:t> tree + </a:t>
            </a:r>
            <a:r>
              <a:rPr lang="en-US" sz="2000" dirty="0" err="1">
                <a:solidFill>
                  <a:srgbClr val="444444"/>
                </a:solidFill>
              </a:rPr>
              <a:t>metaadat</a:t>
            </a:r>
            <a:r>
              <a:rPr lang="en-US" sz="2000" dirty="0">
                <a:solidFill>
                  <a:srgbClr val="444444"/>
                </a:solidFill>
              </a:rPr>
              <a:t> (</a:t>
            </a:r>
            <a:r>
              <a:rPr lang="en-US" sz="2000" dirty="0" err="1">
                <a:solidFill>
                  <a:srgbClr val="444444"/>
                </a:solidFill>
              </a:rPr>
              <a:t>szerző</a:t>
            </a:r>
            <a:r>
              <a:rPr lang="en-US" sz="2000" dirty="0">
                <a:solidFill>
                  <a:srgbClr val="444444"/>
                </a:solidFill>
              </a:rPr>
              <a:t>, </a:t>
            </a:r>
            <a:r>
              <a:rPr lang="en-US" sz="2000" dirty="0" err="1">
                <a:solidFill>
                  <a:srgbClr val="444444"/>
                </a:solidFill>
              </a:rPr>
              <a:t>időbélyeg</a:t>
            </a:r>
            <a:r>
              <a:rPr lang="en-US" sz="2000" dirty="0">
                <a:solidFill>
                  <a:srgbClr val="444444"/>
                </a:solidFill>
              </a:rPr>
              <a:t>, </a:t>
            </a:r>
            <a:r>
              <a:rPr lang="en-US" sz="2000" dirty="0" err="1">
                <a:solidFill>
                  <a:srgbClr val="444444"/>
                </a:solidFill>
              </a:rPr>
              <a:t>üzenet</a:t>
            </a:r>
            <a:r>
              <a:rPr lang="en-US" sz="2000" dirty="0">
                <a:solidFill>
                  <a:srgbClr val="444444"/>
                </a:solidFill>
              </a:rPr>
              <a:t>, </a:t>
            </a:r>
            <a:r>
              <a:rPr lang="en-US" sz="2000" dirty="0" err="1">
                <a:solidFill>
                  <a:srgbClr val="444444"/>
                </a:solidFill>
              </a:rPr>
              <a:t>szülő</a:t>
            </a:r>
            <a:r>
              <a:rPr lang="en-US" sz="2000" dirty="0">
                <a:solidFill>
                  <a:srgbClr val="444444"/>
                </a:solidFill>
              </a:rPr>
              <a:t> commit hash)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2000" b="1" dirty="0">
                <a:solidFill>
                  <a:srgbClr val="444444"/>
                </a:solidFill>
              </a:rPr>
              <a:t>Tag: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annotált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hivatkozás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egy</a:t>
            </a:r>
            <a:r>
              <a:rPr lang="en-US" sz="2000" dirty="0">
                <a:solidFill>
                  <a:srgbClr val="444444"/>
                </a:solidFill>
              </a:rPr>
              <a:t> commit-</a:t>
            </a:r>
            <a:r>
              <a:rPr lang="en-US" sz="2000" dirty="0" err="1">
                <a:solidFill>
                  <a:srgbClr val="444444"/>
                </a:solidFill>
              </a:rPr>
              <a:t>ra</a:t>
            </a:r>
            <a:r>
              <a:rPr lang="en-US" sz="2000" dirty="0">
                <a:solidFill>
                  <a:srgbClr val="444444"/>
                </a:solidFill>
              </a:rPr>
              <a:t> (release-</a:t>
            </a:r>
            <a:r>
              <a:rPr lang="en-US" sz="2000" dirty="0" err="1">
                <a:solidFill>
                  <a:srgbClr val="444444"/>
                </a:solidFill>
              </a:rPr>
              <a:t>eknél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használják</a:t>
            </a:r>
            <a:r>
              <a:rPr lang="en-US" sz="2000" dirty="0">
                <a:solidFill>
                  <a:srgbClr val="444444"/>
                </a:solidFill>
              </a:rPr>
              <a:t>)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2000" dirty="0">
                <a:solidFill>
                  <a:srgbClr val="444444"/>
                </a:solidFill>
              </a:rPr>
              <a:t>A Git SHA-1 hash-t </a:t>
            </a:r>
            <a:r>
              <a:rPr lang="en-US" sz="2000" dirty="0" err="1">
                <a:solidFill>
                  <a:srgbClr val="444444"/>
                </a:solidFill>
              </a:rPr>
              <a:t>használ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az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objektumok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azonosításához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és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az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adatintegritás</a:t>
            </a:r>
            <a:r>
              <a:rPr lang="en-US" sz="2000" dirty="0">
                <a:solidFill>
                  <a:srgbClr val="444444"/>
                </a:solidFill>
              </a:rPr>
              <a:t> </a:t>
            </a:r>
            <a:r>
              <a:rPr lang="en-US" sz="2000" dirty="0" err="1">
                <a:solidFill>
                  <a:srgbClr val="444444"/>
                </a:solidFill>
              </a:rPr>
              <a:t>biztosításához</a:t>
            </a:r>
            <a:r>
              <a:rPr lang="en-US" sz="20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endParaRPr lang="en-US" sz="2000" dirty="0">
              <a:solidFill>
                <a:srgbClr val="444444"/>
              </a:solidFill>
            </a:endParaRPr>
          </a:p>
          <a:p>
            <a:pPr marL="0" indent="0">
              <a:lnSpc>
                <a:spcPts val="2200"/>
              </a:lnSpc>
              <a:spcAft>
                <a:spcPts val="1000"/>
              </a:spcAft>
              <a:buNone/>
            </a:pPr>
            <a:endParaRPr lang="en-US" sz="1800" dirty="0">
              <a:solidFill>
                <a:srgbClr val="4444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1303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>
                <a:latin typeface="+mn-lt"/>
              </a:rPr>
              <a:t>Fontosabb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Git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parancsok</a:t>
            </a:r>
            <a:endParaRPr lang="en-US" dirty="0">
              <a:latin typeface="+mn-lt"/>
            </a:endParaRPr>
          </a:p>
        </p:txBody>
      </p:sp>
      <p:sp>
        <p:nvSpPr>
          <p:cNvPr id="8" name="Content Placeholder 1"/>
          <p:cNvSpPr>
            <a:spLocks noGrp="1"/>
          </p:cNvSpPr>
          <p:nvPr>
            <p:ph idx="1"/>
          </p:nvPr>
        </p:nvSpPr>
        <p:spPr>
          <a:xfrm>
            <a:off x="360363" y="1319215"/>
            <a:ext cx="8329612" cy="3744102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 </a:t>
            </a:r>
            <a:r>
              <a:rPr lang="en-US" sz="1800" b="1" dirty="0" err="1">
                <a:solidFill>
                  <a:srgbClr val="444444"/>
                </a:solidFill>
              </a:rPr>
              <a:t>init</a:t>
            </a:r>
            <a:r>
              <a:rPr lang="en-US" sz="1800" b="1" dirty="0">
                <a:solidFill>
                  <a:srgbClr val="444444"/>
                </a:solidFill>
              </a:rPr>
              <a:t>: </a:t>
            </a:r>
            <a:r>
              <a:rPr lang="en-US" sz="1800" dirty="0" err="1">
                <a:solidFill>
                  <a:srgbClr val="444444"/>
                </a:solidFill>
              </a:rPr>
              <a:t>új</a:t>
            </a:r>
            <a:r>
              <a:rPr lang="en-US" sz="1800" dirty="0">
                <a:solidFill>
                  <a:srgbClr val="444444"/>
                </a:solidFill>
              </a:rPr>
              <a:t> project </a:t>
            </a:r>
            <a:r>
              <a:rPr lang="en-US" sz="1800" dirty="0" err="1">
                <a:solidFill>
                  <a:srgbClr val="444444"/>
                </a:solidFill>
              </a:rPr>
              <a:t>kezdése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spcAft>
                <a:spcPts val="1000"/>
              </a:spcAft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 clone: </a:t>
            </a:r>
            <a:r>
              <a:rPr lang="en-US" sz="1800" dirty="0" err="1">
                <a:solidFill>
                  <a:srgbClr val="444444"/>
                </a:solidFill>
              </a:rPr>
              <a:t>létező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projekt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letöltése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spcAft>
                <a:spcPts val="1000"/>
              </a:spcAft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 status: </a:t>
            </a:r>
            <a:r>
              <a:rPr lang="en-US" sz="1800" dirty="0">
                <a:solidFill>
                  <a:srgbClr val="444444"/>
                </a:solidFill>
              </a:rPr>
              <a:t>a repository </a:t>
            </a:r>
            <a:r>
              <a:rPr lang="en-US" sz="1800" dirty="0" err="1">
                <a:solidFill>
                  <a:srgbClr val="444444"/>
                </a:solidFill>
              </a:rPr>
              <a:t>aktuális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állapotának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megjelenítésére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szolgál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spcAft>
                <a:spcPts val="1000"/>
              </a:spcAft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 add . : </a:t>
            </a:r>
            <a:r>
              <a:rPr lang="en-US" sz="1800" dirty="0" err="1">
                <a:solidFill>
                  <a:srgbClr val="444444"/>
                </a:solidFill>
              </a:rPr>
              <a:t>minden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változás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előkészítése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spcAft>
                <a:spcPts val="1000"/>
              </a:spcAft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 commit –m “</a:t>
            </a:r>
            <a:r>
              <a:rPr lang="en-US" sz="1800" b="1" dirty="0" err="1">
                <a:solidFill>
                  <a:srgbClr val="444444"/>
                </a:solidFill>
              </a:rPr>
              <a:t>üzenet</a:t>
            </a:r>
            <a:r>
              <a:rPr lang="en-US" sz="1800" b="1" dirty="0">
                <a:solidFill>
                  <a:srgbClr val="444444"/>
                </a:solidFill>
              </a:rPr>
              <a:t>”: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pillanatkép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mentése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spcAft>
                <a:spcPts val="1000"/>
              </a:spcAft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 log: </a:t>
            </a:r>
            <a:r>
              <a:rPr lang="en-US" sz="1800" dirty="0">
                <a:solidFill>
                  <a:srgbClr val="444444"/>
                </a:solidFill>
              </a:rPr>
              <a:t>a </a:t>
            </a:r>
            <a:r>
              <a:rPr lang="en-US" sz="1800" dirty="0" err="1">
                <a:solidFill>
                  <a:srgbClr val="444444"/>
                </a:solidFill>
              </a:rPr>
              <a:t>múlt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áttekintése</a:t>
            </a:r>
            <a:endParaRPr lang="en-US" sz="1800" b="1" dirty="0">
              <a:solidFill>
                <a:srgbClr val="444444"/>
              </a:solidFill>
            </a:endParaRPr>
          </a:p>
          <a:p>
            <a:pPr>
              <a:lnSpc>
                <a:spcPct val="130000"/>
              </a:lnSpc>
              <a:buClr>
                <a:srgbClr val="2FC2D9"/>
              </a:buClr>
            </a:pPr>
            <a:endParaRPr lang="en-US" sz="1800" dirty="0">
              <a:solidFill>
                <a:srgbClr val="444444"/>
              </a:solidFill>
            </a:endParaRPr>
          </a:p>
          <a:p>
            <a:pPr marL="0" indent="0">
              <a:lnSpc>
                <a:spcPts val="2200"/>
              </a:lnSpc>
              <a:spcAft>
                <a:spcPts val="1000"/>
              </a:spcAft>
              <a:buNone/>
            </a:pPr>
            <a:endParaRPr lang="en-US" sz="1800" dirty="0">
              <a:solidFill>
                <a:srgbClr val="4444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6618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>
                <a:latin typeface="+mn-lt"/>
              </a:rPr>
              <a:t>Távoli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elérés</a:t>
            </a:r>
            <a:r>
              <a:rPr lang="en-US" dirty="0">
                <a:latin typeface="+mn-lt"/>
              </a:rPr>
              <a:t> (Collaboration)</a:t>
            </a:r>
          </a:p>
        </p:txBody>
      </p:sp>
      <p:sp>
        <p:nvSpPr>
          <p:cNvPr id="8" name="Content Placeholder 1"/>
          <p:cNvSpPr>
            <a:spLocks noGrp="1"/>
          </p:cNvSpPr>
          <p:nvPr>
            <p:ph idx="1"/>
          </p:nvPr>
        </p:nvSpPr>
        <p:spPr>
          <a:xfrm>
            <a:off x="407194" y="1308941"/>
            <a:ext cx="8329612" cy="3064942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 remote add origin &lt;</a:t>
            </a:r>
            <a:r>
              <a:rPr lang="en-US" sz="1800" b="1" dirty="0" err="1">
                <a:solidFill>
                  <a:srgbClr val="444444"/>
                </a:solidFill>
              </a:rPr>
              <a:t>url</a:t>
            </a:r>
            <a:r>
              <a:rPr lang="en-US" sz="1800" b="1" dirty="0">
                <a:solidFill>
                  <a:srgbClr val="444444"/>
                </a:solidFill>
              </a:rPr>
              <a:t>&gt;:</a:t>
            </a:r>
            <a:r>
              <a:rPr lang="en-US" sz="1800" dirty="0">
                <a:solidFill>
                  <a:srgbClr val="444444"/>
                </a:solidFill>
              </a:rPr>
              <a:t> remote repository </a:t>
            </a:r>
            <a:r>
              <a:rPr lang="en-US" sz="1800" dirty="0" err="1">
                <a:solidFill>
                  <a:srgbClr val="444444"/>
                </a:solidFill>
              </a:rPr>
              <a:t>kapcsolat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létrehozására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szolgál</a:t>
            </a:r>
            <a:r>
              <a:rPr lang="en-US" sz="1800" dirty="0">
                <a:solidFill>
                  <a:srgbClr val="444444"/>
                </a:solidFill>
              </a:rPr>
              <a:t> a </a:t>
            </a:r>
            <a:r>
              <a:rPr lang="en-US" sz="1800" dirty="0" err="1">
                <a:solidFill>
                  <a:srgbClr val="444444"/>
                </a:solidFill>
              </a:rPr>
              <a:t>lokális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Git</a:t>
            </a:r>
            <a:r>
              <a:rPr lang="en-US" sz="1800" dirty="0">
                <a:solidFill>
                  <a:srgbClr val="444444"/>
                </a:solidFill>
              </a:rPr>
              <a:t> repository </a:t>
            </a:r>
            <a:r>
              <a:rPr lang="en-US" sz="1800" dirty="0" err="1">
                <a:solidFill>
                  <a:srgbClr val="444444"/>
                </a:solidFill>
              </a:rPr>
              <a:t>és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egy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távoli</a:t>
            </a:r>
            <a:r>
              <a:rPr lang="en-US" sz="1800" dirty="0">
                <a:solidFill>
                  <a:srgbClr val="444444"/>
                </a:solidFill>
              </a:rPr>
              <a:t> repository </a:t>
            </a:r>
            <a:r>
              <a:rPr lang="en-US" sz="1800" dirty="0" err="1">
                <a:solidFill>
                  <a:srgbClr val="444444"/>
                </a:solidFill>
              </a:rPr>
              <a:t>között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  <a:endParaRPr lang="en-US" sz="1800" b="1" dirty="0">
              <a:solidFill>
                <a:srgbClr val="444444"/>
              </a:solidFill>
            </a:endParaRP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 push: </a:t>
            </a:r>
            <a:r>
              <a:rPr lang="en-US" sz="1800" dirty="0" err="1">
                <a:solidFill>
                  <a:srgbClr val="444444"/>
                </a:solidFill>
              </a:rPr>
              <a:t>saját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kód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feltöltése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 pull: </a:t>
            </a:r>
            <a:r>
              <a:rPr lang="en-US" sz="1800" dirty="0" err="1">
                <a:solidFill>
                  <a:srgbClr val="444444"/>
                </a:solidFill>
              </a:rPr>
              <a:t>mások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kódjának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letöltése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és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összefésülése</a:t>
            </a:r>
            <a:endParaRPr lang="en-US" sz="1800" dirty="0">
              <a:solidFill>
                <a:srgbClr val="444444"/>
              </a:solidFill>
            </a:endParaRP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git</a:t>
            </a:r>
            <a:r>
              <a:rPr lang="en-US" sz="1800" b="1" dirty="0">
                <a:solidFill>
                  <a:srgbClr val="444444"/>
                </a:solidFill>
              </a:rPr>
              <a:t> fetch: </a:t>
            </a:r>
            <a:r>
              <a:rPr lang="en-US" sz="1800" dirty="0" err="1">
                <a:solidFill>
                  <a:srgbClr val="444444"/>
                </a:solidFill>
              </a:rPr>
              <a:t>csak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megnézzük</a:t>
            </a:r>
            <a:r>
              <a:rPr lang="en-US" sz="1800" dirty="0">
                <a:solidFill>
                  <a:srgbClr val="444444"/>
                </a:solidFill>
              </a:rPr>
              <a:t>, mi van a </a:t>
            </a:r>
            <a:r>
              <a:rPr lang="en-US" sz="1800" dirty="0" err="1">
                <a:solidFill>
                  <a:srgbClr val="444444"/>
                </a:solidFill>
              </a:rPr>
              <a:t>szerveren</a:t>
            </a:r>
            <a:r>
              <a:rPr lang="en-US" sz="1800" dirty="0">
                <a:solidFill>
                  <a:srgbClr val="444444"/>
                </a:solidFill>
              </a:rPr>
              <a:t>, de </a:t>
            </a:r>
            <a:r>
              <a:rPr lang="en-US" sz="1800" dirty="0" err="1">
                <a:solidFill>
                  <a:srgbClr val="444444"/>
                </a:solidFill>
              </a:rPr>
              <a:t>nem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nyúlunk</a:t>
            </a:r>
            <a:r>
              <a:rPr lang="en-US" sz="1800" dirty="0">
                <a:solidFill>
                  <a:srgbClr val="444444"/>
                </a:solidFill>
              </a:rPr>
              <a:t> a </a:t>
            </a:r>
            <a:r>
              <a:rPr lang="en-US" sz="1800" dirty="0" err="1">
                <a:solidFill>
                  <a:srgbClr val="444444"/>
                </a:solidFill>
              </a:rPr>
              <a:t>kódunkhoz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  <a:endParaRPr lang="en-US" sz="1800" b="1" dirty="0">
              <a:solidFill>
                <a:srgbClr val="444444"/>
              </a:solidFill>
            </a:endParaRPr>
          </a:p>
          <a:p>
            <a:pPr>
              <a:lnSpc>
                <a:spcPct val="130000"/>
              </a:lnSpc>
              <a:buClr>
                <a:srgbClr val="2FC2D9"/>
              </a:buClr>
            </a:pPr>
            <a:endParaRPr lang="en-US" sz="2000" dirty="0">
              <a:solidFill>
                <a:srgbClr val="444444"/>
              </a:solidFill>
            </a:endParaRPr>
          </a:p>
          <a:p>
            <a:pPr marL="0" indent="0">
              <a:lnSpc>
                <a:spcPts val="2200"/>
              </a:lnSpc>
              <a:spcAft>
                <a:spcPts val="1000"/>
              </a:spcAft>
              <a:buNone/>
            </a:pPr>
            <a:endParaRPr lang="en-US" sz="1800" dirty="0">
              <a:solidFill>
                <a:srgbClr val="4444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4871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Branching</a:t>
            </a:r>
          </a:p>
        </p:txBody>
      </p:sp>
      <p:sp>
        <p:nvSpPr>
          <p:cNvPr id="8" name="Content Placeholder 1"/>
          <p:cNvSpPr>
            <a:spLocks noGrp="1"/>
          </p:cNvSpPr>
          <p:nvPr>
            <p:ph idx="1"/>
          </p:nvPr>
        </p:nvSpPr>
        <p:spPr>
          <a:xfrm>
            <a:off x="407194" y="1308941"/>
            <a:ext cx="8329612" cy="2507353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>
                <a:solidFill>
                  <a:srgbClr val="444444"/>
                </a:solidFill>
              </a:rPr>
              <a:t>Branch: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egy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elkülönített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fejlesztési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ág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dirty="0" err="1">
                <a:solidFill>
                  <a:srgbClr val="444444"/>
                </a:solidFill>
              </a:rPr>
              <a:t>Lehetővé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teszi</a:t>
            </a:r>
            <a:r>
              <a:rPr lang="en-US" sz="1800" dirty="0">
                <a:solidFill>
                  <a:srgbClr val="444444"/>
                </a:solidFill>
              </a:rPr>
              <a:t>:</a:t>
            </a:r>
          </a:p>
          <a:p>
            <a:pPr lvl="1">
              <a:lnSpc>
                <a:spcPct val="130000"/>
              </a:lnSpc>
              <a:buClr>
                <a:srgbClr val="2FC2D9"/>
              </a:buClr>
            </a:pPr>
            <a:r>
              <a:rPr lang="en-US" sz="1600" dirty="0" err="1">
                <a:solidFill>
                  <a:srgbClr val="444444"/>
                </a:solidFill>
              </a:rPr>
              <a:t>az</a:t>
            </a:r>
            <a:r>
              <a:rPr lang="en-US" sz="1600" dirty="0">
                <a:solidFill>
                  <a:srgbClr val="444444"/>
                </a:solidFill>
              </a:rPr>
              <a:t> </a:t>
            </a:r>
            <a:r>
              <a:rPr lang="en-US" sz="1600" dirty="0" err="1">
                <a:solidFill>
                  <a:srgbClr val="444444"/>
                </a:solidFill>
              </a:rPr>
              <a:t>új</a:t>
            </a:r>
            <a:r>
              <a:rPr lang="en-US" sz="1600" dirty="0">
                <a:solidFill>
                  <a:srgbClr val="444444"/>
                </a:solidFill>
              </a:rPr>
              <a:t> feature-</a:t>
            </a:r>
            <a:r>
              <a:rPr lang="en-US" sz="1600" dirty="0" err="1">
                <a:solidFill>
                  <a:srgbClr val="444444"/>
                </a:solidFill>
              </a:rPr>
              <a:t>ök</a:t>
            </a:r>
            <a:r>
              <a:rPr lang="en-US" sz="1600" dirty="0">
                <a:solidFill>
                  <a:srgbClr val="444444"/>
                </a:solidFill>
              </a:rPr>
              <a:t> </a:t>
            </a:r>
            <a:r>
              <a:rPr lang="en-US" sz="1600" dirty="0" err="1">
                <a:solidFill>
                  <a:srgbClr val="444444"/>
                </a:solidFill>
              </a:rPr>
              <a:t>biztonságos</a:t>
            </a:r>
            <a:r>
              <a:rPr lang="en-US" sz="1600" dirty="0">
                <a:solidFill>
                  <a:srgbClr val="444444"/>
                </a:solidFill>
              </a:rPr>
              <a:t> </a:t>
            </a:r>
            <a:r>
              <a:rPr lang="en-US" sz="1600" dirty="0" err="1">
                <a:solidFill>
                  <a:srgbClr val="444444"/>
                </a:solidFill>
              </a:rPr>
              <a:t>fejlesztését</a:t>
            </a:r>
            <a:endParaRPr lang="en-US" sz="1600" dirty="0">
              <a:solidFill>
                <a:srgbClr val="444444"/>
              </a:solidFill>
            </a:endParaRPr>
          </a:p>
          <a:p>
            <a:pPr lvl="1">
              <a:lnSpc>
                <a:spcPct val="130000"/>
              </a:lnSpc>
              <a:buClr>
                <a:srgbClr val="2FC2D9"/>
              </a:buClr>
            </a:pPr>
            <a:r>
              <a:rPr lang="en-US" sz="1600" dirty="0" err="1">
                <a:solidFill>
                  <a:srgbClr val="444444"/>
                </a:solidFill>
              </a:rPr>
              <a:t>Kísérletezést</a:t>
            </a:r>
            <a:endParaRPr lang="en-US" sz="1600" dirty="0">
              <a:solidFill>
                <a:srgbClr val="444444"/>
              </a:solidFill>
            </a:endParaRPr>
          </a:p>
          <a:p>
            <a:pPr lvl="1">
              <a:lnSpc>
                <a:spcPct val="130000"/>
              </a:lnSpc>
              <a:buClr>
                <a:srgbClr val="2FC2D9"/>
              </a:buClr>
            </a:pPr>
            <a:r>
              <a:rPr lang="en-US" sz="1600" dirty="0" err="1">
                <a:solidFill>
                  <a:srgbClr val="444444"/>
                </a:solidFill>
              </a:rPr>
              <a:t>Hibajavítást</a:t>
            </a:r>
            <a:endParaRPr lang="en-US" sz="1600" dirty="0">
              <a:solidFill>
                <a:srgbClr val="444444"/>
              </a:solidFill>
            </a:endParaRP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dirty="0">
                <a:solidFill>
                  <a:srgbClr val="444444"/>
                </a:solidFill>
              </a:rPr>
              <a:t>A </a:t>
            </a:r>
            <a:r>
              <a:rPr lang="en-US" sz="1800" dirty="0" err="1">
                <a:solidFill>
                  <a:srgbClr val="444444"/>
                </a:solidFill>
              </a:rPr>
              <a:t>cél</a:t>
            </a:r>
            <a:r>
              <a:rPr lang="en-US" sz="1800" dirty="0">
                <a:solidFill>
                  <a:srgbClr val="444444"/>
                </a:solidFill>
              </a:rPr>
              <a:t>, </a:t>
            </a:r>
            <a:r>
              <a:rPr lang="en-US" sz="1800" dirty="0" err="1">
                <a:solidFill>
                  <a:srgbClr val="444444"/>
                </a:solidFill>
              </a:rPr>
              <a:t>hogy</a:t>
            </a:r>
            <a:r>
              <a:rPr lang="en-US" sz="1800" dirty="0">
                <a:solidFill>
                  <a:srgbClr val="444444"/>
                </a:solidFill>
              </a:rPr>
              <a:t> a main (</a:t>
            </a:r>
            <a:r>
              <a:rPr lang="en-US" sz="1800" dirty="0" err="1">
                <a:solidFill>
                  <a:srgbClr val="444444"/>
                </a:solidFill>
              </a:rPr>
              <a:t>vagy</a:t>
            </a:r>
            <a:r>
              <a:rPr lang="en-US" sz="1800" dirty="0">
                <a:solidFill>
                  <a:srgbClr val="444444"/>
                </a:solidFill>
              </a:rPr>
              <a:t> master) branch </a:t>
            </a:r>
            <a:r>
              <a:rPr lang="en-US" sz="1800" dirty="0" err="1">
                <a:solidFill>
                  <a:srgbClr val="444444"/>
                </a:solidFill>
              </a:rPr>
              <a:t>mindig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maradjon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stabil</a:t>
            </a:r>
            <a:r>
              <a:rPr lang="en-US" sz="1800" dirty="0">
                <a:solidFill>
                  <a:srgbClr val="444444"/>
                </a:solidFill>
              </a:rPr>
              <a:t>/</a:t>
            </a:r>
            <a:r>
              <a:rPr lang="en-US" sz="1800" dirty="0" err="1">
                <a:solidFill>
                  <a:srgbClr val="444444"/>
                </a:solidFill>
              </a:rPr>
              <a:t>futtatható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22562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dirty="0">
                <a:solidFill>
                  <a:srgbClr val="444444"/>
                </a:solidFill>
              </a:rPr>
              <a:t>A branch-</a:t>
            </a:r>
            <a:r>
              <a:rPr lang="en-US" sz="1800" dirty="0" err="1">
                <a:solidFill>
                  <a:srgbClr val="444444"/>
                </a:solidFill>
              </a:rPr>
              <a:t>ek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egyesítésére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szolgál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dirty="0">
                <a:solidFill>
                  <a:srgbClr val="444444"/>
                </a:solidFill>
              </a:rPr>
              <a:t>Ha </a:t>
            </a:r>
            <a:r>
              <a:rPr lang="en-US" sz="1800" dirty="0" err="1">
                <a:solidFill>
                  <a:srgbClr val="444444"/>
                </a:solidFill>
              </a:rPr>
              <a:t>ugyanazt</a:t>
            </a:r>
            <a:r>
              <a:rPr lang="en-US" sz="1800" dirty="0">
                <a:solidFill>
                  <a:srgbClr val="444444"/>
                </a:solidFill>
              </a:rPr>
              <a:t> a sort </a:t>
            </a:r>
            <a:r>
              <a:rPr lang="en-US" sz="1800" dirty="0" err="1">
                <a:solidFill>
                  <a:srgbClr val="444444"/>
                </a:solidFill>
              </a:rPr>
              <a:t>többen</a:t>
            </a:r>
            <a:r>
              <a:rPr lang="en-US" sz="1800" dirty="0">
                <a:solidFill>
                  <a:srgbClr val="444444"/>
                </a:solidFill>
              </a:rPr>
              <a:t> is </a:t>
            </a:r>
            <a:r>
              <a:rPr lang="en-US" sz="1800" dirty="0" err="1">
                <a:solidFill>
                  <a:srgbClr val="444444"/>
                </a:solidFill>
              </a:rPr>
              <a:t>módosították</a:t>
            </a:r>
            <a:r>
              <a:rPr lang="en-US" sz="1800" dirty="0">
                <a:solidFill>
                  <a:srgbClr val="444444"/>
                </a:solidFill>
              </a:rPr>
              <a:t>, merge conflict </a:t>
            </a:r>
            <a:r>
              <a:rPr lang="en-US" sz="1800" dirty="0" err="1">
                <a:solidFill>
                  <a:srgbClr val="444444"/>
                </a:solidFill>
              </a:rPr>
              <a:t>jön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létre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dirty="0">
                <a:solidFill>
                  <a:srgbClr val="444444"/>
                </a:solidFill>
              </a:rPr>
              <a:t>A </a:t>
            </a:r>
            <a:r>
              <a:rPr lang="en-US" sz="1800" dirty="0" err="1">
                <a:solidFill>
                  <a:srgbClr val="444444"/>
                </a:solidFill>
              </a:rPr>
              <a:t>konfliktus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manuális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szerkesztéssel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feloldható</a:t>
            </a:r>
            <a:r>
              <a:rPr lang="en-US" sz="1800" dirty="0">
                <a:solidFill>
                  <a:srgbClr val="444444"/>
                </a:solidFill>
              </a:rPr>
              <a:t>, </a:t>
            </a:r>
            <a:r>
              <a:rPr lang="en-US" sz="1800" dirty="0" err="1">
                <a:solidFill>
                  <a:srgbClr val="444444"/>
                </a:solidFill>
              </a:rPr>
              <a:t>amit</a:t>
            </a:r>
            <a:r>
              <a:rPr lang="en-US" sz="1800" dirty="0">
                <a:solidFill>
                  <a:srgbClr val="444444"/>
                </a:solidFill>
              </a:rPr>
              <a:t> a normal </a:t>
            </a:r>
            <a:r>
              <a:rPr lang="en-US" sz="1800" dirty="0" err="1">
                <a:solidFill>
                  <a:srgbClr val="444444"/>
                </a:solidFill>
              </a:rPr>
              <a:t>git</a:t>
            </a:r>
            <a:r>
              <a:rPr lang="en-US" sz="1800" dirty="0">
                <a:solidFill>
                  <a:srgbClr val="444444"/>
                </a:solidFill>
              </a:rPr>
              <a:t> workflow </a:t>
            </a:r>
            <a:r>
              <a:rPr lang="en-US" sz="1800" dirty="0" err="1">
                <a:solidFill>
                  <a:srgbClr val="444444"/>
                </a:solidFill>
              </a:rPr>
              <a:t>követ</a:t>
            </a:r>
            <a:r>
              <a:rPr lang="en-US" sz="1800" dirty="0">
                <a:solidFill>
                  <a:srgbClr val="444444"/>
                </a:solidFill>
              </a:rPr>
              <a:t> (</a:t>
            </a:r>
            <a:r>
              <a:rPr lang="en-US" sz="1800" dirty="0" err="1">
                <a:solidFill>
                  <a:srgbClr val="444444"/>
                </a:solidFill>
              </a:rPr>
              <a:t>git</a:t>
            </a:r>
            <a:r>
              <a:rPr lang="en-US" sz="1800" dirty="0">
                <a:solidFill>
                  <a:srgbClr val="444444"/>
                </a:solidFill>
              </a:rPr>
              <a:t> add, </a:t>
            </a:r>
            <a:r>
              <a:rPr lang="en-US" sz="1800" dirty="0" err="1">
                <a:solidFill>
                  <a:srgbClr val="444444"/>
                </a:solidFill>
              </a:rPr>
              <a:t>git</a:t>
            </a:r>
            <a:r>
              <a:rPr lang="en-US" sz="1800" dirty="0">
                <a:solidFill>
                  <a:srgbClr val="444444"/>
                </a:solidFill>
              </a:rPr>
              <a:t> commit).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dirty="0">
                <a:solidFill>
                  <a:srgbClr val="444444"/>
                </a:solidFill>
              </a:rPr>
              <a:t>Merge (pull) request: </a:t>
            </a:r>
          </a:p>
          <a:p>
            <a:pPr lvl="1">
              <a:lnSpc>
                <a:spcPct val="130000"/>
              </a:lnSpc>
              <a:buClr>
                <a:srgbClr val="2FC2D9"/>
              </a:buClr>
            </a:pPr>
            <a:r>
              <a:rPr lang="en-US" sz="1600" dirty="0">
                <a:solidFill>
                  <a:srgbClr val="444444"/>
                </a:solidFill>
              </a:rPr>
              <a:t>Code review</a:t>
            </a:r>
          </a:p>
          <a:p>
            <a:pPr lvl="1">
              <a:lnSpc>
                <a:spcPct val="130000"/>
              </a:lnSpc>
              <a:buClr>
                <a:srgbClr val="2FC2D9"/>
              </a:buClr>
            </a:pPr>
            <a:r>
              <a:rPr lang="en-US" sz="1600" dirty="0" err="1">
                <a:solidFill>
                  <a:srgbClr val="444444"/>
                </a:solidFill>
              </a:rPr>
              <a:t>csapatmunka</a:t>
            </a:r>
            <a:endParaRPr lang="en-US" sz="1600" dirty="0">
              <a:solidFill>
                <a:srgbClr val="444444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Merge</a:t>
            </a:r>
          </a:p>
        </p:txBody>
      </p:sp>
    </p:spTree>
    <p:extLst>
      <p:ext uri="{BB962C8B-B14F-4D97-AF65-F5344CB8AC3E}">
        <p14:creationId xmlns:p14="http://schemas.microsoft.com/office/powerpoint/2010/main" val="3492471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07FAE-106B-C571-112A-EEC253952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D056A-9740-077F-D929-31E452CB2EA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Merge vs. Rebase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DE30B64F-2D64-946F-13E7-1EBDA6EF68D3}"/>
              </a:ext>
            </a:extLst>
          </p:cNvPr>
          <p:cNvSpPr/>
          <p:nvPr/>
        </p:nvSpPr>
        <p:spPr>
          <a:xfrm>
            <a:off x="274320" y="779958"/>
            <a:ext cx="4114800" cy="395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8BCAADF1-AFA7-1767-4F53-CB8F0004B709}"/>
              </a:ext>
            </a:extLst>
          </p:cNvPr>
          <p:cNvSpPr/>
          <p:nvPr/>
        </p:nvSpPr>
        <p:spPr>
          <a:xfrm>
            <a:off x="274320" y="779958"/>
            <a:ext cx="4114800" cy="4114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7564BD75-1667-2193-E8E0-882F316079BC}"/>
              </a:ext>
            </a:extLst>
          </p:cNvPr>
          <p:cNvSpPr/>
          <p:nvPr/>
        </p:nvSpPr>
        <p:spPr>
          <a:xfrm>
            <a:off x="365760" y="798246"/>
            <a:ext cx="39319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9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merge</a:t>
            </a:r>
            <a:endParaRPr lang="en-US" sz="16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F4A59A6-F40C-DD2C-C908-F3BE2CC62632}"/>
              </a:ext>
            </a:extLst>
          </p:cNvPr>
          <p:cNvSpPr/>
          <p:nvPr/>
        </p:nvSpPr>
        <p:spPr>
          <a:xfrm>
            <a:off x="411480" y="127373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Hogyan működik?</a:t>
            </a:r>
            <a:endParaRPr lang="en-US" sz="11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2E92FA2-0A69-E3D6-2BEC-9F9BAB6BEFAC}"/>
              </a:ext>
            </a:extLst>
          </p:cNvPr>
          <p:cNvSpPr/>
          <p:nvPr/>
        </p:nvSpPr>
        <p:spPr>
          <a:xfrm>
            <a:off x="411480" y="1548054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Új 'merge commit'-ot hoz létre, amely összeköti a két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historyját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teljes fejlesztési napló megmarad.</a:t>
            </a:r>
            <a:endParaRPr lang="en-US" sz="105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2892FE76-6686-7D93-021C-C13FE124586A}"/>
              </a:ext>
            </a:extLst>
          </p:cNvPr>
          <p:cNvSpPr/>
          <p:nvPr/>
        </p:nvSpPr>
        <p:spPr>
          <a:xfrm>
            <a:off x="411480" y="221556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Előnyök</a:t>
            </a:r>
            <a:endParaRPr lang="en-US" sz="11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1678BAEE-E924-F11C-3408-25A19B40E775}"/>
              </a:ext>
            </a:extLst>
          </p:cNvPr>
          <p:cNvSpPr/>
          <p:nvPr/>
        </p:nvSpPr>
        <p:spPr>
          <a:xfrm>
            <a:off x="502920" y="251731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Megőrzi a teljes, valós historyt</a:t>
            </a:r>
            <a:endParaRPr lang="en-US" sz="10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44390FA6-D360-4268-C966-81FDCBD218B3}"/>
              </a:ext>
            </a:extLst>
          </p:cNvPr>
          <p:cNvSpPr/>
          <p:nvPr/>
        </p:nvSpPr>
        <p:spPr>
          <a:xfrm>
            <a:off x="502920" y="279163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Non-destructive – meglévő commitok nem változnak</a:t>
            </a:r>
            <a:endParaRPr lang="en-US" sz="10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4932D72D-FF3C-5C47-E475-1056763E9742}"/>
              </a:ext>
            </a:extLst>
          </p:cNvPr>
          <p:cNvSpPr/>
          <p:nvPr/>
        </p:nvSpPr>
        <p:spPr>
          <a:xfrm>
            <a:off x="502920" y="306595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Egyszerű, biztonságos, sharedrepo-ban is OK</a:t>
            </a:r>
            <a:endParaRPr lang="en-US" sz="10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CD4E2CB5-10BB-F036-9A0B-D62ACA0558E4}"/>
              </a:ext>
            </a:extLst>
          </p:cNvPr>
          <p:cNvSpPr/>
          <p:nvPr/>
        </p:nvSpPr>
        <p:spPr>
          <a:xfrm>
            <a:off x="502920" y="334027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Konfliktus egyszer kell megoldani</a:t>
            </a:r>
            <a:endParaRPr lang="en-US" sz="10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CC4A5E8F-50F0-81E0-56B4-640019EB84D3}"/>
              </a:ext>
            </a:extLst>
          </p:cNvPr>
          <p:cNvSpPr/>
          <p:nvPr/>
        </p:nvSpPr>
        <p:spPr>
          <a:xfrm>
            <a:off x="411480" y="363288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Hátrányok</a:t>
            </a:r>
            <a:endParaRPr lang="en-US" sz="11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09799DAF-7205-5BBD-278C-CC61C4910239}"/>
              </a:ext>
            </a:extLst>
          </p:cNvPr>
          <p:cNvSpPr/>
          <p:nvPr/>
        </p:nvSpPr>
        <p:spPr>
          <a:xfrm>
            <a:off x="502920" y="393463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'Dirty' history: sok merge commit</a:t>
            </a:r>
            <a:endParaRPr lang="en-US" sz="1000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EC9A2A78-E3D3-F630-1AF6-E10EF9408337}"/>
              </a:ext>
            </a:extLst>
          </p:cNvPr>
          <p:cNvSpPr/>
          <p:nvPr/>
        </p:nvSpPr>
        <p:spPr>
          <a:xfrm>
            <a:off x="502920" y="420895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log nehezebben olvasható</a:t>
            </a:r>
            <a:endParaRPr lang="en-US" sz="1000" dirty="0"/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3152693F-8113-3BF6-3136-559C5076E1FF}"/>
              </a:ext>
            </a:extLst>
          </p:cNvPr>
          <p:cNvSpPr/>
          <p:nvPr/>
        </p:nvSpPr>
        <p:spPr>
          <a:xfrm>
            <a:off x="4754880" y="779958"/>
            <a:ext cx="4114800" cy="395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CA9431-9593-CA93-194F-9900AA878F36}"/>
              </a:ext>
            </a:extLst>
          </p:cNvPr>
          <p:cNvSpPr/>
          <p:nvPr/>
        </p:nvSpPr>
        <p:spPr>
          <a:xfrm>
            <a:off x="4754880" y="779958"/>
            <a:ext cx="4114800" cy="411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0014F9FF-FB06-586D-9BA1-E456A51A65E9}"/>
              </a:ext>
            </a:extLst>
          </p:cNvPr>
          <p:cNvSpPr/>
          <p:nvPr/>
        </p:nvSpPr>
        <p:spPr>
          <a:xfrm>
            <a:off x="4846320" y="798246"/>
            <a:ext cx="39319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9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rebase</a:t>
            </a:r>
            <a:endParaRPr lang="en-US" sz="160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EF4280D5-0B39-7ABA-2039-6ACB9BE21DBF}"/>
              </a:ext>
            </a:extLst>
          </p:cNvPr>
          <p:cNvSpPr/>
          <p:nvPr/>
        </p:nvSpPr>
        <p:spPr>
          <a:xfrm>
            <a:off x="4892040" y="127373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Hogyan működik?</a:t>
            </a:r>
            <a:endParaRPr lang="en-US" sz="110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165A42A-B78D-9F94-6FF0-F72C5B56D4FA}"/>
              </a:ext>
            </a:extLst>
          </p:cNvPr>
          <p:cNvSpPr/>
          <p:nvPr/>
        </p:nvSpPr>
        <p:spPr>
          <a:xfrm>
            <a:off x="4892040" y="1548054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commitokat 'átírja' az új base-re. Lineáris, tiszta historyt eredményez. A commitok új hash-t kapnak!</a:t>
            </a:r>
            <a:endParaRPr lang="en-US" sz="105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CA78AFB0-B616-5272-C6B9-E591223A5D45}"/>
              </a:ext>
            </a:extLst>
          </p:cNvPr>
          <p:cNvSpPr/>
          <p:nvPr/>
        </p:nvSpPr>
        <p:spPr>
          <a:xfrm>
            <a:off x="4892040" y="221556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Előnyök</a:t>
            </a:r>
            <a:endParaRPr lang="en-US" sz="1100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768F923-E99D-31A5-C0B3-52DDEA73CEB3}"/>
              </a:ext>
            </a:extLst>
          </p:cNvPr>
          <p:cNvSpPr/>
          <p:nvPr/>
        </p:nvSpPr>
        <p:spPr>
          <a:xfrm>
            <a:off x="4983480" y="251731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Tiszta, lineáris commit history</a:t>
            </a:r>
            <a:endParaRPr lang="en-US" sz="10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316CC63F-9398-76E0-E293-F82FE50D6C55}"/>
              </a:ext>
            </a:extLst>
          </p:cNvPr>
          <p:cNvSpPr/>
          <p:nvPr/>
        </p:nvSpPr>
        <p:spPr>
          <a:xfrm>
            <a:off x="4983480" y="279163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log könnyen olvasható</a:t>
            </a:r>
            <a:endParaRPr lang="en-US" sz="1000" dirty="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66955FB-C37C-1373-29FA-A35108EDEE0F}"/>
              </a:ext>
            </a:extLst>
          </p:cNvPr>
          <p:cNvSpPr/>
          <p:nvPr/>
        </p:nvSpPr>
        <p:spPr>
          <a:xfrm>
            <a:off x="4983480" y="306595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Code review-hoz elegánsabb</a:t>
            </a:r>
            <a:endParaRPr lang="en-US" sz="1000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1944885A-C132-085A-A276-F6A3D4DB2172}"/>
              </a:ext>
            </a:extLst>
          </p:cNvPr>
          <p:cNvSpPr/>
          <p:nvPr/>
        </p:nvSpPr>
        <p:spPr>
          <a:xfrm>
            <a:off x="4983480" y="334027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Interaktív rebase = commit tisztítás</a:t>
            </a:r>
            <a:endParaRPr lang="en-US" sz="1000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93BDBCD1-CDF5-4EA0-4105-6B77EA10F444}"/>
              </a:ext>
            </a:extLst>
          </p:cNvPr>
          <p:cNvSpPr/>
          <p:nvPr/>
        </p:nvSpPr>
        <p:spPr>
          <a:xfrm>
            <a:off x="4892040" y="363288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Hátrányok</a:t>
            </a:r>
            <a:endParaRPr lang="en-US" sz="1100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F41EE015-4F23-46A8-2EA4-3F16440DE5E7}"/>
              </a:ext>
            </a:extLst>
          </p:cNvPr>
          <p:cNvSpPr/>
          <p:nvPr/>
        </p:nvSpPr>
        <p:spPr>
          <a:xfrm>
            <a:off x="4983480" y="393463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Shared branch-en TILOS használni!</a:t>
            </a:r>
            <a:endParaRPr lang="en-US" sz="10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3B7C6B8-DC5B-93E9-E8C3-588AC08DDE38}"/>
              </a:ext>
            </a:extLst>
          </p:cNvPr>
          <p:cNvSpPr/>
          <p:nvPr/>
        </p:nvSpPr>
        <p:spPr>
          <a:xfrm>
            <a:off x="4983480" y="420895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Konfliktust minden commitnál meg kell oldani</a:t>
            </a:r>
            <a:endParaRPr lang="en-US" sz="1000" dirty="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D3D31CD4-3303-5AC3-FBF9-CC2552263B88}"/>
              </a:ext>
            </a:extLst>
          </p:cNvPr>
          <p:cNvSpPr/>
          <p:nvPr/>
        </p:nvSpPr>
        <p:spPr>
          <a:xfrm>
            <a:off x="4983480" y="448327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History </a:t>
            </a:r>
            <a:r>
              <a:rPr lang="en-US" sz="10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újraírás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674834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Branching </a:t>
            </a:r>
            <a:r>
              <a:rPr lang="en-US" dirty="0" err="1">
                <a:latin typeface="+mn-lt"/>
              </a:rPr>
              <a:t>stratégiák</a:t>
            </a:r>
            <a:r>
              <a:rPr lang="en-US" dirty="0">
                <a:latin typeface="+mn-lt"/>
              </a:rPr>
              <a:t> I. – </a:t>
            </a:r>
            <a:r>
              <a:rPr lang="en-US" dirty="0" err="1">
                <a:latin typeface="+mn-lt"/>
              </a:rPr>
              <a:t>Git</a:t>
            </a:r>
            <a:r>
              <a:rPr lang="en-US" dirty="0">
                <a:latin typeface="+mn-lt"/>
              </a:rPr>
              <a:t> Flow</a:t>
            </a:r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BBBE1DB3-027E-F225-87E0-209AA66B82FB}"/>
              </a:ext>
            </a:extLst>
          </p:cNvPr>
          <p:cNvSpPr/>
          <p:nvPr/>
        </p:nvSpPr>
        <p:spPr>
          <a:xfrm>
            <a:off x="288388" y="395655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Vincent Driessen – 2010 · Enterprise &amp; scheduled release projektekhez</a:t>
            </a:r>
            <a:endParaRPr lang="en-US" sz="1100" dirty="0"/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157B3F9B-C6F6-2DBF-9C78-11E8DC31A13D}"/>
              </a:ext>
            </a:extLst>
          </p:cNvPr>
          <p:cNvSpPr/>
          <p:nvPr/>
        </p:nvSpPr>
        <p:spPr>
          <a:xfrm>
            <a:off x="281354" y="742773"/>
            <a:ext cx="8595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0AB38EAA-F28A-0B47-EC89-BC493747678F}"/>
              </a:ext>
            </a:extLst>
          </p:cNvPr>
          <p:cNvSpPr/>
          <p:nvPr/>
        </p:nvSpPr>
        <p:spPr>
          <a:xfrm>
            <a:off x="281354" y="742773"/>
            <a:ext cx="1463040" cy="56692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C08FD0E3-F1F8-C0E9-7CF3-BC048CD16623}"/>
              </a:ext>
            </a:extLst>
          </p:cNvPr>
          <p:cNvSpPr/>
          <p:nvPr/>
        </p:nvSpPr>
        <p:spPr>
          <a:xfrm>
            <a:off x="299642" y="770205"/>
            <a:ext cx="1426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F9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2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EA40617E-3C56-ACFF-9566-62ECA584B7F0}"/>
              </a:ext>
            </a:extLst>
          </p:cNvPr>
          <p:cNvSpPr/>
          <p:nvPr/>
        </p:nvSpPr>
        <p:spPr>
          <a:xfrm>
            <a:off x="1927274" y="834213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Csak production-ready kód. Minden commit egy release.</a:t>
            </a:r>
            <a:endParaRPr lang="en-US" sz="110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6EEDDBA5-1536-0C76-0B51-3B0F39163EA6}"/>
              </a:ext>
            </a:extLst>
          </p:cNvPr>
          <p:cNvSpPr/>
          <p:nvPr/>
        </p:nvSpPr>
        <p:spPr>
          <a:xfrm>
            <a:off x="281354" y="1401141"/>
            <a:ext cx="8595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33712A5B-D062-DC9E-58ED-27C91A43742D}"/>
              </a:ext>
            </a:extLst>
          </p:cNvPr>
          <p:cNvSpPr/>
          <p:nvPr/>
        </p:nvSpPr>
        <p:spPr>
          <a:xfrm>
            <a:off x="281354" y="1401141"/>
            <a:ext cx="1463040" cy="566928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690FD7B1-8380-D3B7-BC7C-B0452B18850E}"/>
              </a:ext>
            </a:extLst>
          </p:cNvPr>
          <p:cNvSpPr/>
          <p:nvPr/>
        </p:nvSpPr>
        <p:spPr>
          <a:xfrm>
            <a:off x="299642" y="1428573"/>
            <a:ext cx="1426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F9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1200" dirty="0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44D483AD-7DC6-DC7E-BB08-9960F2F2D514}"/>
              </a:ext>
            </a:extLst>
          </p:cNvPr>
          <p:cNvSpPr/>
          <p:nvPr/>
        </p:nvSpPr>
        <p:spPr>
          <a:xfrm>
            <a:off x="1927274" y="1492581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Integrációs branch. Feature-ök ide merge-elnek.</a:t>
            </a:r>
            <a:endParaRPr lang="en-US" sz="1100" dirty="0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62819521-6E7E-2B21-B8F8-5C7A424F2974}"/>
              </a:ext>
            </a:extLst>
          </p:cNvPr>
          <p:cNvSpPr/>
          <p:nvPr/>
        </p:nvSpPr>
        <p:spPr>
          <a:xfrm>
            <a:off x="281354" y="2059509"/>
            <a:ext cx="8595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26EC83BD-D1BB-654C-1D05-631FD333AD12}"/>
              </a:ext>
            </a:extLst>
          </p:cNvPr>
          <p:cNvSpPr/>
          <p:nvPr/>
        </p:nvSpPr>
        <p:spPr>
          <a:xfrm>
            <a:off x="281354" y="2059509"/>
            <a:ext cx="1463040" cy="56692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B21F12F8-9E21-F164-2CE0-D897ED0C09A9}"/>
              </a:ext>
            </a:extLst>
          </p:cNvPr>
          <p:cNvSpPr/>
          <p:nvPr/>
        </p:nvSpPr>
        <p:spPr>
          <a:xfrm>
            <a:off x="299642" y="2086941"/>
            <a:ext cx="1426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F9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feature/*</a:t>
            </a:r>
            <a:endParaRPr lang="en-US" sz="1200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CC430570-E98D-2B4D-93D6-232662B3D6EB}"/>
              </a:ext>
            </a:extLst>
          </p:cNvPr>
          <p:cNvSpPr/>
          <p:nvPr/>
        </p:nvSpPr>
        <p:spPr>
          <a:xfrm>
            <a:off x="1927274" y="2150949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Új funkciókhoz. develop-ból ágazik, oda merge-el vissza.</a:t>
            </a:r>
            <a:endParaRPr lang="en-US" sz="1100" dirty="0"/>
          </a:p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3923AB85-DBC9-D02B-0B3C-141EABEBBE49}"/>
              </a:ext>
            </a:extLst>
          </p:cNvPr>
          <p:cNvSpPr/>
          <p:nvPr/>
        </p:nvSpPr>
        <p:spPr>
          <a:xfrm>
            <a:off x="281354" y="2717877"/>
            <a:ext cx="8595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C13F0B8B-3D87-2BB4-C3D9-62053F2BC242}"/>
              </a:ext>
            </a:extLst>
          </p:cNvPr>
          <p:cNvSpPr/>
          <p:nvPr/>
        </p:nvSpPr>
        <p:spPr>
          <a:xfrm>
            <a:off x="281354" y="2717877"/>
            <a:ext cx="1463040" cy="5669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FC892DE5-5E13-8D0B-5009-DDA0BD59D559}"/>
              </a:ext>
            </a:extLst>
          </p:cNvPr>
          <p:cNvSpPr/>
          <p:nvPr/>
        </p:nvSpPr>
        <p:spPr>
          <a:xfrm>
            <a:off x="299642" y="2745309"/>
            <a:ext cx="1426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F9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release/*</a:t>
            </a:r>
            <a:endParaRPr lang="en-US" sz="1200" dirty="0"/>
          </a:p>
        </p:txBody>
      </p:sp>
      <p:sp>
        <p:nvSpPr>
          <p:cNvPr id="28" name="Text 18">
            <a:extLst>
              <a:ext uri="{FF2B5EF4-FFF2-40B4-BE49-F238E27FC236}">
                <a16:creationId xmlns:a16="http://schemas.microsoft.com/office/drawing/2014/main" id="{66A7F088-9129-9BCD-CB43-CA2A21598550}"/>
              </a:ext>
            </a:extLst>
          </p:cNvPr>
          <p:cNvSpPr/>
          <p:nvPr/>
        </p:nvSpPr>
        <p:spPr>
          <a:xfrm>
            <a:off x="1927274" y="2809317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előkészítés: bugfix, verzió bump. main + develop-ba merge.</a:t>
            </a:r>
            <a:endParaRPr lang="en-US" sz="1100" dirty="0"/>
          </a:p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B751217B-999D-B271-CADE-2B6C2A805EA0}"/>
              </a:ext>
            </a:extLst>
          </p:cNvPr>
          <p:cNvSpPr/>
          <p:nvPr/>
        </p:nvSpPr>
        <p:spPr>
          <a:xfrm>
            <a:off x="281354" y="3376245"/>
            <a:ext cx="8595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36E0BC51-1B42-F4E3-A323-F9FE42F5C27F}"/>
              </a:ext>
            </a:extLst>
          </p:cNvPr>
          <p:cNvSpPr/>
          <p:nvPr/>
        </p:nvSpPr>
        <p:spPr>
          <a:xfrm>
            <a:off x="281354" y="3376245"/>
            <a:ext cx="1463040" cy="56692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1">
            <a:extLst>
              <a:ext uri="{FF2B5EF4-FFF2-40B4-BE49-F238E27FC236}">
                <a16:creationId xmlns:a16="http://schemas.microsoft.com/office/drawing/2014/main" id="{59081C78-F4DD-72E1-8A4E-74B87A5AF236}"/>
              </a:ext>
            </a:extLst>
          </p:cNvPr>
          <p:cNvSpPr/>
          <p:nvPr/>
        </p:nvSpPr>
        <p:spPr>
          <a:xfrm>
            <a:off x="299642" y="3403677"/>
            <a:ext cx="1426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F9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hotfix/*</a:t>
            </a:r>
            <a:endParaRPr lang="en-US" sz="12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5BD6A0F-6DAC-7B54-A7A1-08DEEC1093CE}"/>
              </a:ext>
            </a:extLst>
          </p:cNvPr>
          <p:cNvSpPr/>
          <p:nvPr/>
        </p:nvSpPr>
        <p:spPr>
          <a:xfrm>
            <a:off x="1927274" y="3467685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Éles hibák gyors javítása. main-ből ágazik, oda és develop-ba merge.</a:t>
            </a:r>
            <a:endParaRPr lang="en-US" sz="1100" dirty="0"/>
          </a:p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429A40C0-6C4D-93CA-0C39-D8F0831A2148}"/>
              </a:ext>
            </a:extLst>
          </p:cNvPr>
          <p:cNvSpPr/>
          <p:nvPr/>
        </p:nvSpPr>
        <p:spPr>
          <a:xfrm>
            <a:off x="281354" y="4062045"/>
            <a:ext cx="4114800" cy="685800"/>
          </a:xfrm>
          <a:prstGeom prst="rect">
            <a:avLst/>
          </a:prstGeom>
          <a:solidFill>
            <a:srgbClr val="F0FFF4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DD7C3770-A822-7968-3C16-9BADBE6859D4}"/>
              </a:ext>
            </a:extLst>
          </p:cNvPr>
          <p:cNvSpPr/>
          <p:nvPr/>
        </p:nvSpPr>
        <p:spPr>
          <a:xfrm>
            <a:off x="418514" y="4126053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Előnyök: Egyértelmű struktúra, párhuzamos fejlesztés + hotfix, jó auditálhatóság, enterprise-ready</a:t>
            </a:r>
            <a:endParaRPr lang="en-US" sz="1000" dirty="0"/>
          </a:p>
        </p:txBody>
      </p:sp>
      <p:sp>
        <p:nvSpPr>
          <p:cNvPr id="35" name="Shape 25">
            <a:extLst>
              <a:ext uri="{FF2B5EF4-FFF2-40B4-BE49-F238E27FC236}">
                <a16:creationId xmlns:a16="http://schemas.microsoft.com/office/drawing/2014/main" id="{6B23BE7A-2638-C2DC-A0D7-36EF7920E71D}"/>
              </a:ext>
            </a:extLst>
          </p:cNvPr>
          <p:cNvSpPr/>
          <p:nvPr/>
        </p:nvSpPr>
        <p:spPr>
          <a:xfrm>
            <a:off x="4761914" y="4062045"/>
            <a:ext cx="4114800" cy="685800"/>
          </a:xfrm>
          <a:prstGeom prst="rect">
            <a:avLst/>
          </a:prstGeom>
          <a:solidFill>
            <a:srgbClr val="FFF5F5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6">
            <a:extLst>
              <a:ext uri="{FF2B5EF4-FFF2-40B4-BE49-F238E27FC236}">
                <a16:creationId xmlns:a16="http://schemas.microsoft.com/office/drawing/2014/main" id="{AD1470FB-787C-CD78-8169-1AF68F64AF9A}"/>
              </a:ext>
            </a:extLst>
          </p:cNvPr>
          <p:cNvSpPr/>
          <p:nvPr/>
        </p:nvSpPr>
        <p:spPr>
          <a:xfrm>
            <a:off x="4899074" y="4126053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Hátrányok: Komplex, sok branch, CI/CD-vel nehézkes, continuous delivery-re nem optimális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972694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rgbClr val="444444"/>
                </a:solidFill>
                <a:latin typeface="+mn-lt"/>
              </a:rPr>
              <a:t>Branching </a:t>
            </a:r>
            <a:r>
              <a:rPr lang="en-US" dirty="0" err="1">
                <a:solidFill>
                  <a:srgbClr val="444444"/>
                </a:solidFill>
                <a:latin typeface="+mn-lt"/>
              </a:rPr>
              <a:t>stratégiák</a:t>
            </a:r>
            <a:r>
              <a:rPr lang="en-US" dirty="0">
                <a:solidFill>
                  <a:srgbClr val="444444"/>
                </a:solidFill>
                <a:latin typeface="+mn-lt"/>
              </a:rPr>
              <a:t> II. – GitHub Flow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F860F8C6-E4A9-D0F6-4739-4AEE789EF6E2}"/>
              </a:ext>
            </a:extLst>
          </p:cNvPr>
          <p:cNvSpPr/>
          <p:nvPr/>
        </p:nvSpPr>
        <p:spPr>
          <a:xfrm>
            <a:off x="295421" y="440317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Scott Chacon (GitHub) – 2011 · Continuous deployment · Web alkalmazásokhoz ideális</a:t>
            </a:r>
            <a:endParaRPr lang="en-US" sz="1100" dirty="0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71E62C67-61FF-C886-A2FE-ED522BACF7B3}"/>
              </a:ext>
            </a:extLst>
          </p:cNvPr>
          <p:cNvSpPr/>
          <p:nvPr/>
        </p:nvSpPr>
        <p:spPr>
          <a:xfrm>
            <a:off x="246184" y="806077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0BBD17A1-C885-E662-02F9-052E45D63DC2}"/>
              </a:ext>
            </a:extLst>
          </p:cNvPr>
          <p:cNvSpPr/>
          <p:nvPr/>
        </p:nvSpPr>
        <p:spPr>
          <a:xfrm>
            <a:off x="383344" y="988957"/>
            <a:ext cx="457200" cy="457200"/>
          </a:xfrm>
          <a:prstGeom prst="ellipse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C1369E3-2651-DAD0-4CB6-9E4189D87370}"/>
              </a:ext>
            </a:extLst>
          </p:cNvPr>
          <p:cNvSpPr/>
          <p:nvPr/>
        </p:nvSpPr>
        <p:spPr>
          <a:xfrm>
            <a:off x="383344" y="98895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8DB5AADD-A577-DEEF-D87B-BAA7B623D547}"/>
              </a:ext>
            </a:extLst>
          </p:cNvPr>
          <p:cNvSpPr/>
          <p:nvPr/>
        </p:nvSpPr>
        <p:spPr>
          <a:xfrm>
            <a:off x="931984" y="1007245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létrehozása</a:t>
            </a:r>
            <a:endParaRPr lang="en-US" sz="12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B5D1B7FD-5641-EC39-154D-1E598DDE6560}"/>
              </a:ext>
            </a:extLst>
          </p:cNvPr>
          <p:cNvSpPr/>
          <p:nvPr/>
        </p:nvSpPr>
        <p:spPr>
          <a:xfrm>
            <a:off x="383344" y="1555885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main-ből új feature branch (leíró névvel)</a:t>
            </a:r>
            <a:endParaRPr lang="en-US" sz="1050" dirty="0"/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BDFC13F0-FB27-B44B-A54F-6C777372CBDA}"/>
              </a:ext>
            </a:extLst>
          </p:cNvPr>
          <p:cNvSpPr/>
          <p:nvPr/>
        </p:nvSpPr>
        <p:spPr>
          <a:xfrm>
            <a:off x="3190552" y="806077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9">
            <a:extLst>
              <a:ext uri="{FF2B5EF4-FFF2-40B4-BE49-F238E27FC236}">
                <a16:creationId xmlns:a16="http://schemas.microsoft.com/office/drawing/2014/main" id="{2CE2D92A-76D2-EB8E-4CB5-42C267662A0F}"/>
              </a:ext>
            </a:extLst>
          </p:cNvPr>
          <p:cNvSpPr/>
          <p:nvPr/>
        </p:nvSpPr>
        <p:spPr>
          <a:xfrm>
            <a:off x="3327712" y="988957"/>
            <a:ext cx="457200" cy="457200"/>
          </a:xfrm>
          <a:prstGeom prst="ellipse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3A7E51C6-C4A2-17A8-067D-8169BED48294}"/>
              </a:ext>
            </a:extLst>
          </p:cNvPr>
          <p:cNvSpPr/>
          <p:nvPr/>
        </p:nvSpPr>
        <p:spPr>
          <a:xfrm>
            <a:off x="3327712" y="98895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5CB1ACE4-605D-49BE-2573-634626CFBEC6}"/>
              </a:ext>
            </a:extLst>
          </p:cNvPr>
          <p:cNvSpPr/>
          <p:nvPr/>
        </p:nvSpPr>
        <p:spPr>
          <a:xfrm>
            <a:off x="3876352" y="1007245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Commitok</a:t>
            </a:r>
            <a:endParaRPr lang="en-US" sz="1200" dirty="0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F8C7E48D-25CA-230A-72CA-E1EEF8F4E57B}"/>
              </a:ext>
            </a:extLst>
          </p:cNvPr>
          <p:cNvSpPr/>
          <p:nvPr/>
        </p:nvSpPr>
        <p:spPr>
          <a:xfrm>
            <a:off x="3327712" y="1555885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Kis, fókuszált commitok, leíró üzenetekkel</a:t>
            </a:r>
            <a:endParaRPr lang="en-US" sz="1050" dirty="0"/>
          </a:p>
        </p:txBody>
      </p:sp>
      <p:sp>
        <p:nvSpPr>
          <p:cNvPr id="21" name="Shape 13">
            <a:extLst>
              <a:ext uri="{FF2B5EF4-FFF2-40B4-BE49-F238E27FC236}">
                <a16:creationId xmlns:a16="http://schemas.microsoft.com/office/drawing/2014/main" id="{81F6CB06-A4BB-E02A-BF94-287F56CDA39A}"/>
              </a:ext>
            </a:extLst>
          </p:cNvPr>
          <p:cNvSpPr/>
          <p:nvPr/>
        </p:nvSpPr>
        <p:spPr>
          <a:xfrm>
            <a:off x="6134920" y="806077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4">
            <a:extLst>
              <a:ext uri="{FF2B5EF4-FFF2-40B4-BE49-F238E27FC236}">
                <a16:creationId xmlns:a16="http://schemas.microsoft.com/office/drawing/2014/main" id="{E91CE438-47BB-4A50-019C-5D9728FC6A83}"/>
              </a:ext>
            </a:extLst>
          </p:cNvPr>
          <p:cNvSpPr/>
          <p:nvPr/>
        </p:nvSpPr>
        <p:spPr>
          <a:xfrm>
            <a:off x="6272080" y="988957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748F52B9-A138-A2ED-986F-8D98DE004528}"/>
              </a:ext>
            </a:extLst>
          </p:cNvPr>
          <p:cNvSpPr/>
          <p:nvPr/>
        </p:nvSpPr>
        <p:spPr>
          <a:xfrm>
            <a:off x="6272080" y="98895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BC23DE74-463B-E407-FF9E-EEA18546298B}"/>
              </a:ext>
            </a:extLst>
          </p:cNvPr>
          <p:cNvSpPr/>
          <p:nvPr/>
        </p:nvSpPr>
        <p:spPr>
          <a:xfrm>
            <a:off x="6820720" y="1007245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&amp; Pull Request</a:t>
            </a:r>
            <a:endParaRPr lang="en-US" sz="1200" dirty="0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F8CC5B5E-DF62-B34D-3BDA-09E9DD3EC0B1}"/>
              </a:ext>
            </a:extLst>
          </p:cNvPr>
          <p:cNvSpPr/>
          <p:nvPr/>
        </p:nvSpPr>
        <p:spPr>
          <a:xfrm>
            <a:off x="6272080" y="1555885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push-olása, PR nyitása review-ra</a:t>
            </a:r>
            <a:endParaRPr lang="en-US" sz="1050" dirty="0"/>
          </a:p>
        </p:txBody>
      </p:sp>
      <p:sp>
        <p:nvSpPr>
          <p:cNvPr id="26" name="Shape 18">
            <a:extLst>
              <a:ext uri="{FF2B5EF4-FFF2-40B4-BE49-F238E27FC236}">
                <a16:creationId xmlns:a16="http://schemas.microsoft.com/office/drawing/2014/main" id="{B6D3BD34-F407-1DC7-BFD2-4B890FA8720B}"/>
              </a:ext>
            </a:extLst>
          </p:cNvPr>
          <p:cNvSpPr/>
          <p:nvPr/>
        </p:nvSpPr>
        <p:spPr>
          <a:xfrm>
            <a:off x="246184" y="2525149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19">
            <a:extLst>
              <a:ext uri="{FF2B5EF4-FFF2-40B4-BE49-F238E27FC236}">
                <a16:creationId xmlns:a16="http://schemas.microsoft.com/office/drawing/2014/main" id="{CBC27BEF-A79E-D146-D603-4E6462C60331}"/>
              </a:ext>
            </a:extLst>
          </p:cNvPr>
          <p:cNvSpPr/>
          <p:nvPr/>
        </p:nvSpPr>
        <p:spPr>
          <a:xfrm>
            <a:off x="383344" y="2708029"/>
            <a:ext cx="457200" cy="457200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0">
            <a:extLst>
              <a:ext uri="{FF2B5EF4-FFF2-40B4-BE49-F238E27FC236}">
                <a16:creationId xmlns:a16="http://schemas.microsoft.com/office/drawing/2014/main" id="{A7BDD594-96F8-ABA2-8B54-8C7C663BF3D8}"/>
              </a:ext>
            </a:extLst>
          </p:cNvPr>
          <p:cNvSpPr/>
          <p:nvPr/>
        </p:nvSpPr>
        <p:spPr>
          <a:xfrm>
            <a:off x="383344" y="27080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1">
            <a:extLst>
              <a:ext uri="{FF2B5EF4-FFF2-40B4-BE49-F238E27FC236}">
                <a16:creationId xmlns:a16="http://schemas.microsoft.com/office/drawing/2014/main" id="{BA8B92A6-C129-4218-5138-78AF5E3F96D8}"/>
              </a:ext>
            </a:extLst>
          </p:cNvPr>
          <p:cNvSpPr/>
          <p:nvPr/>
        </p:nvSpPr>
        <p:spPr>
          <a:xfrm>
            <a:off x="931984" y="2726317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1200" dirty="0"/>
          </a:p>
        </p:txBody>
      </p:sp>
      <p:sp>
        <p:nvSpPr>
          <p:cNvPr id="30" name="Text 22">
            <a:extLst>
              <a:ext uri="{FF2B5EF4-FFF2-40B4-BE49-F238E27FC236}">
                <a16:creationId xmlns:a16="http://schemas.microsoft.com/office/drawing/2014/main" id="{D63865A9-F14A-D85C-23BA-B3994D2A299B}"/>
              </a:ext>
            </a:extLst>
          </p:cNvPr>
          <p:cNvSpPr/>
          <p:nvPr/>
        </p:nvSpPr>
        <p:spPr>
          <a:xfrm>
            <a:off x="383344" y="3274957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Csapattársak megvizsgálják, kommentelnek</a:t>
            </a:r>
            <a:endParaRPr lang="en-US" sz="1050" dirty="0"/>
          </a:p>
        </p:txBody>
      </p:sp>
      <p:sp>
        <p:nvSpPr>
          <p:cNvPr id="31" name="Shape 23">
            <a:extLst>
              <a:ext uri="{FF2B5EF4-FFF2-40B4-BE49-F238E27FC236}">
                <a16:creationId xmlns:a16="http://schemas.microsoft.com/office/drawing/2014/main" id="{2EC0F43F-6770-3CCD-CB74-7C02ADB9734D}"/>
              </a:ext>
            </a:extLst>
          </p:cNvPr>
          <p:cNvSpPr/>
          <p:nvPr/>
        </p:nvSpPr>
        <p:spPr>
          <a:xfrm>
            <a:off x="3190552" y="2525149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4">
            <a:extLst>
              <a:ext uri="{FF2B5EF4-FFF2-40B4-BE49-F238E27FC236}">
                <a16:creationId xmlns:a16="http://schemas.microsoft.com/office/drawing/2014/main" id="{60B1747B-0666-ACAB-1698-B5755F6F956E}"/>
              </a:ext>
            </a:extLst>
          </p:cNvPr>
          <p:cNvSpPr/>
          <p:nvPr/>
        </p:nvSpPr>
        <p:spPr>
          <a:xfrm>
            <a:off x="3327712" y="2708029"/>
            <a:ext cx="457200" cy="45720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5">
            <a:extLst>
              <a:ext uri="{FF2B5EF4-FFF2-40B4-BE49-F238E27FC236}">
                <a16:creationId xmlns:a16="http://schemas.microsoft.com/office/drawing/2014/main" id="{30553BD8-5D8E-F399-BF05-006AA646F75B}"/>
              </a:ext>
            </a:extLst>
          </p:cNvPr>
          <p:cNvSpPr/>
          <p:nvPr/>
        </p:nvSpPr>
        <p:spPr>
          <a:xfrm>
            <a:off x="3327712" y="27080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6">
            <a:extLst>
              <a:ext uri="{FF2B5EF4-FFF2-40B4-BE49-F238E27FC236}">
                <a16:creationId xmlns:a16="http://schemas.microsoft.com/office/drawing/2014/main" id="{0EFF2CB6-A32A-4559-EFF8-1E707EA82A28}"/>
              </a:ext>
            </a:extLst>
          </p:cNvPr>
          <p:cNvSpPr/>
          <p:nvPr/>
        </p:nvSpPr>
        <p:spPr>
          <a:xfrm>
            <a:off x="3876352" y="2726317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(opcionális)</a:t>
            </a:r>
            <a:endParaRPr lang="en-US" sz="1200" dirty="0"/>
          </a:p>
        </p:txBody>
      </p:sp>
      <p:sp>
        <p:nvSpPr>
          <p:cNvPr id="35" name="Text 27">
            <a:extLst>
              <a:ext uri="{FF2B5EF4-FFF2-40B4-BE49-F238E27FC236}">
                <a16:creationId xmlns:a16="http://schemas.microsoft.com/office/drawing/2014/main" id="{E5BACDF6-E396-254F-44E6-B91860B937DC}"/>
              </a:ext>
            </a:extLst>
          </p:cNvPr>
          <p:cNvSpPr/>
          <p:nvPr/>
        </p:nvSpPr>
        <p:spPr>
          <a:xfrm>
            <a:off x="3327712" y="3274957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PR-ból staging deploy a teszteléshez</a:t>
            </a:r>
            <a:endParaRPr lang="en-US" sz="1050" dirty="0"/>
          </a:p>
        </p:txBody>
      </p:sp>
      <p:sp>
        <p:nvSpPr>
          <p:cNvPr id="36" name="Shape 28">
            <a:extLst>
              <a:ext uri="{FF2B5EF4-FFF2-40B4-BE49-F238E27FC236}">
                <a16:creationId xmlns:a16="http://schemas.microsoft.com/office/drawing/2014/main" id="{E75B869A-CE1D-7EDF-3BAA-876FEEC207F9}"/>
              </a:ext>
            </a:extLst>
          </p:cNvPr>
          <p:cNvSpPr/>
          <p:nvPr/>
        </p:nvSpPr>
        <p:spPr>
          <a:xfrm>
            <a:off x="6134920" y="2525149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9">
            <a:extLst>
              <a:ext uri="{FF2B5EF4-FFF2-40B4-BE49-F238E27FC236}">
                <a16:creationId xmlns:a16="http://schemas.microsoft.com/office/drawing/2014/main" id="{D901A51A-D5AE-60D1-AEB1-307C2614F4A2}"/>
              </a:ext>
            </a:extLst>
          </p:cNvPr>
          <p:cNvSpPr/>
          <p:nvPr/>
        </p:nvSpPr>
        <p:spPr>
          <a:xfrm>
            <a:off x="6272080" y="2708029"/>
            <a:ext cx="45720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0">
            <a:extLst>
              <a:ext uri="{FF2B5EF4-FFF2-40B4-BE49-F238E27FC236}">
                <a16:creationId xmlns:a16="http://schemas.microsoft.com/office/drawing/2014/main" id="{F5E270D0-480F-A04E-4EDB-B89377B70954}"/>
              </a:ext>
            </a:extLst>
          </p:cNvPr>
          <p:cNvSpPr/>
          <p:nvPr/>
        </p:nvSpPr>
        <p:spPr>
          <a:xfrm>
            <a:off x="6272080" y="27080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1">
            <a:extLst>
              <a:ext uri="{FF2B5EF4-FFF2-40B4-BE49-F238E27FC236}">
                <a16:creationId xmlns:a16="http://schemas.microsoft.com/office/drawing/2014/main" id="{A68C9980-9180-0BCE-4732-5BB198CB2DD0}"/>
              </a:ext>
            </a:extLst>
          </p:cNvPr>
          <p:cNvSpPr/>
          <p:nvPr/>
        </p:nvSpPr>
        <p:spPr>
          <a:xfrm>
            <a:off x="6820720" y="2726317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main-be</a:t>
            </a:r>
            <a:endParaRPr lang="en-US" sz="1200" dirty="0"/>
          </a:p>
        </p:txBody>
      </p:sp>
      <p:sp>
        <p:nvSpPr>
          <p:cNvPr id="40" name="Text 32">
            <a:extLst>
              <a:ext uri="{FF2B5EF4-FFF2-40B4-BE49-F238E27FC236}">
                <a16:creationId xmlns:a16="http://schemas.microsoft.com/office/drawing/2014/main" id="{CBC5F0C9-B829-CE3E-CA9D-A64D9553296A}"/>
              </a:ext>
            </a:extLst>
          </p:cNvPr>
          <p:cNvSpPr/>
          <p:nvPr/>
        </p:nvSpPr>
        <p:spPr>
          <a:xfrm>
            <a:off x="6272080" y="3274957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után squash merge, branch törlése</a:t>
            </a:r>
            <a:endParaRPr lang="en-US" sz="1050" dirty="0"/>
          </a:p>
        </p:txBody>
      </p:sp>
      <p:sp>
        <p:nvSpPr>
          <p:cNvPr id="41" name="Shape 33">
            <a:extLst>
              <a:ext uri="{FF2B5EF4-FFF2-40B4-BE49-F238E27FC236}">
                <a16:creationId xmlns:a16="http://schemas.microsoft.com/office/drawing/2014/main" id="{F0BE22FE-2792-F0E9-22DC-537107C281EF}"/>
              </a:ext>
            </a:extLst>
          </p:cNvPr>
          <p:cNvSpPr/>
          <p:nvPr/>
        </p:nvSpPr>
        <p:spPr>
          <a:xfrm>
            <a:off x="246184" y="4189357"/>
            <a:ext cx="4114800" cy="594360"/>
          </a:xfrm>
          <a:prstGeom prst="rect">
            <a:avLst/>
          </a:prstGeom>
          <a:solidFill>
            <a:srgbClr val="F0FFF4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4">
            <a:extLst>
              <a:ext uri="{FF2B5EF4-FFF2-40B4-BE49-F238E27FC236}">
                <a16:creationId xmlns:a16="http://schemas.microsoft.com/office/drawing/2014/main" id="{7248A322-C2D9-7097-4801-82B6137E2616}"/>
              </a:ext>
            </a:extLst>
          </p:cNvPr>
          <p:cNvSpPr/>
          <p:nvPr/>
        </p:nvSpPr>
        <p:spPr>
          <a:xfrm>
            <a:off x="383344" y="4244221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Egyszerű, gyors, CI/CD-barát, kevés branch, kis csapatoknak kiváló, web-re ideális</a:t>
            </a:r>
            <a:endParaRPr lang="en-US" sz="1000" dirty="0"/>
          </a:p>
        </p:txBody>
      </p:sp>
      <p:sp>
        <p:nvSpPr>
          <p:cNvPr id="43" name="Shape 35">
            <a:extLst>
              <a:ext uri="{FF2B5EF4-FFF2-40B4-BE49-F238E27FC236}">
                <a16:creationId xmlns:a16="http://schemas.microsoft.com/office/drawing/2014/main" id="{05A39FE2-9F9A-23AE-8F31-E8661EB0BB12}"/>
              </a:ext>
            </a:extLst>
          </p:cNvPr>
          <p:cNvSpPr/>
          <p:nvPr/>
        </p:nvSpPr>
        <p:spPr>
          <a:xfrm>
            <a:off x="4726744" y="4189357"/>
            <a:ext cx="4114800" cy="594360"/>
          </a:xfrm>
          <a:prstGeom prst="rect">
            <a:avLst/>
          </a:prstGeom>
          <a:solidFill>
            <a:srgbClr val="FFF5F5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6A5D03F1-58E7-830A-3D72-4FF493539F3D}"/>
              </a:ext>
            </a:extLst>
          </p:cNvPr>
          <p:cNvSpPr/>
          <p:nvPr/>
        </p:nvSpPr>
        <p:spPr>
          <a:xfrm>
            <a:off x="4863904" y="4244221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main mindig production-ready kell legyen; nincs develop buffer; hotfix beolvad a normál flow-ba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69185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rgbClr val="444444"/>
                </a:solidFill>
                <a:latin typeface="+mn-lt"/>
              </a:rPr>
              <a:t>Branching </a:t>
            </a:r>
            <a:r>
              <a:rPr lang="en-US" dirty="0" err="1">
                <a:solidFill>
                  <a:srgbClr val="444444"/>
                </a:solidFill>
                <a:latin typeface="+mn-lt"/>
              </a:rPr>
              <a:t>stratégiák</a:t>
            </a:r>
            <a:r>
              <a:rPr lang="en-US" dirty="0">
                <a:solidFill>
                  <a:srgbClr val="444444"/>
                </a:solidFill>
                <a:latin typeface="+mn-lt"/>
              </a:rPr>
              <a:t> III. – GitLab Flow &amp; Trunk-Based Development</a:t>
            </a:r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108713D0-05ED-EEFC-B48D-2C91F5E57920}"/>
              </a:ext>
            </a:extLst>
          </p:cNvPr>
          <p:cNvSpPr/>
          <p:nvPr/>
        </p:nvSpPr>
        <p:spPr>
          <a:xfrm>
            <a:off x="260252" y="769502"/>
            <a:ext cx="4114800" cy="3995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53A04954-F0A8-773C-B5B2-E1CAB4B79C60}"/>
              </a:ext>
            </a:extLst>
          </p:cNvPr>
          <p:cNvSpPr/>
          <p:nvPr/>
        </p:nvSpPr>
        <p:spPr>
          <a:xfrm>
            <a:off x="260252" y="769502"/>
            <a:ext cx="4114800" cy="438912"/>
          </a:xfrm>
          <a:prstGeom prst="rect">
            <a:avLst/>
          </a:prstGeom>
          <a:solidFill>
            <a:srgbClr val="FC6D26"/>
          </a:solidFill>
          <a:ln w="12700">
            <a:solidFill>
              <a:srgbClr val="FC6D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F13C144B-C5C3-66DE-A647-8B57597F3618}"/>
              </a:ext>
            </a:extLst>
          </p:cNvPr>
          <p:cNvSpPr/>
          <p:nvPr/>
        </p:nvSpPr>
        <p:spPr>
          <a:xfrm>
            <a:off x="351692" y="78779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GitLab Flow</a:t>
            </a:r>
            <a:endParaRPr lang="en-US" sz="15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C642AB85-68BD-7AC8-968E-4E053A13EC66}"/>
              </a:ext>
            </a:extLst>
          </p:cNvPr>
          <p:cNvSpPr/>
          <p:nvPr/>
        </p:nvSpPr>
        <p:spPr>
          <a:xfrm>
            <a:off x="397412" y="129071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GitFlow és GitHub Flow kompromisszuma. Környezeti ágakat ad hozzá:</a:t>
            </a:r>
            <a:endParaRPr lang="en-US" sz="1050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46E73D54-F24E-E0C2-8A3C-CAE5E8B73C14}"/>
              </a:ext>
            </a:extLst>
          </p:cNvPr>
          <p:cNvSpPr/>
          <p:nvPr/>
        </p:nvSpPr>
        <p:spPr>
          <a:xfrm>
            <a:off x="397412" y="1793630"/>
            <a:ext cx="3840480" cy="475488"/>
          </a:xfrm>
          <a:prstGeom prst="rect">
            <a:avLst/>
          </a:prstGeom>
          <a:solidFill>
            <a:srgbClr val="FFF3E0"/>
          </a:solidFill>
          <a:ln w="12700">
            <a:solidFill>
              <a:srgbClr val="FC6D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CBF7DBCB-F9BD-BA80-B53B-A415D9693687}"/>
              </a:ext>
            </a:extLst>
          </p:cNvPr>
          <p:cNvSpPr/>
          <p:nvPr/>
        </p:nvSpPr>
        <p:spPr>
          <a:xfrm>
            <a:off x="488852" y="183020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6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EC1617E4-8F0E-BD2D-18D5-F0CFE65776ED}"/>
              </a:ext>
            </a:extLst>
          </p:cNvPr>
          <p:cNvSpPr/>
          <p:nvPr/>
        </p:nvSpPr>
        <p:spPr>
          <a:xfrm>
            <a:off x="1906172" y="186678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Fejlesztési integrációs ág</a:t>
            </a:r>
            <a:endParaRPr lang="en-US" sz="1050" dirty="0"/>
          </a:p>
        </p:txBody>
      </p:sp>
      <p:sp>
        <p:nvSpPr>
          <p:cNvPr id="17" name="Shape 9">
            <a:extLst>
              <a:ext uri="{FF2B5EF4-FFF2-40B4-BE49-F238E27FC236}">
                <a16:creationId xmlns:a16="http://schemas.microsoft.com/office/drawing/2014/main" id="{C69DE70F-69AA-87B3-5588-1D8848AB823A}"/>
              </a:ext>
            </a:extLst>
          </p:cNvPr>
          <p:cNvSpPr/>
          <p:nvPr/>
        </p:nvSpPr>
        <p:spPr>
          <a:xfrm>
            <a:off x="397412" y="2360558"/>
            <a:ext cx="3840480" cy="475488"/>
          </a:xfrm>
          <a:prstGeom prst="rect">
            <a:avLst/>
          </a:prstGeom>
          <a:solidFill>
            <a:srgbClr val="FFF3E0"/>
          </a:solidFill>
          <a:ln w="12700">
            <a:solidFill>
              <a:srgbClr val="FC6D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E3C20BA8-0C94-D589-9018-5EF51FA8BD4D}"/>
              </a:ext>
            </a:extLst>
          </p:cNvPr>
          <p:cNvSpPr/>
          <p:nvPr/>
        </p:nvSpPr>
        <p:spPr>
          <a:xfrm>
            <a:off x="488852" y="239713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6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pre-production</a:t>
            </a:r>
            <a:endParaRPr lang="en-US" sz="11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068286C1-9879-9DE1-515D-59D88D6C7F4F}"/>
              </a:ext>
            </a:extLst>
          </p:cNvPr>
          <p:cNvSpPr/>
          <p:nvPr/>
        </p:nvSpPr>
        <p:spPr>
          <a:xfrm>
            <a:off x="1906172" y="243371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/ test environment</a:t>
            </a:r>
            <a:endParaRPr lang="en-US" sz="1050" dirty="0"/>
          </a:p>
        </p:txBody>
      </p:sp>
      <p:sp>
        <p:nvSpPr>
          <p:cNvPr id="20" name="Shape 12">
            <a:extLst>
              <a:ext uri="{FF2B5EF4-FFF2-40B4-BE49-F238E27FC236}">
                <a16:creationId xmlns:a16="http://schemas.microsoft.com/office/drawing/2014/main" id="{5DDDCC02-2E09-D5A1-7F2A-FCA50FC4E120}"/>
              </a:ext>
            </a:extLst>
          </p:cNvPr>
          <p:cNvSpPr/>
          <p:nvPr/>
        </p:nvSpPr>
        <p:spPr>
          <a:xfrm>
            <a:off x="397412" y="2927486"/>
            <a:ext cx="3840480" cy="475488"/>
          </a:xfrm>
          <a:prstGeom prst="rect">
            <a:avLst/>
          </a:prstGeom>
          <a:solidFill>
            <a:srgbClr val="FFF3E0"/>
          </a:solidFill>
          <a:ln w="12700">
            <a:solidFill>
              <a:srgbClr val="FC6D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98A79737-B844-045A-70C1-9105ECB46AC5}"/>
              </a:ext>
            </a:extLst>
          </p:cNvPr>
          <p:cNvSpPr/>
          <p:nvPr/>
        </p:nvSpPr>
        <p:spPr>
          <a:xfrm>
            <a:off x="488852" y="296406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6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1100" dirty="0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BC089B7A-251F-0ED3-BEBF-6DEBA9C03D43}"/>
              </a:ext>
            </a:extLst>
          </p:cNvPr>
          <p:cNvSpPr/>
          <p:nvPr/>
        </p:nvSpPr>
        <p:spPr>
          <a:xfrm>
            <a:off x="1906172" y="300063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Éles környezet</a:t>
            </a:r>
            <a:endParaRPr lang="en-US" sz="1050" dirty="0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ED5BC206-E31E-847D-28B8-CEF1DCD165CB}"/>
              </a:ext>
            </a:extLst>
          </p:cNvPr>
          <p:cNvSpPr/>
          <p:nvPr/>
        </p:nvSpPr>
        <p:spPr>
          <a:xfrm>
            <a:off x="397412" y="362243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Egyszerűbb mint GitFlow, deploy kontrollt ad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Több environment-et kell menedzselni</a:t>
            </a:r>
            <a:endParaRPr lang="en-US" sz="1000" dirty="0"/>
          </a:p>
        </p:txBody>
      </p:sp>
      <p:sp>
        <p:nvSpPr>
          <p:cNvPr id="24" name="Shape 16">
            <a:extLst>
              <a:ext uri="{FF2B5EF4-FFF2-40B4-BE49-F238E27FC236}">
                <a16:creationId xmlns:a16="http://schemas.microsoft.com/office/drawing/2014/main" id="{D0285908-6520-3EC5-8C9C-CCCC276DBF25}"/>
              </a:ext>
            </a:extLst>
          </p:cNvPr>
          <p:cNvSpPr/>
          <p:nvPr/>
        </p:nvSpPr>
        <p:spPr>
          <a:xfrm>
            <a:off x="4740812" y="769502"/>
            <a:ext cx="4114800" cy="3995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7">
            <a:extLst>
              <a:ext uri="{FF2B5EF4-FFF2-40B4-BE49-F238E27FC236}">
                <a16:creationId xmlns:a16="http://schemas.microsoft.com/office/drawing/2014/main" id="{463B8A11-9C43-B443-9932-A66C776D736B}"/>
              </a:ext>
            </a:extLst>
          </p:cNvPr>
          <p:cNvSpPr/>
          <p:nvPr/>
        </p:nvSpPr>
        <p:spPr>
          <a:xfrm>
            <a:off x="4740812" y="769502"/>
            <a:ext cx="4114800" cy="438912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5C905BA3-04A4-2F17-A2DE-6C5A8D6477CA}"/>
              </a:ext>
            </a:extLst>
          </p:cNvPr>
          <p:cNvSpPr/>
          <p:nvPr/>
        </p:nvSpPr>
        <p:spPr>
          <a:xfrm>
            <a:off x="4832252" y="78779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Trunk-Based Development</a:t>
            </a:r>
            <a:endParaRPr lang="en-US" sz="1400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1EDCAF5E-1402-0813-8F0D-4D74CDE75F2A}"/>
              </a:ext>
            </a:extLst>
          </p:cNvPr>
          <p:cNvSpPr/>
          <p:nvPr/>
        </p:nvSpPr>
        <p:spPr>
          <a:xfrm>
            <a:off x="4877972" y="129071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Egyetlen főág (trunk/main). Feature branch-ek nagyon rövidek (&lt; 1-2 nap)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emellett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feature flag-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eket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használ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28" name="Text 20">
            <a:extLst>
              <a:ext uri="{FF2B5EF4-FFF2-40B4-BE49-F238E27FC236}">
                <a16:creationId xmlns:a16="http://schemas.microsoft.com/office/drawing/2014/main" id="{2BE2AA35-1C63-DC15-63AA-4C0F222664AA}"/>
              </a:ext>
            </a:extLst>
          </p:cNvPr>
          <p:cNvSpPr/>
          <p:nvPr/>
        </p:nvSpPr>
        <p:spPr>
          <a:xfrm>
            <a:off x="4877972" y="190335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Minden fejlesztő naponta (!) merge-el main-be</a:t>
            </a:r>
            <a:endParaRPr lang="en-US" sz="1050" dirty="0"/>
          </a:p>
        </p:txBody>
      </p:sp>
      <p:sp>
        <p:nvSpPr>
          <p:cNvPr id="29" name="Text 21">
            <a:extLst>
              <a:ext uri="{FF2B5EF4-FFF2-40B4-BE49-F238E27FC236}">
                <a16:creationId xmlns:a16="http://schemas.microsoft.com/office/drawing/2014/main" id="{6735535F-E324-454A-F6CC-DA9E3E1884E7}"/>
              </a:ext>
            </a:extLst>
          </p:cNvPr>
          <p:cNvSpPr/>
          <p:nvPr/>
        </p:nvSpPr>
        <p:spPr>
          <a:xfrm>
            <a:off x="4877972" y="228740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Feature flag-ek </a:t>
            </a:r>
            <a:r>
              <a:rPr lang="en-US" sz="105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jelölik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befejezetlen kódot</a:t>
            </a:r>
            <a:endParaRPr lang="en-US" sz="1050" dirty="0"/>
          </a:p>
        </p:txBody>
      </p:sp>
      <p:sp>
        <p:nvSpPr>
          <p:cNvPr id="30" name="Text 22">
            <a:extLst>
              <a:ext uri="{FF2B5EF4-FFF2-40B4-BE49-F238E27FC236}">
                <a16:creationId xmlns:a16="http://schemas.microsoft.com/office/drawing/2014/main" id="{14329272-8177-9F2D-E132-37C35B55F542}"/>
              </a:ext>
            </a:extLst>
          </p:cNvPr>
          <p:cNvSpPr/>
          <p:nvPr/>
        </p:nvSpPr>
        <p:spPr>
          <a:xfrm>
            <a:off x="4877972" y="267145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Robusztus, automatizált tesztek szükségesek</a:t>
            </a:r>
            <a:endParaRPr lang="en-US" sz="1050" dirty="0"/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5D88FCAE-484D-25F8-A63B-84B3C037B018}"/>
              </a:ext>
            </a:extLst>
          </p:cNvPr>
          <p:cNvSpPr/>
          <p:nvPr/>
        </p:nvSpPr>
        <p:spPr>
          <a:xfrm>
            <a:off x="4877972" y="305550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Kis, inkrementális commitok</a:t>
            </a:r>
            <a:endParaRPr lang="en-US" sz="1050" dirty="0"/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C6D14E17-B191-0209-656D-9476E555A22A}"/>
              </a:ext>
            </a:extLst>
          </p:cNvPr>
          <p:cNvSpPr/>
          <p:nvPr/>
        </p:nvSpPr>
        <p:spPr>
          <a:xfrm>
            <a:off x="4877972" y="343955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Google, Facebook, Netflix használja</a:t>
            </a:r>
            <a:endParaRPr lang="en-US" sz="1050" dirty="0"/>
          </a:p>
        </p:txBody>
      </p:sp>
      <p:sp>
        <p:nvSpPr>
          <p:cNvPr id="33" name="Text 25">
            <a:extLst>
              <a:ext uri="{FF2B5EF4-FFF2-40B4-BE49-F238E27FC236}">
                <a16:creationId xmlns:a16="http://schemas.microsoft.com/office/drawing/2014/main" id="{411E1ACB-A83B-D165-EEE3-0684E841AE02}"/>
              </a:ext>
            </a:extLst>
          </p:cNvPr>
          <p:cNvSpPr/>
          <p:nvPr/>
        </p:nvSpPr>
        <p:spPr>
          <a:xfrm>
            <a:off x="4877972" y="375959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Gyors integráció, kevés merge konfliktus, CI/CD barát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Erős tesztkultúra kell, feature flag overhead, kisebb csapatoknak szokatlan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4927502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rgbClr val="444444"/>
                </a:solidFill>
                <a:latin typeface="+mn-lt"/>
              </a:rPr>
              <a:t>Branching </a:t>
            </a:r>
            <a:r>
              <a:rPr lang="en-US" dirty="0" err="1">
                <a:solidFill>
                  <a:srgbClr val="444444"/>
                </a:solidFill>
                <a:latin typeface="+mn-lt"/>
              </a:rPr>
              <a:t>stratégiák</a:t>
            </a:r>
            <a:r>
              <a:rPr lang="en-US" dirty="0">
                <a:solidFill>
                  <a:srgbClr val="444444"/>
                </a:solidFill>
                <a:latin typeface="+mn-lt"/>
              </a:rPr>
              <a:t> </a:t>
            </a:r>
            <a:r>
              <a:rPr lang="en-US" dirty="0" err="1">
                <a:solidFill>
                  <a:srgbClr val="444444"/>
                </a:solidFill>
                <a:latin typeface="+mn-lt"/>
              </a:rPr>
              <a:t>összehasonlítása</a:t>
            </a:r>
            <a:endParaRPr lang="en-US" dirty="0">
              <a:latin typeface="+mn-lt"/>
            </a:endParaRPr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25FC2BE3-721B-C8C6-7917-F067DBC33B95}"/>
              </a:ext>
            </a:extLst>
          </p:cNvPr>
          <p:cNvSpPr/>
          <p:nvPr/>
        </p:nvSpPr>
        <p:spPr>
          <a:xfrm>
            <a:off x="302742" y="732342"/>
            <a:ext cx="1828800" cy="384048"/>
          </a:xfrm>
          <a:prstGeom prst="rect">
            <a:avLst/>
          </a:prstGeom>
          <a:solidFill>
            <a:srgbClr val="1A1A2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8D37352-C13C-3ED8-C3BF-430B6D06AB22}"/>
              </a:ext>
            </a:extLst>
          </p:cNvPr>
          <p:cNvSpPr/>
          <p:nvPr/>
        </p:nvSpPr>
        <p:spPr>
          <a:xfrm>
            <a:off x="348462" y="75063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Szempont</a:t>
            </a:r>
            <a:endParaRPr lang="en-US" sz="11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DD8A095-26F3-68BE-1F7A-15D177104667}"/>
              </a:ext>
            </a:extLst>
          </p:cNvPr>
          <p:cNvSpPr/>
          <p:nvPr/>
        </p:nvSpPr>
        <p:spPr>
          <a:xfrm>
            <a:off x="2131542" y="732342"/>
            <a:ext cx="16459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5B3605F-5F87-8871-B0E7-BF28AFDA242A}"/>
              </a:ext>
            </a:extLst>
          </p:cNvPr>
          <p:cNvSpPr/>
          <p:nvPr/>
        </p:nvSpPr>
        <p:spPr>
          <a:xfrm>
            <a:off x="2177262" y="75063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GitFlow</a:t>
            </a:r>
            <a:endParaRPr lang="en-US" sz="1100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7BD67528-93A4-017C-EA6E-4E13E5754D4C}"/>
              </a:ext>
            </a:extLst>
          </p:cNvPr>
          <p:cNvSpPr/>
          <p:nvPr/>
        </p:nvSpPr>
        <p:spPr>
          <a:xfrm>
            <a:off x="3777462" y="732342"/>
            <a:ext cx="1645920" cy="384048"/>
          </a:xfrm>
          <a:prstGeom prst="rect">
            <a:avLst/>
          </a:prstGeom>
          <a:solidFill>
            <a:srgbClr val="FC6D2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B5EDEA36-600C-3E64-10C2-A2DF9EF26EB5}"/>
              </a:ext>
            </a:extLst>
          </p:cNvPr>
          <p:cNvSpPr/>
          <p:nvPr/>
        </p:nvSpPr>
        <p:spPr>
          <a:xfrm>
            <a:off x="3823182" y="75063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Flow</a:t>
            </a:r>
            <a:endParaRPr lang="en-US" sz="1100" dirty="0"/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E9B2C8B6-6553-6DFE-40A1-D4009000F55B}"/>
              </a:ext>
            </a:extLst>
          </p:cNvPr>
          <p:cNvSpPr/>
          <p:nvPr/>
        </p:nvSpPr>
        <p:spPr>
          <a:xfrm>
            <a:off x="5423382" y="732342"/>
            <a:ext cx="1645920" cy="384048"/>
          </a:xfrm>
          <a:prstGeom prst="rect">
            <a:avLst/>
          </a:prstGeom>
          <a:solidFill>
            <a:srgbClr val="4285F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E1227ACF-33BC-C448-7981-BEA9DA869A20}"/>
              </a:ext>
            </a:extLst>
          </p:cNvPr>
          <p:cNvSpPr/>
          <p:nvPr/>
        </p:nvSpPr>
        <p:spPr>
          <a:xfrm>
            <a:off x="5469102" y="75063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GitLab Flow</a:t>
            </a:r>
            <a:endParaRPr lang="en-US" sz="1100" dirty="0"/>
          </a:p>
        </p:txBody>
      </p:sp>
      <p:sp>
        <p:nvSpPr>
          <p:cNvPr id="18" name="Shape 10">
            <a:extLst>
              <a:ext uri="{FF2B5EF4-FFF2-40B4-BE49-F238E27FC236}">
                <a16:creationId xmlns:a16="http://schemas.microsoft.com/office/drawing/2014/main" id="{73ABB6F5-131B-C60B-3EE6-D057F05C9ABC}"/>
              </a:ext>
            </a:extLst>
          </p:cNvPr>
          <p:cNvSpPr/>
          <p:nvPr/>
        </p:nvSpPr>
        <p:spPr>
          <a:xfrm>
            <a:off x="7069302" y="732342"/>
            <a:ext cx="1737360" cy="384048"/>
          </a:xfrm>
          <a:prstGeom prst="rect">
            <a:avLst/>
          </a:prstGeom>
          <a:solidFill>
            <a:srgbClr val="4ECDC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AD928619-E69D-A06A-67E6-64D146F602B5}"/>
              </a:ext>
            </a:extLst>
          </p:cNvPr>
          <p:cNvSpPr/>
          <p:nvPr/>
        </p:nvSpPr>
        <p:spPr>
          <a:xfrm>
            <a:off x="7115022" y="75063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Trunk-Based</a:t>
            </a:r>
            <a:endParaRPr lang="en-US" sz="1100" dirty="0"/>
          </a:p>
        </p:txBody>
      </p:sp>
      <p:sp>
        <p:nvSpPr>
          <p:cNvPr id="20" name="Shape 12">
            <a:extLst>
              <a:ext uri="{FF2B5EF4-FFF2-40B4-BE49-F238E27FC236}">
                <a16:creationId xmlns:a16="http://schemas.microsoft.com/office/drawing/2014/main" id="{D33AEC48-8D8D-0362-782F-770C762EEAEA}"/>
              </a:ext>
            </a:extLst>
          </p:cNvPr>
          <p:cNvSpPr/>
          <p:nvPr/>
        </p:nvSpPr>
        <p:spPr>
          <a:xfrm>
            <a:off x="302742" y="1116390"/>
            <a:ext cx="182880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FCEDDBB2-C261-DCC4-C1DC-C928F90BBC3E}"/>
              </a:ext>
            </a:extLst>
          </p:cNvPr>
          <p:cNvSpPr/>
          <p:nvPr/>
        </p:nvSpPr>
        <p:spPr>
          <a:xfrm>
            <a:off x="348462" y="114382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Komplexitás</a:t>
            </a:r>
            <a:endParaRPr lang="en-US" sz="1000" dirty="0"/>
          </a:p>
        </p:txBody>
      </p:sp>
      <p:sp>
        <p:nvSpPr>
          <p:cNvPr id="22" name="Shape 14">
            <a:extLst>
              <a:ext uri="{FF2B5EF4-FFF2-40B4-BE49-F238E27FC236}">
                <a16:creationId xmlns:a16="http://schemas.microsoft.com/office/drawing/2014/main" id="{FAC4ED07-3CA9-3608-C1E0-D8CC1BE3DDC2}"/>
              </a:ext>
            </a:extLst>
          </p:cNvPr>
          <p:cNvSpPr/>
          <p:nvPr/>
        </p:nvSpPr>
        <p:spPr>
          <a:xfrm>
            <a:off x="2131542" y="1116390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5D2E4F97-0CB4-9AB1-BA6C-3AEAA5F6A32C}"/>
              </a:ext>
            </a:extLst>
          </p:cNvPr>
          <p:cNvSpPr/>
          <p:nvPr/>
        </p:nvSpPr>
        <p:spPr>
          <a:xfrm>
            <a:off x="2177262" y="114382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Magas</a:t>
            </a:r>
            <a:endParaRPr lang="en-US" sz="1000" dirty="0"/>
          </a:p>
        </p:txBody>
      </p:sp>
      <p:sp>
        <p:nvSpPr>
          <p:cNvPr id="24" name="Shape 16">
            <a:extLst>
              <a:ext uri="{FF2B5EF4-FFF2-40B4-BE49-F238E27FC236}">
                <a16:creationId xmlns:a16="http://schemas.microsoft.com/office/drawing/2014/main" id="{B10D3476-FD28-5143-3F06-3E32ABF89178}"/>
              </a:ext>
            </a:extLst>
          </p:cNvPr>
          <p:cNvSpPr/>
          <p:nvPr/>
        </p:nvSpPr>
        <p:spPr>
          <a:xfrm>
            <a:off x="3777462" y="1116390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28B3EAF2-E83D-9783-1B8E-84B80F949BC7}"/>
              </a:ext>
            </a:extLst>
          </p:cNvPr>
          <p:cNvSpPr/>
          <p:nvPr/>
        </p:nvSpPr>
        <p:spPr>
          <a:xfrm>
            <a:off x="3823182" y="114382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Alacsony</a:t>
            </a:r>
            <a:endParaRPr lang="en-US" sz="1000" dirty="0"/>
          </a:p>
        </p:txBody>
      </p:sp>
      <p:sp>
        <p:nvSpPr>
          <p:cNvPr id="26" name="Shape 18">
            <a:extLst>
              <a:ext uri="{FF2B5EF4-FFF2-40B4-BE49-F238E27FC236}">
                <a16:creationId xmlns:a16="http://schemas.microsoft.com/office/drawing/2014/main" id="{643C5404-60D3-D065-D802-D6CA811A4845}"/>
              </a:ext>
            </a:extLst>
          </p:cNvPr>
          <p:cNvSpPr/>
          <p:nvPr/>
        </p:nvSpPr>
        <p:spPr>
          <a:xfrm>
            <a:off x="5423382" y="1116390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4BAC377D-4A2A-F2B8-E364-C6E153CD1623}"/>
              </a:ext>
            </a:extLst>
          </p:cNvPr>
          <p:cNvSpPr/>
          <p:nvPr/>
        </p:nvSpPr>
        <p:spPr>
          <a:xfrm>
            <a:off x="5469102" y="114382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Közepes</a:t>
            </a:r>
            <a:endParaRPr lang="en-US" sz="1000" dirty="0"/>
          </a:p>
        </p:txBody>
      </p:sp>
      <p:sp>
        <p:nvSpPr>
          <p:cNvPr id="28" name="Shape 20">
            <a:extLst>
              <a:ext uri="{FF2B5EF4-FFF2-40B4-BE49-F238E27FC236}">
                <a16:creationId xmlns:a16="http://schemas.microsoft.com/office/drawing/2014/main" id="{64CE5AA5-0E79-3D0A-378E-FB932C9CA5D5}"/>
              </a:ext>
            </a:extLst>
          </p:cNvPr>
          <p:cNvSpPr/>
          <p:nvPr/>
        </p:nvSpPr>
        <p:spPr>
          <a:xfrm>
            <a:off x="7069302" y="1116390"/>
            <a:ext cx="173736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1">
            <a:extLst>
              <a:ext uri="{FF2B5EF4-FFF2-40B4-BE49-F238E27FC236}">
                <a16:creationId xmlns:a16="http://schemas.microsoft.com/office/drawing/2014/main" id="{0FE57DAD-C72C-5CA4-0EDB-4834481EB32C}"/>
              </a:ext>
            </a:extLst>
          </p:cNvPr>
          <p:cNvSpPr/>
          <p:nvPr/>
        </p:nvSpPr>
        <p:spPr>
          <a:xfrm>
            <a:off x="7115022" y="114382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Alacsony</a:t>
            </a:r>
            <a:endParaRPr lang="en-US" sz="1000" dirty="0"/>
          </a:p>
        </p:txBody>
      </p:sp>
      <p:sp>
        <p:nvSpPr>
          <p:cNvPr id="30" name="Shape 22">
            <a:extLst>
              <a:ext uri="{FF2B5EF4-FFF2-40B4-BE49-F238E27FC236}">
                <a16:creationId xmlns:a16="http://schemas.microsoft.com/office/drawing/2014/main" id="{72E5BF76-6E02-194C-BD19-A19560565170}"/>
              </a:ext>
            </a:extLst>
          </p:cNvPr>
          <p:cNvSpPr/>
          <p:nvPr/>
        </p:nvSpPr>
        <p:spPr>
          <a:xfrm>
            <a:off x="302742" y="1646742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A85A1B1F-8172-D165-ABFD-2C0CFF9FB518}"/>
              </a:ext>
            </a:extLst>
          </p:cNvPr>
          <p:cNvSpPr/>
          <p:nvPr/>
        </p:nvSpPr>
        <p:spPr>
          <a:xfrm>
            <a:off x="348462" y="167417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ciklus</a:t>
            </a:r>
            <a:endParaRPr lang="en-US" sz="1000" dirty="0"/>
          </a:p>
        </p:txBody>
      </p:sp>
      <p:sp>
        <p:nvSpPr>
          <p:cNvPr id="32" name="Shape 24">
            <a:extLst>
              <a:ext uri="{FF2B5EF4-FFF2-40B4-BE49-F238E27FC236}">
                <a16:creationId xmlns:a16="http://schemas.microsoft.com/office/drawing/2014/main" id="{C4E917EA-B871-6DA3-0175-DAAC56F92F5F}"/>
              </a:ext>
            </a:extLst>
          </p:cNvPr>
          <p:cNvSpPr/>
          <p:nvPr/>
        </p:nvSpPr>
        <p:spPr>
          <a:xfrm>
            <a:off x="2131542" y="164674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5">
            <a:extLst>
              <a:ext uri="{FF2B5EF4-FFF2-40B4-BE49-F238E27FC236}">
                <a16:creationId xmlns:a16="http://schemas.microsoft.com/office/drawing/2014/main" id="{B2479664-9F02-095A-9605-C0C81AD9F409}"/>
              </a:ext>
            </a:extLst>
          </p:cNvPr>
          <p:cNvSpPr/>
          <p:nvPr/>
        </p:nvSpPr>
        <p:spPr>
          <a:xfrm>
            <a:off x="2177262" y="167417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Ütemezett</a:t>
            </a:r>
            <a:endParaRPr lang="en-US" sz="1000" dirty="0"/>
          </a:p>
        </p:txBody>
      </p:sp>
      <p:sp>
        <p:nvSpPr>
          <p:cNvPr id="34" name="Shape 26">
            <a:extLst>
              <a:ext uri="{FF2B5EF4-FFF2-40B4-BE49-F238E27FC236}">
                <a16:creationId xmlns:a16="http://schemas.microsoft.com/office/drawing/2014/main" id="{D3A79812-543A-FD9F-208B-4687296BF91F}"/>
              </a:ext>
            </a:extLst>
          </p:cNvPr>
          <p:cNvSpPr/>
          <p:nvPr/>
        </p:nvSpPr>
        <p:spPr>
          <a:xfrm>
            <a:off x="3777462" y="164674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7">
            <a:extLst>
              <a:ext uri="{FF2B5EF4-FFF2-40B4-BE49-F238E27FC236}">
                <a16:creationId xmlns:a16="http://schemas.microsoft.com/office/drawing/2014/main" id="{0BF9DA0F-4859-EABA-2DED-A83C8CDF8694}"/>
              </a:ext>
            </a:extLst>
          </p:cNvPr>
          <p:cNvSpPr/>
          <p:nvPr/>
        </p:nvSpPr>
        <p:spPr>
          <a:xfrm>
            <a:off x="3823182" y="167417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000" dirty="0"/>
          </a:p>
        </p:txBody>
      </p:sp>
      <p:sp>
        <p:nvSpPr>
          <p:cNvPr id="36" name="Shape 28">
            <a:extLst>
              <a:ext uri="{FF2B5EF4-FFF2-40B4-BE49-F238E27FC236}">
                <a16:creationId xmlns:a16="http://schemas.microsoft.com/office/drawing/2014/main" id="{5ACB3F7B-1D2A-0F01-A96D-03FE4CA5CCB7}"/>
              </a:ext>
            </a:extLst>
          </p:cNvPr>
          <p:cNvSpPr/>
          <p:nvPr/>
        </p:nvSpPr>
        <p:spPr>
          <a:xfrm>
            <a:off x="5423382" y="164674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6FDA9EBD-D69A-4F4F-A754-7B749CB91F75}"/>
              </a:ext>
            </a:extLst>
          </p:cNvPr>
          <p:cNvSpPr/>
          <p:nvPr/>
        </p:nvSpPr>
        <p:spPr>
          <a:xfrm>
            <a:off x="5469102" y="167417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Rugalmas</a:t>
            </a:r>
            <a:endParaRPr lang="en-US" sz="1000" dirty="0"/>
          </a:p>
        </p:txBody>
      </p:sp>
      <p:sp>
        <p:nvSpPr>
          <p:cNvPr id="38" name="Shape 30">
            <a:extLst>
              <a:ext uri="{FF2B5EF4-FFF2-40B4-BE49-F238E27FC236}">
                <a16:creationId xmlns:a16="http://schemas.microsoft.com/office/drawing/2014/main" id="{F7AFB373-58B3-68C2-0FD1-CBA748645F1B}"/>
              </a:ext>
            </a:extLst>
          </p:cNvPr>
          <p:cNvSpPr/>
          <p:nvPr/>
        </p:nvSpPr>
        <p:spPr>
          <a:xfrm>
            <a:off x="7069302" y="1646742"/>
            <a:ext cx="1737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1">
            <a:extLst>
              <a:ext uri="{FF2B5EF4-FFF2-40B4-BE49-F238E27FC236}">
                <a16:creationId xmlns:a16="http://schemas.microsoft.com/office/drawing/2014/main" id="{766E6AAF-BCA5-1669-D639-89407FD8E7B8}"/>
              </a:ext>
            </a:extLst>
          </p:cNvPr>
          <p:cNvSpPr/>
          <p:nvPr/>
        </p:nvSpPr>
        <p:spPr>
          <a:xfrm>
            <a:off x="7115022" y="167417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000" dirty="0"/>
          </a:p>
        </p:txBody>
      </p:sp>
      <p:sp>
        <p:nvSpPr>
          <p:cNvPr id="40" name="Shape 32">
            <a:extLst>
              <a:ext uri="{FF2B5EF4-FFF2-40B4-BE49-F238E27FC236}">
                <a16:creationId xmlns:a16="http://schemas.microsoft.com/office/drawing/2014/main" id="{C151449C-CB3D-F830-9A1A-611E8FB96E56}"/>
              </a:ext>
            </a:extLst>
          </p:cNvPr>
          <p:cNvSpPr/>
          <p:nvPr/>
        </p:nvSpPr>
        <p:spPr>
          <a:xfrm>
            <a:off x="302742" y="2177094"/>
            <a:ext cx="182880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0A2C42D2-CCF4-7A65-D076-2AEAB37FE151}"/>
              </a:ext>
            </a:extLst>
          </p:cNvPr>
          <p:cNvSpPr/>
          <p:nvPr/>
        </p:nvSpPr>
        <p:spPr>
          <a:xfrm>
            <a:off x="348462" y="220452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barát</a:t>
            </a:r>
            <a:endParaRPr lang="en-US" sz="1000" dirty="0"/>
          </a:p>
        </p:txBody>
      </p:sp>
      <p:sp>
        <p:nvSpPr>
          <p:cNvPr id="42" name="Shape 34">
            <a:extLst>
              <a:ext uri="{FF2B5EF4-FFF2-40B4-BE49-F238E27FC236}">
                <a16:creationId xmlns:a16="http://schemas.microsoft.com/office/drawing/2014/main" id="{B2E36D21-E015-44E7-3199-24ECD7B90C4F}"/>
              </a:ext>
            </a:extLst>
          </p:cNvPr>
          <p:cNvSpPr/>
          <p:nvPr/>
        </p:nvSpPr>
        <p:spPr>
          <a:xfrm>
            <a:off x="2131542" y="2177094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5">
            <a:extLst>
              <a:ext uri="{FF2B5EF4-FFF2-40B4-BE49-F238E27FC236}">
                <a16:creationId xmlns:a16="http://schemas.microsoft.com/office/drawing/2014/main" id="{803D3725-27C7-2274-D18F-781957475F48}"/>
              </a:ext>
            </a:extLst>
          </p:cNvPr>
          <p:cNvSpPr/>
          <p:nvPr/>
        </p:nvSpPr>
        <p:spPr>
          <a:xfrm>
            <a:off x="2177262" y="220452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Nehézkes</a:t>
            </a:r>
            <a:endParaRPr lang="en-US" sz="1000" dirty="0"/>
          </a:p>
        </p:txBody>
      </p:sp>
      <p:sp>
        <p:nvSpPr>
          <p:cNvPr id="44" name="Shape 36">
            <a:extLst>
              <a:ext uri="{FF2B5EF4-FFF2-40B4-BE49-F238E27FC236}">
                <a16:creationId xmlns:a16="http://schemas.microsoft.com/office/drawing/2014/main" id="{35BD07E0-0C3A-49E3-A2EE-04206DC99BA7}"/>
              </a:ext>
            </a:extLst>
          </p:cNvPr>
          <p:cNvSpPr/>
          <p:nvPr/>
        </p:nvSpPr>
        <p:spPr>
          <a:xfrm>
            <a:off x="3777462" y="2177094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7">
            <a:extLst>
              <a:ext uri="{FF2B5EF4-FFF2-40B4-BE49-F238E27FC236}">
                <a16:creationId xmlns:a16="http://schemas.microsoft.com/office/drawing/2014/main" id="{37FDCE20-D8AE-8BAB-5093-37AD0B0614B9}"/>
              </a:ext>
            </a:extLst>
          </p:cNvPr>
          <p:cNvSpPr/>
          <p:nvPr/>
        </p:nvSpPr>
        <p:spPr>
          <a:xfrm>
            <a:off x="3823182" y="220452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Igen</a:t>
            </a:r>
            <a:endParaRPr lang="en-US" sz="1000" dirty="0"/>
          </a:p>
        </p:txBody>
      </p:sp>
      <p:sp>
        <p:nvSpPr>
          <p:cNvPr id="46" name="Shape 38">
            <a:extLst>
              <a:ext uri="{FF2B5EF4-FFF2-40B4-BE49-F238E27FC236}">
                <a16:creationId xmlns:a16="http://schemas.microsoft.com/office/drawing/2014/main" id="{81E2C3EB-4656-45A8-D98F-67610BE1311D}"/>
              </a:ext>
            </a:extLst>
          </p:cNvPr>
          <p:cNvSpPr/>
          <p:nvPr/>
        </p:nvSpPr>
        <p:spPr>
          <a:xfrm>
            <a:off x="5423382" y="2177094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9">
            <a:extLst>
              <a:ext uri="{FF2B5EF4-FFF2-40B4-BE49-F238E27FC236}">
                <a16:creationId xmlns:a16="http://schemas.microsoft.com/office/drawing/2014/main" id="{6CD7EFD1-F277-9084-B37D-D84EB6452437}"/>
              </a:ext>
            </a:extLst>
          </p:cNvPr>
          <p:cNvSpPr/>
          <p:nvPr/>
        </p:nvSpPr>
        <p:spPr>
          <a:xfrm>
            <a:off x="5469102" y="220452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Igen</a:t>
            </a:r>
            <a:endParaRPr lang="en-US" sz="1000" dirty="0"/>
          </a:p>
        </p:txBody>
      </p:sp>
      <p:sp>
        <p:nvSpPr>
          <p:cNvPr id="48" name="Shape 40">
            <a:extLst>
              <a:ext uri="{FF2B5EF4-FFF2-40B4-BE49-F238E27FC236}">
                <a16:creationId xmlns:a16="http://schemas.microsoft.com/office/drawing/2014/main" id="{72041D30-EFC4-5C94-6ABE-55FA04090F84}"/>
              </a:ext>
            </a:extLst>
          </p:cNvPr>
          <p:cNvSpPr/>
          <p:nvPr/>
        </p:nvSpPr>
        <p:spPr>
          <a:xfrm>
            <a:off x="7069302" y="2177094"/>
            <a:ext cx="173736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1">
            <a:extLst>
              <a:ext uri="{FF2B5EF4-FFF2-40B4-BE49-F238E27FC236}">
                <a16:creationId xmlns:a16="http://schemas.microsoft.com/office/drawing/2014/main" id="{BB0FB473-6812-DB9D-C410-41CEF7414E22}"/>
              </a:ext>
            </a:extLst>
          </p:cNvPr>
          <p:cNvSpPr/>
          <p:nvPr/>
        </p:nvSpPr>
        <p:spPr>
          <a:xfrm>
            <a:off x="7115022" y="220452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✅✅ Ideális</a:t>
            </a:r>
            <a:endParaRPr lang="en-US" sz="1000" dirty="0"/>
          </a:p>
        </p:txBody>
      </p:sp>
      <p:sp>
        <p:nvSpPr>
          <p:cNvPr id="50" name="Shape 42">
            <a:extLst>
              <a:ext uri="{FF2B5EF4-FFF2-40B4-BE49-F238E27FC236}">
                <a16:creationId xmlns:a16="http://schemas.microsoft.com/office/drawing/2014/main" id="{6BB273C8-9FF1-47D1-7743-FE1F6EB0245B}"/>
              </a:ext>
            </a:extLst>
          </p:cNvPr>
          <p:cNvSpPr/>
          <p:nvPr/>
        </p:nvSpPr>
        <p:spPr>
          <a:xfrm>
            <a:off x="302742" y="2707446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3">
            <a:extLst>
              <a:ext uri="{FF2B5EF4-FFF2-40B4-BE49-F238E27FC236}">
                <a16:creationId xmlns:a16="http://schemas.microsoft.com/office/drawing/2014/main" id="{13124C31-5E58-60BB-D82F-64574A87EC3D}"/>
              </a:ext>
            </a:extLst>
          </p:cNvPr>
          <p:cNvSpPr/>
          <p:nvPr/>
        </p:nvSpPr>
        <p:spPr>
          <a:xfrm>
            <a:off x="348462" y="273487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Csapat méret</a:t>
            </a:r>
            <a:endParaRPr lang="en-US" sz="1000" dirty="0"/>
          </a:p>
        </p:txBody>
      </p:sp>
      <p:sp>
        <p:nvSpPr>
          <p:cNvPr id="52" name="Shape 44">
            <a:extLst>
              <a:ext uri="{FF2B5EF4-FFF2-40B4-BE49-F238E27FC236}">
                <a16:creationId xmlns:a16="http://schemas.microsoft.com/office/drawing/2014/main" id="{E01BC57B-9ED4-D3B5-50A0-5FB59BEACD7D}"/>
              </a:ext>
            </a:extLst>
          </p:cNvPr>
          <p:cNvSpPr/>
          <p:nvPr/>
        </p:nvSpPr>
        <p:spPr>
          <a:xfrm>
            <a:off x="2131542" y="270744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5">
            <a:extLst>
              <a:ext uri="{FF2B5EF4-FFF2-40B4-BE49-F238E27FC236}">
                <a16:creationId xmlns:a16="http://schemas.microsoft.com/office/drawing/2014/main" id="{D75072EF-8CA6-E8C8-3C5A-4786448B018B}"/>
              </a:ext>
            </a:extLst>
          </p:cNvPr>
          <p:cNvSpPr/>
          <p:nvPr/>
        </p:nvSpPr>
        <p:spPr>
          <a:xfrm>
            <a:off x="2177262" y="273487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Nagy</a:t>
            </a:r>
            <a:endParaRPr lang="en-US" sz="1000" dirty="0"/>
          </a:p>
        </p:txBody>
      </p:sp>
      <p:sp>
        <p:nvSpPr>
          <p:cNvPr id="54" name="Shape 46">
            <a:extLst>
              <a:ext uri="{FF2B5EF4-FFF2-40B4-BE49-F238E27FC236}">
                <a16:creationId xmlns:a16="http://schemas.microsoft.com/office/drawing/2014/main" id="{F86EC53C-F0AC-8CDA-C851-472B4B0FE4B4}"/>
              </a:ext>
            </a:extLst>
          </p:cNvPr>
          <p:cNvSpPr/>
          <p:nvPr/>
        </p:nvSpPr>
        <p:spPr>
          <a:xfrm>
            <a:off x="3777462" y="270744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7">
            <a:extLst>
              <a:ext uri="{FF2B5EF4-FFF2-40B4-BE49-F238E27FC236}">
                <a16:creationId xmlns:a16="http://schemas.microsoft.com/office/drawing/2014/main" id="{C24344CE-FDDC-8E31-5A9E-252FE9A562FC}"/>
              </a:ext>
            </a:extLst>
          </p:cNvPr>
          <p:cNvSpPr/>
          <p:nvPr/>
        </p:nvSpPr>
        <p:spPr>
          <a:xfrm>
            <a:off x="3823182" y="273487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Bármilyen</a:t>
            </a:r>
            <a:endParaRPr lang="en-US" sz="1000" dirty="0"/>
          </a:p>
        </p:txBody>
      </p:sp>
      <p:sp>
        <p:nvSpPr>
          <p:cNvPr id="56" name="Shape 48">
            <a:extLst>
              <a:ext uri="{FF2B5EF4-FFF2-40B4-BE49-F238E27FC236}">
                <a16:creationId xmlns:a16="http://schemas.microsoft.com/office/drawing/2014/main" id="{16BCEB32-5FC1-3CCE-F009-872768201271}"/>
              </a:ext>
            </a:extLst>
          </p:cNvPr>
          <p:cNvSpPr/>
          <p:nvPr/>
        </p:nvSpPr>
        <p:spPr>
          <a:xfrm>
            <a:off x="5423382" y="270744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49">
            <a:extLst>
              <a:ext uri="{FF2B5EF4-FFF2-40B4-BE49-F238E27FC236}">
                <a16:creationId xmlns:a16="http://schemas.microsoft.com/office/drawing/2014/main" id="{8FB2509D-FFD7-A23F-C115-A67575D4F296}"/>
              </a:ext>
            </a:extLst>
          </p:cNvPr>
          <p:cNvSpPr/>
          <p:nvPr/>
        </p:nvSpPr>
        <p:spPr>
          <a:xfrm>
            <a:off x="5469102" y="273487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Közepes-nagy</a:t>
            </a:r>
            <a:endParaRPr lang="en-US" sz="1000" dirty="0"/>
          </a:p>
        </p:txBody>
      </p:sp>
      <p:sp>
        <p:nvSpPr>
          <p:cNvPr id="58" name="Shape 50">
            <a:extLst>
              <a:ext uri="{FF2B5EF4-FFF2-40B4-BE49-F238E27FC236}">
                <a16:creationId xmlns:a16="http://schemas.microsoft.com/office/drawing/2014/main" id="{3376C1A6-396D-667C-BCAD-F3CCF31A6584}"/>
              </a:ext>
            </a:extLst>
          </p:cNvPr>
          <p:cNvSpPr/>
          <p:nvPr/>
        </p:nvSpPr>
        <p:spPr>
          <a:xfrm>
            <a:off x="7069302" y="2707446"/>
            <a:ext cx="1737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1">
            <a:extLst>
              <a:ext uri="{FF2B5EF4-FFF2-40B4-BE49-F238E27FC236}">
                <a16:creationId xmlns:a16="http://schemas.microsoft.com/office/drawing/2014/main" id="{C52EA77D-8ED4-A0B5-BF63-2CA891EC6772}"/>
              </a:ext>
            </a:extLst>
          </p:cNvPr>
          <p:cNvSpPr/>
          <p:nvPr/>
        </p:nvSpPr>
        <p:spPr>
          <a:xfrm>
            <a:off x="7115022" y="273487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Bármilyen</a:t>
            </a:r>
            <a:endParaRPr lang="en-US" sz="1000" dirty="0"/>
          </a:p>
        </p:txBody>
      </p:sp>
      <p:sp>
        <p:nvSpPr>
          <p:cNvPr id="60" name="Shape 52">
            <a:extLst>
              <a:ext uri="{FF2B5EF4-FFF2-40B4-BE49-F238E27FC236}">
                <a16:creationId xmlns:a16="http://schemas.microsoft.com/office/drawing/2014/main" id="{0AA15299-4DB4-CA2E-34CC-38D98AC188C7}"/>
              </a:ext>
            </a:extLst>
          </p:cNvPr>
          <p:cNvSpPr/>
          <p:nvPr/>
        </p:nvSpPr>
        <p:spPr>
          <a:xfrm>
            <a:off x="302742" y="3237798"/>
            <a:ext cx="182880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3">
            <a:extLst>
              <a:ext uri="{FF2B5EF4-FFF2-40B4-BE49-F238E27FC236}">
                <a16:creationId xmlns:a16="http://schemas.microsoft.com/office/drawing/2014/main" id="{C47BA461-C119-EA44-47EB-766E3DC456B6}"/>
              </a:ext>
            </a:extLst>
          </p:cNvPr>
          <p:cNvSpPr/>
          <p:nvPr/>
        </p:nvSpPr>
        <p:spPr>
          <a:xfrm>
            <a:off x="348462" y="326523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Hotfix kezelés</a:t>
            </a:r>
            <a:endParaRPr lang="en-US" sz="1000" dirty="0"/>
          </a:p>
        </p:txBody>
      </p:sp>
      <p:sp>
        <p:nvSpPr>
          <p:cNvPr id="62" name="Shape 54">
            <a:extLst>
              <a:ext uri="{FF2B5EF4-FFF2-40B4-BE49-F238E27FC236}">
                <a16:creationId xmlns:a16="http://schemas.microsoft.com/office/drawing/2014/main" id="{E3CC79B7-9006-0CF3-BE81-B97694EF126D}"/>
              </a:ext>
            </a:extLst>
          </p:cNvPr>
          <p:cNvSpPr/>
          <p:nvPr/>
        </p:nvSpPr>
        <p:spPr>
          <a:xfrm>
            <a:off x="2131542" y="3237798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55">
            <a:extLst>
              <a:ext uri="{FF2B5EF4-FFF2-40B4-BE49-F238E27FC236}">
                <a16:creationId xmlns:a16="http://schemas.microsoft.com/office/drawing/2014/main" id="{48193766-8B23-FCF5-ECFE-5F3401B50D3F}"/>
              </a:ext>
            </a:extLst>
          </p:cNvPr>
          <p:cNvSpPr/>
          <p:nvPr/>
        </p:nvSpPr>
        <p:spPr>
          <a:xfrm>
            <a:off x="2177262" y="326523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Dedikált</a:t>
            </a:r>
            <a:endParaRPr lang="en-US" sz="1000" dirty="0"/>
          </a:p>
        </p:txBody>
      </p:sp>
      <p:sp>
        <p:nvSpPr>
          <p:cNvPr id="64" name="Shape 56">
            <a:extLst>
              <a:ext uri="{FF2B5EF4-FFF2-40B4-BE49-F238E27FC236}">
                <a16:creationId xmlns:a16="http://schemas.microsoft.com/office/drawing/2014/main" id="{9E1EBFB2-D7A1-E522-DFD7-1C34ED9E2C2D}"/>
              </a:ext>
            </a:extLst>
          </p:cNvPr>
          <p:cNvSpPr/>
          <p:nvPr/>
        </p:nvSpPr>
        <p:spPr>
          <a:xfrm>
            <a:off x="3777462" y="3237798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57">
            <a:extLst>
              <a:ext uri="{FF2B5EF4-FFF2-40B4-BE49-F238E27FC236}">
                <a16:creationId xmlns:a16="http://schemas.microsoft.com/office/drawing/2014/main" id="{A64A0520-FF89-E30E-8734-8D625F97F88D}"/>
              </a:ext>
            </a:extLst>
          </p:cNvPr>
          <p:cNvSpPr/>
          <p:nvPr/>
        </p:nvSpPr>
        <p:spPr>
          <a:xfrm>
            <a:off x="3823182" y="326523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PR-on át</a:t>
            </a:r>
            <a:endParaRPr lang="en-US" sz="1000" dirty="0"/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9ABE91DE-8F4B-9D21-5C8E-708535C7D3CF}"/>
              </a:ext>
            </a:extLst>
          </p:cNvPr>
          <p:cNvSpPr/>
          <p:nvPr/>
        </p:nvSpPr>
        <p:spPr>
          <a:xfrm>
            <a:off x="5423382" y="3237798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59">
            <a:extLst>
              <a:ext uri="{FF2B5EF4-FFF2-40B4-BE49-F238E27FC236}">
                <a16:creationId xmlns:a16="http://schemas.microsoft.com/office/drawing/2014/main" id="{B09F1CAD-15EE-84E0-68B8-7F3FFDB8FAFD}"/>
              </a:ext>
            </a:extLst>
          </p:cNvPr>
          <p:cNvSpPr/>
          <p:nvPr/>
        </p:nvSpPr>
        <p:spPr>
          <a:xfrm>
            <a:off x="5469102" y="326523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PR-on át</a:t>
            </a:r>
            <a:endParaRPr lang="en-US" sz="1000" dirty="0"/>
          </a:p>
        </p:txBody>
      </p:sp>
      <p:sp>
        <p:nvSpPr>
          <p:cNvPr id="68" name="Shape 60">
            <a:extLst>
              <a:ext uri="{FF2B5EF4-FFF2-40B4-BE49-F238E27FC236}">
                <a16:creationId xmlns:a16="http://schemas.microsoft.com/office/drawing/2014/main" id="{7326E3A2-1A66-7AD9-FF4A-EDA0CC6D1F08}"/>
              </a:ext>
            </a:extLst>
          </p:cNvPr>
          <p:cNvSpPr/>
          <p:nvPr/>
        </p:nvSpPr>
        <p:spPr>
          <a:xfrm>
            <a:off x="7069302" y="3237798"/>
            <a:ext cx="173736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1">
            <a:extLst>
              <a:ext uri="{FF2B5EF4-FFF2-40B4-BE49-F238E27FC236}">
                <a16:creationId xmlns:a16="http://schemas.microsoft.com/office/drawing/2014/main" id="{0A1204D0-6167-36D0-FA4A-8948333AA9AF}"/>
              </a:ext>
            </a:extLst>
          </p:cNvPr>
          <p:cNvSpPr/>
          <p:nvPr/>
        </p:nvSpPr>
        <p:spPr>
          <a:xfrm>
            <a:off x="7115022" y="326523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</a:t>
            </a:r>
            <a:endParaRPr lang="en-US" sz="1000" dirty="0"/>
          </a:p>
        </p:txBody>
      </p:sp>
      <p:sp>
        <p:nvSpPr>
          <p:cNvPr id="70" name="Shape 62">
            <a:extLst>
              <a:ext uri="{FF2B5EF4-FFF2-40B4-BE49-F238E27FC236}">
                <a16:creationId xmlns:a16="http://schemas.microsoft.com/office/drawing/2014/main" id="{E018CAB9-0CEE-53CE-911A-6CDD2FA1D4C2}"/>
              </a:ext>
            </a:extLst>
          </p:cNvPr>
          <p:cNvSpPr/>
          <p:nvPr/>
        </p:nvSpPr>
        <p:spPr>
          <a:xfrm>
            <a:off x="302742" y="3768150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3">
            <a:extLst>
              <a:ext uri="{FF2B5EF4-FFF2-40B4-BE49-F238E27FC236}">
                <a16:creationId xmlns:a16="http://schemas.microsoft.com/office/drawing/2014/main" id="{5145FC87-69D9-F23B-C1BF-D05B8296209C}"/>
              </a:ext>
            </a:extLst>
          </p:cNvPr>
          <p:cNvSpPr/>
          <p:nvPr/>
        </p:nvSpPr>
        <p:spPr>
          <a:xfrm>
            <a:off x="348462" y="379558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Tanulási görbe</a:t>
            </a:r>
            <a:endParaRPr lang="en-US" sz="1000" dirty="0"/>
          </a:p>
        </p:txBody>
      </p:sp>
      <p:sp>
        <p:nvSpPr>
          <p:cNvPr id="72" name="Shape 64">
            <a:extLst>
              <a:ext uri="{FF2B5EF4-FFF2-40B4-BE49-F238E27FC236}">
                <a16:creationId xmlns:a16="http://schemas.microsoft.com/office/drawing/2014/main" id="{8D599550-B6B8-BA60-DEC2-08AE5D830043}"/>
              </a:ext>
            </a:extLst>
          </p:cNvPr>
          <p:cNvSpPr/>
          <p:nvPr/>
        </p:nvSpPr>
        <p:spPr>
          <a:xfrm>
            <a:off x="2131542" y="3768150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65">
            <a:extLst>
              <a:ext uri="{FF2B5EF4-FFF2-40B4-BE49-F238E27FC236}">
                <a16:creationId xmlns:a16="http://schemas.microsoft.com/office/drawing/2014/main" id="{28D27297-E1DA-5048-6D1D-58860204C347}"/>
              </a:ext>
            </a:extLst>
          </p:cNvPr>
          <p:cNvSpPr/>
          <p:nvPr/>
        </p:nvSpPr>
        <p:spPr>
          <a:xfrm>
            <a:off x="2177262" y="379558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Meredek</a:t>
            </a:r>
            <a:endParaRPr lang="en-US" sz="1000" dirty="0"/>
          </a:p>
        </p:txBody>
      </p:sp>
      <p:sp>
        <p:nvSpPr>
          <p:cNvPr id="74" name="Shape 66">
            <a:extLst>
              <a:ext uri="{FF2B5EF4-FFF2-40B4-BE49-F238E27FC236}">
                <a16:creationId xmlns:a16="http://schemas.microsoft.com/office/drawing/2014/main" id="{114FD7B3-41D6-281B-637C-720080F2CB76}"/>
              </a:ext>
            </a:extLst>
          </p:cNvPr>
          <p:cNvSpPr/>
          <p:nvPr/>
        </p:nvSpPr>
        <p:spPr>
          <a:xfrm>
            <a:off x="3777462" y="3768150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67">
            <a:extLst>
              <a:ext uri="{FF2B5EF4-FFF2-40B4-BE49-F238E27FC236}">
                <a16:creationId xmlns:a16="http://schemas.microsoft.com/office/drawing/2014/main" id="{E231B52E-AFEF-AC6C-14A5-84661A94C54A}"/>
              </a:ext>
            </a:extLst>
          </p:cNvPr>
          <p:cNvSpPr/>
          <p:nvPr/>
        </p:nvSpPr>
        <p:spPr>
          <a:xfrm>
            <a:off x="3823182" y="379558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Enyhe</a:t>
            </a:r>
            <a:endParaRPr lang="en-US" sz="1000" dirty="0"/>
          </a:p>
        </p:txBody>
      </p:sp>
      <p:sp>
        <p:nvSpPr>
          <p:cNvPr id="76" name="Shape 68">
            <a:extLst>
              <a:ext uri="{FF2B5EF4-FFF2-40B4-BE49-F238E27FC236}">
                <a16:creationId xmlns:a16="http://schemas.microsoft.com/office/drawing/2014/main" id="{A6382638-7647-BECD-DB11-7F733300E407}"/>
              </a:ext>
            </a:extLst>
          </p:cNvPr>
          <p:cNvSpPr/>
          <p:nvPr/>
        </p:nvSpPr>
        <p:spPr>
          <a:xfrm>
            <a:off x="5423382" y="3768150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69">
            <a:extLst>
              <a:ext uri="{FF2B5EF4-FFF2-40B4-BE49-F238E27FC236}">
                <a16:creationId xmlns:a16="http://schemas.microsoft.com/office/drawing/2014/main" id="{0805821E-8B0E-7F25-ACC9-B86FC544C2FA}"/>
              </a:ext>
            </a:extLst>
          </p:cNvPr>
          <p:cNvSpPr/>
          <p:nvPr/>
        </p:nvSpPr>
        <p:spPr>
          <a:xfrm>
            <a:off x="5469102" y="379558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Közepes</a:t>
            </a:r>
            <a:endParaRPr lang="en-US" sz="1000" dirty="0"/>
          </a:p>
        </p:txBody>
      </p:sp>
      <p:sp>
        <p:nvSpPr>
          <p:cNvPr id="78" name="Shape 70">
            <a:extLst>
              <a:ext uri="{FF2B5EF4-FFF2-40B4-BE49-F238E27FC236}">
                <a16:creationId xmlns:a16="http://schemas.microsoft.com/office/drawing/2014/main" id="{71506755-88A5-417B-3161-65CEB6A393AD}"/>
              </a:ext>
            </a:extLst>
          </p:cNvPr>
          <p:cNvSpPr/>
          <p:nvPr/>
        </p:nvSpPr>
        <p:spPr>
          <a:xfrm>
            <a:off x="7069302" y="3768150"/>
            <a:ext cx="1737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1">
            <a:extLst>
              <a:ext uri="{FF2B5EF4-FFF2-40B4-BE49-F238E27FC236}">
                <a16:creationId xmlns:a16="http://schemas.microsoft.com/office/drawing/2014/main" id="{5CD791A3-06D6-3F7A-97D1-AA09D5B5A55A}"/>
              </a:ext>
            </a:extLst>
          </p:cNvPr>
          <p:cNvSpPr/>
          <p:nvPr/>
        </p:nvSpPr>
        <p:spPr>
          <a:xfrm>
            <a:off x="7115022" y="379558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Közepes</a:t>
            </a:r>
            <a:endParaRPr lang="en-US" sz="1000" dirty="0"/>
          </a:p>
        </p:txBody>
      </p:sp>
      <p:sp>
        <p:nvSpPr>
          <p:cNvPr id="80" name="Shape 72">
            <a:extLst>
              <a:ext uri="{FF2B5EF4-FFF2-40B4-BE49-F238E27FC236}">
                <a16:creationId xmlns:a16="http://schemas.microsoft.com/office/drawing/2014/main" id="{489D8947-35E9-1DCD-B395-4305BB8080E0}"/>
              </a:ext>
            </a:extLst>
          </p:cNvPr>
          <p:cNvSpPr/>
          <p:nvPr/>
        </p:nvSpPr>
        <p:spPr>
          <a:xfrm>
            <a:off x="302742" y="4298502"/>
            <a:ext cx="182880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3">
            <a:extLst>
              <a:ext uri="{FF2B5EF4-FFF2-40B4-BE49-F238E27FC236}">
                <a16:creationId xmlns:a16="http://schemas.microsoft.com/office/drawing/2014/main" id="{D02F2B28-8917-1C09-FEAD-7916AAE7CC2C}"/>
              </a:ext>
            </a:extLst>
          </p:cNvPr>
          <p:cNvSpPr/>
          <p:nvPr/>
        </p:nvSpPr>
        <p:spPr>
          <a:xfrm>
            <a:off x="348462" y="432593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Legjobb:</a:t>
            </a:r>
            <a:endParaRPr lang="en-US" sz="1000" dirty="0"/>
          </a:p>
        </p:txBody>
      </p:sp>
      <p:sp>
        <p:nvSpPr>
          <p:cNvPr id="82" name="Shape 74">
            <a:extLst>
              <a:ext uri="{FF2B5EF4-FFF2-40B4-BE49-F238E27FC236}">
                <a16:creationId xmlns:a16="http://schemas.microsoft.com/office/drawing/2014/main" id="{A2385C73-088B-022B-2C1E-D531ED80975C}"/>
              </a:ext>
            </a:extLst>
          </p:cNvPr>
          <p:cNvSpPr/>
          <p:nvPr/>
        </p:nvSpPr>
        <p:spPr>
          <a:xfrm>
            <a:off x="2131542" y="4298502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75">
            <a:extLst>
              <a:ext uri="{FF2B5EF4-FFF2-40B4-BE49-F238E27FC236}">
                <a16:creationId xmlns:a16="http://schemas.microsoft.com/office/drawing/2014/main" id="{43BDF0C8-2F12-C476-74BB-724C93B4F747}"/>
              </a:ext>
            </a:extLst>
          </p:cNvPr>
          <p:cNvSpPr/>
          <p:nvPr/>
        </p:nvSpPr>
        <p:spPr>
          <a:xfrm>
            <a:off x="2177262" y="432593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Enterprise, v. release</a:t>
            </a:r>
            <a:endParaRPr lang="en-US" sz="1000" dirty="0"/>
          </a:p>
        </p:txBody>
      </p:sp>
      <p:sp>
        <p:nvSpPr>
          <p:cNvPr id="84" name="Shape 76">
            <a:extLst>
              <a:ext uri="{FF2B5EF4-FFF2-40B4-BE49-F238E27FC236}">
                <a16:creationId xmlns:a16="http://schemas.microsoft.com/office/drawing/2014/main" id="{8FA550A6-F056-2AAC-138C-ADF8268C44C8}"/>
              </a:ext>
            </a:extLst>
          </p:cNvPr>
          <p:cNvSpPr/>
          <p:nvPr/>
        </p:nvSpPr>
        <p:spPr>
          <a:xfrm>
            <a:off x="3777462" y="4298502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77">
            <a:extLst>
              <a:ext uri="{FF2B5EF4-FFF2-40B4-BE49-F238E27FC236}">
                <a16:creationId xmlns:a16="http://schemas.microsoft.com/office/drawing/2014/main" id="{AB4F6A88-0E97-090E-4B8D-F78A262C69A0}"/>
              </a:ext>
            </a:extLst>
          </p:cNvPr>
          <p:cNvSpPr/>
          <p:nvPr/>
        </p:nvSpPr>
        <p:spPr>
          <a:xfrm>
            <a:off x="3823182" y="432593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Startup, SaaS</a:t>
            </a:r>
            <a:endParaRPr lang="en-US" sz="1000" dirty="0"/>
          </a:p>
        </p:txBody>
      </p:sp>
      <p:sp>
        <p:nvSpPr>
          <p:cNvPr id="86" name="Shape 78">
            <a:extLst>
              <a:ext uri="{FF2B5EF4-FFF2-40B4-BE49-F238E27FC236}">
                <a16:creationId xmlns:a16="http://schemas.microsoft.com/office/drawing/2014/main" id="{57146A72-F8AA-69BC-C4B2-F06990B4513B}"/>
              </a:ext>
            </a:extLst>
          </p:cNvPr>
          <p:cNvSpPr/>
          <p:nvPr/>
        </p:nvSpPr>
        <p:spPr>
          <a:xfrm>
            <a:off x="5423382" y="4298502"/>
            <a:ext cx="164592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79">
            <a:extLst>
              <a:ext uri="{FF2B5EF4-FFF2-40B4-BE49-F238E27FC236}">
                <a16:creationId xmlns:a16="http://schemas.microsoft.com/office/drawing/2014/main" id="{F5D970C3-F610-259E-EE7B-6F3068966A5C}"/>
              </a:ext>
            </a:extLst>
          </p:cNvPr>
          <p:cNvSpPr/>
          <p:nvPr/>
        </p:nvSpPr>
        <p:spPr>
          <a:xfrm>
            <a:off x="5469102" y="432593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 env.</a:t>
            </a:r>
            <a:endParaRPr lang="en-US" sz="1000" dirty="0"/>
          </a:p>
        </p:txBody>
      </p:sp>
      <p:sp>
        <p:nvSpPr>
          <p:cNvPr id="88" name="Shape 80">
            <a:extLst>
              <a:ext uri="{FF2B5EF4-FFF2-40B4-BE49-F238E27FC236}">
                <a16:creationId xmlns:a16="http://schemas.microsoft.com/office/drawing/2014/main" id="{CD16F3A6-B254-D80B-72C8-C3188D16EE1D}"/>
              </a:ext>
            </a:extLst>
          </p:cNvPr>
          <p:cNvSpPr/>
          <p:nvPr/>
        </p:nvSpPr>
        <p:spPr>
          <a:xfrm>
            <a:off x="7069302" y="4298502"/>
            <a:ext cx="1737360" cy="47548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1">
            <a:extLst>
              <a:ext uri="{FF2B5EF4-FFF2-40B4-BE49-F238E27FC236}">
                <a16:creationId xmlns:a16="http://schemas.microsoft.com/office/drawing/2014/main" id="{1C8FECA1-3B1F-DE32-10E8-0BDD176A6FA2}"/>
              </a:ext>
            </a:extLst>
          </p:cNvPr>
          <p:cNvSpPr/>
          <p:nvPr/>
        </p:nvSpPr>
        <p:spPr>
          <a:xfrm>
            <a:off x="7115022" y="432593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Tech, DevOps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832549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 err="1">
                <a:solidFill>
                  <a:srgbClr val="444444"/>
                </a:solidFill>
              </a:rPr>
              <a:t>Commitoljunk</a:t>
            </a:r>
            <a:r>
              <a:rPr lang="en-US" sz="1800" b="1" dirty="0">
                <a:solidFill>
                  <a:srgbClr val="444444"/>
                </a:solidFill>
              </a:rPr>
              <a:t> </a:t>
            </a:r>
            <a:r>
              <a:rPr lang="en-US" sz="1800" b="1" dirty="0" err="1">
                <a:solidFill>
                  <a:srgbClr val="444444"/>
                </a:solidFill>
              </a:rPr>
              <a:t>gyakran</a:t>
            </a:r>
            <a:r>
              <a:rPr lang="en-US" sz="1800" b="1" dirty="0">
                <a:solidFill>
                  <a:srgbClr val="444444"/>
                </a:solidFill>
              </a:rPr>
              <a:t>: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kisebb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egységeket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könnyebb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javítani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  <a:endParaRPr lang="en-US" sz="1800" b="1" dirty="0">
              <a:solidFill>
                <a:srgbClr val="444444"/>
              </a:solidFill>
            </a:endParaRP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>
                <a:solidFill>
                  <a:srgbClr val="444444"/>
                </a:solidFill>
              </a:rPr>
              <a:t>Atomic commits: </a:t>
            </a:r>
            <a:r>
              <a:rPr lang="en-US" sz="1800" dirty="0" err="1">
                <a:solidFill>
                  <a:srgbClr val="444444"/>
                </a:solidFill>
              </a:rPr>
              <a:t>egy</a:t>
            </a:r>
            <a:r>
              <a:rPr lang="en-US" sz="1800" dirty="0">
                <a:solidFill>
                  <a:srgbClr val="444444"/>
                </a:solidFill>
              </a:rPr>
              <a:t> commit = </a:t>
            </a:r>
            <a:r>
              <a:rPr lang="en-US" sz="1800" dirty="0" err="1">
                <a:solidFill>
                  <a:srgbClr val="444444"/>
                </a:solidFill>
              </a:rPr>
              <a:t>egy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logikai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változás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>
                <a:solidFill>
                  <a:srgbClr val="444444"/>
                </a:solidFill>
              </a:rPr>
              <a:t>Ne </a:t>
            </a:r>
            <a:r>
              <a:rPr lang="en-US" sz="1800" b="1" dirty="0" err="1">
                <a:solidFill>
                  <a:srgbClr val="444444"/>
                </a:solidFill>
              </a:rPr>
              <a:t>commitoljunk</a:t>
            </a:r>
            <a:r>
              <a:rPr lang="en-US" sz="1800" b="1" dirty="0">
                <a:solidFill>
                  <a:srgbClr val="444444"/>
                </a:solidFill>
              </a:rPr>
              <a:t> </a:t>
            </a:r>
            <a:r>
              <a:rPr lang="en-US" sz="1800" b="1" dirty="0" err="1">
                <a:solidFill>
                  <a:srgbClr val="444444"/>
                </a:solidFill>
              </a:rPr>
              <a:t>binárisokat</a:t>
            </a:r>
            <a:r>
              <a:rPr lang="en-US" sz="1800" b="1" dirty="0">
                <a:solidFill>
                  <a:srgbClr val="444444"/>
                </a:solidFill>
              </a:rPr>
              <a:t>: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használjuk</a:t>
            </a:r>
            <a:r>
              <a:rPr lang="en-US" sz="1800" dirty="0">
                <a:solidFill>
                  <a:srgbClr val="444444"/>
                </a:solidFill>
              </a:rPr>
              <a:t> a .</a:t>
            </a:r>
            <a:r>
              <a:rPr lang="en-US" sz="1800" dirty="0" err="1">
                <a:solidFill>
                  <a:srgbClr val="444444"/>
                </a:solidFill>
              </a:rPr>
              <a:t>gitignore</a:t>
            </a:r>
            <a:r>
              <a:rPr lang="en-US" sz="1800" dirty="0">
                <a:solidFill>
                  <a:srgbClr val="444444"/>
                </a:solidFill>
              </a:rPr>
              <a:t>-t (</a:t>
            </a:r>
            <a:r>
              <a:rPr lang="en-US" sz="1800" dirty="0" err="1">
                <a:solidFill>
                  <a:srgbClr val="444444"/>
                </a:solidFill>
              </a:rPr>
              <a:t>node_modules</a:t>
            </a:r>
            <a:r>
              <a:rPr lang="en-US" sz="1800" dirty="0">
                <a:solidFill>
                  <a:srgbClr val="444444"/>
                </a:solidFill>
              </a:rPr>
              <a:t>, </a:t>
            </a:r>
            <a:r>
              <a:rPr lang="en-US" sz="1800" dirty="0" err="1">
                <a:solidFill>
                  <a:srgbClr val="444444"/>
                </a:solidFill>
              </a:rPr>
              <a:t>fordított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fájlok</a:t>
            </a:r>
            <a:r>
              <a:rPr lang="en-US" sz="1800" dirty="0">
                <a:solidFill>
                  <a:srgbClr val="444444"/>
                </a:solidFill>
              </a:rPr>
              <a:t> [.exe, .class]) </a:t>
            </a:r>
            <a:r>
              <a:rPr lang="en-US" sz="1800" dirty="0" err="1">
                <a:solidFill>
                  <a:srgbClr val="444444"/>
                </a:solidFill>
              </a:rPr>
              <a:t>mellőzése</a:t>
            </a:r>
            <a:r>
              <a:rPr lang="en-US" sz="1800" dirty="0">
                <a:solidFill>
                  <a:srgbClr val="444444"/>
                </a:solidFill>
              </a:rPr>
              <a:t> </a:t>
            </a:r>
            <a:r>
              <a:rPr lang="en-US" sz="1800" dirty="0" err="1">
                <a:solidFill>
                  <a:srgbClr val="444444"/>
                </a:solidFill>
              </a:rPr>
              <a:t>érdekében</a:t>
            </a:r>
            <a:r>
              <a:rPr lang="en-US" sz="1800" dirty="0">
                <a:solidFill>
                  <a:srgbClr val="444444"/>
                </a:solidFill>
              </a:rPr>
              <a:t>.</a:t>
            </a:r>
            <a:endParaRPr lang="en-US" sz="1800" b="1" dirty="0">
              <a:solidFill>
                <a:srgbClr val="444444"/>
              </a:solidFill>
            </a:endParaRPr>
          </a:p>
          <a:p>
            <a:pPr>
              <a:lnSpc>
                <a:spcPct val="130000"/>
              </a:lnSpc>
              <a:buClr>
                <a:srgbClr val="2FC2D9"/>
              </a:buClr>
            </a:pPr>
            <a:r>
              <a:rPr lang="en-US" sz="1800" b="1" dirty="0">
                <a:solidFill>
                  <a:srgbClr val="444444"/>
                </a:solidFill>
              </a:rPr>
              <a:t>Soha ne </a:t>
            </a:r>
            <a:r>
              <a:rPr lang="en-US" sz="1800" b="1" dirty="0" err="1">
                <a:solidFill>
                  <a:srgbClr val="444444"/>
                </a:solidFill>
              </a:rPr>
              <a:t>pusholjunk</a:t>
            </a:r>
            <a:r>
              <a:rPr lang="en-US" sz="1800" b="1" dirty="0">
                <a:solidFill>
                  <a:srgbClr val="444444"/>
                </a:solidFill>
              </a:rPr>
              <a:t> </a:t>
            </a:r>
            <a:r>
              <a:rPr lang="en-US" sz="1800" b="1" dirty="0" err="1">
                <a:solidFill>
                  <a:srgbClr val="444444"/>
                </a:solidFill>
              </a:rPr>
              <a:t>jelszót</a:t>
            </a:r>
            <a:r>
              <a:rPr lang="en-US" sz="1800" b="1" dirty="0">
                <a:solidFill>
                  <a:srgbClr val="444444"/>
                </a:solidFill>
              </a:rPr>
              <a:t>/API </a:t>
            </a:r>
            <a:r>
              <a:rPr lang="en-US" sz="1800" b="1" dirty="0" err="1">
                <a:solidFill>
                  <a:srgbClr val="444444"/>
                </a:solidFill>
              </a:rPr>
              <a:t>kulcsot</a:t>
            </a:r>
            <a:r>
              <a:rPr lang="en-US" sz="1800" b="1" dirty="0">
                <a:solidFill>
                  <a:srgbClr val="444444"/>
                </a:solidFill>
              </a:rPr>
              <a:t>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rgbClr val="444444"/>
                </a:solidFill>
                <a:latin typeface="+mn-lt"/>
              </a:rPr>
              <a:t>Best practices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39226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Best practices </a:t>
            </a: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88C006AD-2503-076D-31F1-78332FBAC483}"/>
              </a:ext>
            </a:extLst>
          </p:cNvPr>
          <p:cNvSpPr/>
          <p:nvPr/>
        </p:nvSpPr>
        <p:spPr>
          <a:xfrm>
            <a:off x="266082" y="763482"/>
            <a:ext cx="4114800" cy="394856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763E4D43-9C0E-4673-CB7A-1734C7A47538}"/>
              </a:ext>
            </a:extLst>
          </p:cNvPr>
          <p:cNvSpPr/>
          <p:nvPr/>
        </p:nvSpPr>
        <p:spPr>
          <a:xfrm>
            <a:off x="266082" y="763482"/>
            <a:ext cx="4114800" cy="4114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42F6CBC0-37D6-553D-EFDA-1432B009C81E}"/>
              </a:ext>
            </a:extLst>
          </p:cNvPr>
          <p:cNvSpPr/>
          <p:nvPr/>
        </p:nvSpPr>
        <p:spPr>
          <a:xfrm>
            <a:off x="357522" y="781770"/>
            <a:ext cx="39319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9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.gitignore</a:t>
            </a:r>
            <a:endParaRPr lang="en-US" sz="160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A86D8419-831E-9E54-CD19-8942C0EEAFE1}"/>
              </a:ext>
            </a:extLst>
          </p:cNvPr>
          <p:cNvSpPr/>
          <p:nvPr/>
        </p:nvSpPr>
        <p:spPr>
          <a:xfrm>
            <a:off x="403242" y="125725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Mely fájlokat NE kövesse a Git?</a:t>
            </a:r>
            <a:endParaRPr lang="en-US" sz="110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14558204-5BFD-4D21-8350-F3A9AA9BB6F7}"/>
              </a:ext>
            </a:extLst>
          </p:cNvPr>
          <p:cNvSpPr/>
          <p:nvPr/>
        </p:nvSpPr>
        <p:spPr>
          <a:xfrm>
            <a:off x="357522" y="1586442"/>
            <a:ext cx="3840480" cy="2286000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527EEB93-BBB4-78BB-EBDE-D8BBD2C3910F}"/>
              </a:ext>
            </a:extLst>
          </p:cNvPr>
          <p:cNvSpPr/>
          <p:nvPr/>
        </p:nvSpPr>
        <p:spPr>
          <a:xfrm>
            <a:off x="467250" y="162301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Build outputok</a:t>
            </a:r>
            <a:endParaRPr lang="en-US" sz="95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19ECC46A-2462-2BF5-5592-DEC6F8506324}"/>
              </a:ext>
            </a:extLst>
          </p:cNvPr>
          <p:cNvSpPr/>
          <p:nvPr/>
        </p:nvSpPr>
        <p:spPr>
          <a:xfrm>
            <a:off x="467250" y="175560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build/</a:t>
            </a:r>
            <a:endParaRPr lang="en-US" sz="95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86E1A393-5AFA-BC12-D248-BB44BE9C3536}"/>
              </a:ext>
            </a:extLst>
          </p:cNvPr>
          <p:cNvSpPr/>
          <p:nvPr/>
        </p:nvSpPr>
        <p:spPr>
          <a:xfrm>
            <a:off x="467250" y="188819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dist/</a:t>
            </a:r>
            <a:endParaRPr lang="en-US" sz="95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A85E423C-78E8-75B6-7C46-DBEFCA026E67}"/>
              </a:ext>
            </a:extLst>
          </p:cNvPr>
          <p:cNvSpPr/>
          <p:nvPr/>
        </p:nvSpPr>
        <p:spPr>
          <a:xfrm>
            <a:off x="467250" y="202078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*.class</a:t>
            </a:r>
            <a:endParaRPr lang="en-US" sz="95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4DECE482-9A49-EACF-386F-80FE00FA38F9}"/>
              </a:ext>
            </a:extLst>
          </p:cNvPr>
          <p:cNvSpPr/>
          <p:nvPr/>
        </p:nvSpPr>
        <p:spPr>
          <a:xfrm>
            <a:off x="467250" y="228595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IDE fájlok</a:t>
            </a:r>
            <a:endParaRPr lang="en-US" sz="95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F245CD5-DF06-5868-7A48-31E45BAD8AA6}"/>
              </a:ext>
            </a:extLst>
          </p:cNvPr>
          <p:cNvSpPr/>
          <p:nvPr/>
        </p:nvSpPr>
        <p:spPr>
          <a:xfrm>
            <a:off x="467250" y="241854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.idea/</a:t>
            </a:r>
            <a:endParaRPr lang="en-US" sz="950" dirty="0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03E2E613-4071-0DAB-76E0-490904671B06}"/>
              </a:ext>
            </a:extLst>
          </p:cNvPr>
          <p:cNvSpPr/>
          <p:nvPr/>
        </p:nvSpPr>
        <p:spPr>
          <a:xfrm>
            <a:off x="467250" y="255113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</a:t>
            </a:r>
            <a:endParaRPr lang="en-US" sz="95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55D706A0-3879-ACD1-1218-F961229C7B2E}"/>
              </a:ext>
            </a:extLst>
          </p:cNvPr>
          <p:cNvSpPr/>
          <p:nvPr/>
        </p:nvSpPr>
        <p:spPr>
          <a:xfrm>
            <a:off x="467250" y="281631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Secrets!</a:t>
            </a:r>
            <a:endParaRPr lang="en-US" sz="95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E3C4B5BF-C160-9628-34F5-D86176E355E4}"/>
              </a:ext>
            </a:extLst>
          </p:cNvPr>
          <p:cNvSpPr/>
          <p:nvPr/>
        </p:nvSpPr>
        <p:spPr>
          <a:xfrm>
            <a:off x="467250" y="294889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95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5478B2F4-41D1-4024-C9AE-F3D82CA68DE0}"/>
              </a:ext>
            </a:extLst>
          </p:cNvPr>
          <p:cNvSpPr/>
          <p:nvPr/>
        </p:nvSpPr>
        <p:spPr>
          <a:xfrm>
            <a:off x="467250" y="308148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*.pem</a:t>
            </a:r>
            <a:endParaRPr lang="en-US" sz="95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33A8E33C-401D-B34C-7112-9FA6361D6342}"/>
              </a:ext>
            </a:extLst>
          </p:cNvPr>
          <p:cNvSpPr/>
          <p:nvPr/>
        </p:nvSpPr>
        <p:spPr>
          <a:xfrm>
            <a:off x="467250" y="334666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OS fájlok</a:t>
            </a:r>
            <a:endParaRPr lang="en-US" sz="950" dirty="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D9835BE6-821F-2285-810F-E5D39587C8EF}"/>
              </a:ext>
            </a:extLst>
          </p:cNvPr>
          <p:cNvSpPr/>
          <p:nvPr/>
        </p:nvSpPr>
        <p:spPr>
          <a:xfrm>
            <a:off x="467250" y="347925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.DS_Store</a:t>
            </a:r>
            <a:endParaRPr lang="en-US" sz="950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B8C7AD6C-519F-08BF-6E24-A6A3255352F1}"/>
              </a:ext>
            </a:extLst>
          </p:cNvPr>
          <p:cNvSpPr/>
          <p:nvPr/>
        </p:nvSpPr>
        <p:spPr>
          <a:xfrm>
            <a:off x="467250" y="361183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Thumbs.db</a:t>
            </a:r>
            <a:endParaRPr lang="en-US" sz="95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73FD8118-1331-6E19-D86F-B97AE2FE2B8D}"/>
              </a:ext>
            </a:extLst>
          </p:cNvPr>
          <p:cNvSpPr/>
          <p:nvPr/>
        </p:nvSpPr>
        <p:spPr>
          <a:xfrm>
            <a:off x="357522" y="407978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Soha ne commitolj API kulcsokat, jelszavakat, .env fájlokat!</a:t>
            </a:r>
            <a:endParaRPr lang="en-US" sz="1000" dirty="0"/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4E0300B2-0C6E-B7E2-9B0A-FE632EE8F1C4}"/>
              </a:ext>
            </a:extLst>
          </p:cNvPr>
          <p:cNvSpPr/>
          <p:nvPr/>
        </p:nvSpPr>
        <p:spPr>
          <a:xfrm>
            <a:off x="4746642" y="763482"/>
            <a:ext cx="4114800" cy="394856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28DD2284-C208-57B5-FABB-1B45AA101357}"/>
              </a:ext>
            </a:extLst>
          </p:cNvPr>
          <p:cNvSpPr/>
          <p:nvPr/>
        </p:nvSpPr>
        <p:spPr>
          <a:xfrm>
            <a:off x="4746642" y="763482"/>
            <a:ext cx="4114800" cy="4114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4A429293-8084-0F5E-6D71-CF2051A07683}"/>
              </a:ext>
            </a:extLst>
          </p:cNvPr>
          <p:cNvSpPr/>
          <p:nvPr/>
        </p:nvSpPr>
        <p:spPr>
          <a:xfrm>
            <a:off x="4838082" y="781770"/>
            <a:ext cx="39319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Jó commit üzenetek</a:t>
            </a:r>
            <a:endParaRPr lang="en-US" sz="1400" dirty="0"/>
          </a:p>
        </p:txBody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C6F27FB5-76FA-C6EA-36A4-7462E5C61748}"/>
              </a:ext>
            </a:extLst>
          </p:cNvPr>
          <p:cNvSpPr/>
          <p:nvPr/>
        </p:nvSpPr>
        <p:spPr>
          <a:xfrm>
            <a:off x="4883802" y="125725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Commits szabvány:</a:t>
            </a:r>
            <a:endParaRPr lang="en-US" sz="1100" dirty="0"/>
          </a:p>
        </p:txBody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74B71854-1B61-6FB6-4E1D-6256DCB6DBCE}"/>
              </a:ext>
            </a:extLst>
          </p:cNvPr>
          <p:cNvSpPr/>
          <p:nvPr/>
        </p:nvSpPr>
        <p:spPr>
          <a:xfrm>
            <a:off x="4838082" y="1586442"/>
            <a:ext cx="3840480" cy="29260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78938BA0-F557-B372-DF45-C4C465DDF175}"/>
              </a:ext>
            </a:extLst>
          </p:cNvPr>
          <p:cNvSpPr/>
          <p:nvPr/>
        </p:nvSpPr>
        <p:spPr>
          <a:xfrm>
            <a:off x="4911234" y="160473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feat:</a:t>
            </a:r>
            <a:endParaRPr lang="en-US" sz="1000" dirty="0"/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F4284DD3-E33F-7920-5E8C-16F84CAA95D3}"/>
              </a:ext>
            </a:extLst>
          </p:cNvPr>
          <p:cNvSpPr/>
          <p:nvPr/>
        </p:nvSpPr>
        <p:spPr>
          <a:xfrm>
            <a:off x="5862210" y="160473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Új funkció hozzáadása</a:t>
            </a:r>
            <a:endParaRPr lang="en-US" sz="1000" dirty="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85DAF487-F13D-3271-B125-70C9DCD91F32}"/>
              </a:ext>
            </a:extLst>
          </p:cNvPr>
          <p:cNvSpPr/>
          <p:nvPr/>
        </p:nvSpPr>
        <p:spPr>
          <a:xfrm>
            <a:off x="4838082" y="1933914"/>
            <a:ext cx="38404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FDF9D19B-1161-CE62-ADDD-CA8D9868E2E0}"/>
              </a:ext>
            </a:extLst>
          </p:cNvPr>
          <p:cNvSpPr/>
          <p:nvPr/>
        </p:nvSpPr>
        <p:spPr>
          <a:xfrm>
            <a:off x="4911234" y="195220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</a:t>
            </a:r>
            <a:endParaRPr lang="en-US" sz="1000" dirty="0"/>
          </a:p>
        </p:txBody>
      </p:sp>
      <p:sp>
        <p:nvSpPr>
          <p:cNvPr id="36" name="Text 31">
            <a:extLst>
              <a:ext uri="{FF2B5EF4-FFF2-40B4-BE49-F238E27FC236}">
                <a16:creationId xmlns:a16="http://schemas.microsoft.com/office/drawing/2014/main" id="{638B73BF-5E8B-E858-29E1-B6F9FF459A9B}"/>
              </a:ext>
            </a:extLst>
          </p:cNvPr>
          <p:cNvSpPr/>
          <p:nvPr/>
        </p:nvSpPr>
        <p:spPr>
          <a:xfrm>
            <a:off x="5862210" y="195220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Hibajavítás</a:t>
            </a:r>
            <a:endParaRPr lang="en-US" sz="1000" dirty="0"/>
          </a:p>
        </p:txBody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E4D19BB6-77A7-1FC9-CBD1-334360CC6BE5}"/>
              </a:ext>
            </a:extLst>
          </p:cNvPr>
          <p:cNvSpPr/>
          <p:nvPr/>
        </p:nvSpPr>
        <p:spPr>
          <a:xfrm>
            <a:off x="4838082" y="2281386"/>
            <a:ext cx="3840480" cy="29260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6409664F-EEBF-EA21-3BF8-50F7768C3716}"/>
              </a:ext>
            </a:extLst>
          </p:cNvPr>
          <p:cNvSpPr/>
          <p:nvPr/>
        </p:nvSpPr>
        <p:spPr>
          <a:xfrm>
            <a:off x="4911234" y="229967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docs:</a:t>
            </a:r>
            <a:endParaRPr lang="en-US" sz="1000" dirty="0"/>
          </a:p>
        </p:txBody>
      </p:sp>
      <p:sp>
        <p:nvSpPr>
          <p:cNvPr id="39" name="Text 34">
            <a:extLst>
              <a:ext uri="{FF2B5EF4-FFF2-40B4-BE49-F238E27FC236}">
                <a16:creationId xmlns:a16="http://schemas.microsoft.com/office/drawing/2014/main" id="{CEABB418-825D-323C-9D6E-BA51169F2F58}"/>
              </a:ext>
            </a:extLst>
          </p:cNvPr>
          <p:cNvSpPr/>
          <p:nvPr/>
        </p:nvSpPr>
        <p:spPr>
          <a:xfrm>
            <a:off x="5862210" y="229967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Dokumentáció változás</a:t>
            </a:r>
            <a:endParaRPr lang="en-US" sz="1000" dirty="0"/>
          </a:p>
        </p:txBody>
      </p:sp>
      <p:sp>
        <p:nvSpPr>
          <p:cNvPr id="40" name="Shape 35">
            <a:extLst>
              <a:ext uri="{FF2B5EF4-FFF2-40B4-BE49-F238E27FC236}">
                <a16:creationId xmlns:a16="http://schemas.microsoft.com/office/drawing/2014/main" id="{F5E95C62-F648-B56B-AE50-45051BA8A662}"/>
              </a:ext>
            </a:extLst>
          </p:cNvPr>
          <p:cNvSpPr/>
          <p:nvPr/>
        </p:nvSpPr>
        <p:spPr>
          <a:xfrm>
            <a:off x="4838082" y="2628858"/>
            <a:ext cx="38404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6">
            <a:extLst>
              <a:ext uri="{FF2B5EF4-FFF2-40B4-BE49-F238E27FC236}">
                <a16:creationId xmlns:a16="http://schemas.microsoft.com/office/drawing/2014/main" id="{3C3353A4-0EEF-CCA7-39CD-FC6C62A91D1C}"/>
              </a:ext>
            </a:extLst>
          </p:cNvPr>
          <p:cNvSpPr/>
          <p:nvPr/>
        </p:nvSpPr>
        <p:spPr>
          <a:xfrm>
            <a:off x="4911234" y="264714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refactor:</a:t>
            </a:r>
            <a:endParaRPr lang="en-US" sz="1000" dirty="0"/>
          </a:p>
        </p:txBody>
      </p:sp>
      <p:sp>
        <p:nvSpPr>
          <p:cNvPr id="42" name="Text 37">
            <a:extLst>
              <a:ext uri="{FF2B5EF4-FFF2-40B4-BE49-F238E27FC236}">
                <a16:creationId xmlns:a16="http://schemas.microsoft.com/office/drawing/2014/main" id="{76B1AB1C-C4EB-0D77-3FFD-3860ADB89F4F}"/>
              </a:ext>
            </a:extLst>
          </p:cNvPr>
          <p:cNvSpPr/>
          <p:nvPr/>
        </p:nvSpPr>
        <p:spPr>
          <a:xfrm>
            <a:off x="5862210" y="264714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 refaktorálás</a:t>
            </a:r>
            <a:endParaRPr lang="en-US" sz="1000" dirty="0"/>
          </a:p>
        </p:txBody>
      </p:sp>
      <p:sp>
        <p:nvSpPr>
          <p:cNvPr id="43" name="Shape 38">
            <a:extLst>
              <a:ext uri="{FF2B5EF4-FFF2-40B4-BE49-F238E27FC236}">
                <a16:creationId xmlns:a16="http://schemas.microsoft.com/office/drawing/2014/main" id="{D4EB91E4-C907-67AD-D71E-6E606D490973}"/>
              </a:ext>
            </a:extLst>
          </p:cNvPr>
          <p:cNvSpPr/>
          <p:nvPr/>
        </p:nvSpPr>
        <p:spPr>
          <a:xfrm>
            <a:off x="4838082" y="2976330"/>
            <a:ext cx="3840480" cy="292608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B6CF0BBE-38B1-91AD-CB37-E9C1AFFEEF2F}"/>
              </a:ext>
            </a:extLst>
          </p:cNvPr>
          <p:cNvSpPr/>
          <p:nvPr/>
        </p:nvSpPr>
        <p:spPr>
          <a:xfrm>
            <a:off x="4911234" y="299461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test:</a:t>
            </a:r>
            <a:endParaRPr lang="en-US" sz="1000" dirty="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95652D4-9BCD-9D9F-512C-7D3D464EF2C9}"/>
              </a:ext>
            </a:extLst>
          </p:cNvPr>
          <p:cNvSpPr/>
          <p:nvPr/>
        </p:nvSpPr>
        <p:spPr>
          <a:xfrm>
            <a:off x="5862210" y="299461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Tesztek hozzáadása</a:t>
            </a:r>
            <a:endParaRPr lang="en-US" sz="1000" dirty="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13B9BDDA-E747-A8C1-79C0-D0D8427A843F}"/>
              </a:ext>
            </a:extLst>
          </p:cNvPr>
          <p:cNvSpPr/>
          <p:nvPr/>
        </p:nvSpPr>
        <p:spPr>
          <a:xfrm>
            <a:off x="4838082" y="3323802"/>
            <a:ext cx="38404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885575C1-7035-A47E-A6A6-9FA777DC55AC}"/>
              </a:ext>
            </a:extLst>
          </p:cNvPr>
          <p:cNvSpPr/>
          <p:nvPr/>
        </p:nvSpPr>
        <p:spPr>
          <a:xfrm>
            <a:off x="4911234" y="334209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chore:</a:t>
            </a:r>
            <a:endParaRPr lang="en-US" sz="1000" dirty="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3546F0F7-EC42-F652-9025-2F173027E4CB}"/>
              </a:ext>
            </a:extLst>
          </p:cNvPr>
          <p:cNvSpPr/>
          <p:nvPr/>
        </p:nvSpPr>
        <p:spPr>
          <a:xfrm>
            <a:off x="5862210" y="334209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konfiguráció</a:t>
            </a:r>
            <a:endParaRPr lang="en-US" sz="1000" dirty="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159C2F9-2A33-12A1-4E2B-706FA66CB1AD}"/>
              </a:ext>
            </a:extLst>
          </p:cNvPr>
          <p:cNvSpPr/>
          <p:nvPr/>
        </p:nvSpPr>
        <p:spPr>
          <a:xfrm>
            <a:off x="4883802" y="3645654"/>
            <a:ext cx="3840480" cy="1066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Rossz: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 stuff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Jó: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null pointer in UserService.findById()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feat: add OAuth2 login with Google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689080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+mn-lt"/>
              </a:rPr>
              <a:t>Ajánlott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források</a:t>
            </a:r>
            <a:endParaRPr lang="en-US" dirty="0">
              <a:latin typeface="+mn-lt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A24405-4CC4-D216-27A8-78CCCFD33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194" y="998087"/>
            <a:ext cx="8329612" cy="3147325"/>
          </a:xfrm>
        </p:spPr>
        <p:txBody>
          <a:bodyPr>
            <a:normAutofit/>
          </a:bodyPr>
          <a:lstStyle/>
          <a:p>
            <a:r>
              <a:rPr lang="en-US" sz="1800" dirty="0"/>
              <a:t>Pro Git </a:t>
            </a:r>
            <a:r>
              <a:rPr lang="en-US" sz="1800" dirty="0" err="1"/>
              <a:t>könyv</a:t>
            </a:r>
            <a:r>
              <a:rPr lang="en-US" sz="1800" dirty="0"/>
              <a:t> (</a:t>
            </a:r>
            <a:r>
              <a:rPr lang="en-US" sz="1800" dirty="0" err="1"/>
              <a:t>Ingyenes</a:t>
            </a:r>
            <a:r>
              <a:rPr lang="en-US" sz="1800" dirty="0"/>
              <a:t> online: git-scm.com/book)</a:t>
            </a:r>
          </a:p>
          <a:p>
            <a:r>
              <a:rPr lang="en-US" sz="1800" dirty="0"/>
              <a:t>Learn Git Branching (</a:t>
            </a:r>
            <a:r>
              <a:rPr lang="en-US" sz="1800" dirty="0" err="1"/>
              <a:t>Interaktív</a:t>
            </a:r>
            <a:r>
              <a:rPr lang="en-US" sz="1800" dirty="0"/>
              <a:t> </a:t>
            </a:r>
            <a:r>
              <a:rPr lang="en-US" sz="1800" dirty="0" err="1"/>
              <a:t>játék</a:t>
            </a:r>
            <a:r>
              <a:rPr lang="en-US" sz="1800" dirty="0"/>
              <a:t>: learngitbranching.js.org)</a:t>
            </a:r>
          </a:p>
          <a:p>
            <a:r>
              <a:rPr lang="en-US" sz="1800" dirty="0"/>
              <a:t>Atlassian Git Tutorials</a:t>
            </a:r>
          </a:p>
        </p:txBody>
      </p:sp>
    </p:spTree>
    <p:extLst>
      <p:ext uri="{BB962C8B-B14F-4D97-AF65-F5344CB8AC3E}">
        <p14:creationId xmlns:p14="http://schemas.microsoft.com/office/powerpoint/2010/main" val="25522037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Köszönöm</a:t>
            </a:r>
            <a:r>
              <a:rPr lang="en-US" dirty="0"/>
              <a:t> a </a:t>
            </a:r>
            <a:r>
              <a:rPr lang="en-US" dirty="0" err="1"/>
              <a:t>figyelmet</a:t>
            </a:r>
            <a:r>
              <a:rPr lang="en-US" dirty="0"/>
              <a:t>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2203D6-46B2-544A-AEDD-86624A2E7DA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770813" y="4826000"/>
            <a:ext cx="1373187" cy="317500"/>
          </a:xfrm>
          <a:prstGeom prst="rect">
            <a:avLst/>
          </a:prstGeom>
        </p:spPr>
        <p:txBody>
          <a:bodyPr/>
          <a:lstStyle/>
          <a:p>
            <a:fld id="{3A707DD9-E92B-45E8-BE0A-E6B2EDF345EB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864929"/>
      </p:ext>
    </p:extLst>
  </p:cSld>
  <p:clrMapOvr>
    <a:masterClrMapping/>
  </p:clrMapOvr>
</p:sld>
</file>

<file path=ppt/theme/theme1.xml><?xml version="1.0" encoding="utf-8"?>
<a:theme xmlns:a="http://schemas.openxmlformats.org/drawingml/2006/main" name="Covers">
  <a:themeElements>
    <a:clrScheme name="Custom 6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464547"/>
      </a:accent1>
      <a:accent2>
        <a:srgbClr val="76CDD8"/>
      </a:accent2>
      <a:accent3>
        <a:srgbClr val="008ACF"/>
      </a:accent3>
      <a:accent4>
        <a:srgbClr val="CEDB56"/>
      </a:accent4>
      <a:accent5>
        <a:srgbClr val="39C2D7"/>
      </a:accent5>
      <a:accent6>
        <a:srgbClr val="D35D47"/>
      </a:accent6>
      <a:hlink>
        <a:srgbClr val="76CDD8"/>
      </a:hlink>
      <a:folHlink>
        <a:srgbClr val="76CDD8"/>
      </a:folHlink>
    </a:clrScheme>
    <a:fontScheme name="EPAM September 2017 - PP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PAM PPTX Template" id="{07F0FB55-CFFA-47CA-99A0-A77E3213ACA6}" vid="{740A320D-646C-4C12-89B1-0B127236B0F7}"/>
    </a:ext>
  </a:extLst>
</a:theme>
</file>

<file path=ppt/theme/theme2.xml><?xml version="1.0" encoding="utf-8"?>
<a:theme xmlns:a="http://schemas.openxmlformats.org/drawingml/2006/main" name="General">
  <a:themeElements>
    <a:clrScheme name="Custom 7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222222"/>
      </a:accent1>
      <a:accent2>
        <a:srgbClr val="76CDD8"/>
      </a:accent2>
      <a:accent3>
        <a:srgbClr val="008ACF"/>
      </a:accent3>
      <a:accent4>
        <a:srgbClr val="CEDB56"/>
      </a:accent4>
      <a:accent5>
        <a:srgbClr val="39C2D7"/>
      </a:accent5>
      <a:accent6>
        <a:srgbClr val="D35D47"/>
      </a:accent6>
      <a:hlink>
        <a:srgbClr val="76CDD8"/>
      </a:hlink>
      <a:folHlink>
        <a:srgbClr val="76CDD8"/>
      </a:folHlink>
    </a:clrScheme>
    <a:fontScheme name="EPAM September 2017 - PP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PAM PPTX Template" id="{07F0FB55-CFFA-47CA-99A0-A77E3213ACA6}" vid="{5C4EAAF8-284D-4A65-B20F-C47DE8AC2658}"/>
    </a:ext>
  </a:extLst>
</a:theme>
</file>

<file path=ppt/theme/theme3.xml><?xml version="1.0" encoding="utf-8"?>
<a:theme xmlns:a="http://schemas.openxmlformats.org/drawingml/2006/main" name="Breakers">
  <a:themeElements>
    <a:clrScheme name="Custom 8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222222"/>
      </a:accent1>
      <a:accent2>
        <a:srgbClr val="76CDD8"/>
      </a:accent2>
      <a:accent3>
        <a:srgbClr val="008ACF"/>
      </a:accent3>
      <a:accent4>
        <a:srgbClr val="CEDB56"/>
      </a:accent4>
      <a:accent5>
        <a:srgbClr val="39C2D7"/>
      </a:accent5>
      <a:accent6>
        <a:srgbClr val="D35D47"/>
      </a:accent6>
      <a:hlink>
        <a:srgbClr val="76CDD8"/>
      </a:hlink>
      <a:folHlink>
        <a:srgbClr val="76CDD8"/>
      </a:folHlink>
    </a:clrScheme>
    <a:fontScheme name="EPAM September 2017 - PP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PAM PPTX Template" id="{07F0FB55-CFFA-47CA-99A0-A77E3213ACA6}" vid="{67367244-F583-44E6-8F01-4BEACD686630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4119</TotalTime>
  <Words>1556</Words>
  <Application>Microsoft Office PowerPoint</Application>
  <PresentationFormat>On-screen Show (16:9)</PresentationFormat>
  <Paragraphs>258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Arial Black</vt:lpstr>
      <vt:lpstr>Calibri</vt:lpstr>
      <vt:lpstr>Calibri Light</vt:lpstr>
      <vt:lpstr>Consolas</vt:lpstr>
      <vt:lpstr>Covers</vt:lpstr>
      <vt:lpstr>General</vt:lpstr>
      <vt:lpstr>Breakers</vt:lpstr>
      <vt:lpstr>Verziókezelés és Git</vt:lpstr>
      <vt:lpstr>Agenda</vt:lpstr>
      <vt:lpstr>Mi a verziókezelés?</vt:lpstr>
      <vt:lpstr>Verziókezelés nélkül</vt:lpstr>
      <vt:lpstr>Verziókezelő rendszerek (VCS)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Jennifer Markowitz</dc:creator>
  <cp:lastModifiedBy>Szilard Szabo1</cp:lastModifiedBy>
  <cp:revision>46</cp:revision>
  <dcterms:created xsi:type="dcterms:W3CDTF">2018-01-26T19:23:30Z</dcterms:created>
  <dcterms:modified xsi:type="dcterms:W3CDTF">2026-03-10T18:42:04Z</dcterms:modified>
</cp:coreProperties>
</file>