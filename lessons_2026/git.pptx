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6" r:id="rId2"/>
    <p:sldMasterId id="2147483663" r:id="rId3"/>
  </p:sldMasterIdLst>
  <p:notesMasterIdLst>
    <p:notesMasterId r:id="rId25"/>
  </p:notesMasterIdLst>
  <p:handoutMasterIdLst>
    <p:handoutMasterId r:id="rId26"/>
  </p:handoutMasterIdLst>
  <p:sldIdLst>
    <p:sldId id="256" r:id="rId4"/>
    <p:sldId id="264" r:id="rId5"/>
    <p:sldId id="325" r:id="rId6"/>
    <p:sldId id="314" r:id="rId7"/>
    <p:sldId id="470" r:id="rId8"/>
    <p:sldId id="464" r:id="rId9"/>
    <p:sldId id="471" r:id="rId10"/>
    <p:sldId id="468" r:id="rId11"/>
    <p:sldId id="472" r:id="rId12"/>
    <p:sldId id="473" r:id="rId13"/>
    <p:sldId id="474" r:id="rId14"/>
    <p:sldId id="476" r:id="rId15"/>
    <p:sldId id="495" r:id="rId16"/>
    <p:sldId id="477" r:id="rId17"/>
    <p:sldId id="478" r:id="rId18"/>
    <p:sldId id="479" r:id="rId19"/>
    <p:sldId id="480" r:id="rId20"/>
    <p:sldId id="482" r:id="rId21"/>
    <p:sldId id="483" r:id="rId22"/>
    <p:sldId id="484" r:id="rId23"/>
    <p:sldId id="312" r:id="rId2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85359" autoAdjust="0"/>
  </p:normalViewPr>
  <p:slideViewPr>
    <p:cSldViewPr snapToGrid="0">
      <p:cViewPr varScale="1">
        <p:scale>
          <a:sx n="93" d="100"/>
          <a:sy n="93" d="100"/>
        </p:scale>
        <p:origin x="130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66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444444"/>
                </a:solidFill>
              </a:rPr>
              <a:t>A Git SHA-1 hash-t </a:t>
            </a:r>
            <a:r>
              <a:rPr lang="en-US" sz="900" dirty="0" err="1">
                <a:solidFill>
                  <a:srgbClr val="444444"/>
                </a:solidFill>
              </a:rPr>
              <a:t>használ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az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objektumok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azonosításához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és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az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adatintegritás</a:t>
            </a:r>
            <a:r>
              <a:rPr lang="en-US" sz="900" dirty="0">
                <a:solidFill>
                  <a:srgbClr val="444444"/>
                </a:solidFill>
              </a:rPr>
              <a:t> </a:t>
            </a:r>
            <a:r>
              <a:rPr lang="en-US" sz="900" dirty="0" err="1">
                <a:solidFill>
                  <a:srgbClr val="444444"/>
                </a:solidFill>
              </a:rPr>
              <a:t>biztosításához</a:t>
            </a:r>
            <a:r>
              <a:rPr lang="en-US" sz="900" dirty="0">
                <a:solidFill>
                  <a:srgbClr val="444444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9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Az 'Arany </a:t>
            </a:r>
            <a:r>
              <a:rPr lang="en-US" dirty="0" err="1"/>
              <a:t>szabály</a:t>
            </a:r>
            <a:r>
              <a:rPr lang="en-US" dirty="0"/>
              <a:t>': SOHA ne rebase-</a:t>
            </a:r>
            <a:r>
              <a:rPr lang="en-US" dirty="0" err="1"/>
              <a:t>elj</a:t>
            </a:r>
            <a:r>
              <a:rPr lang="en-US" dirty="0"/>
              <a:t> </a:t>
            </a:r>
            <a:r>
              <a:rPr lang="en-US" dirty="0" err="1"/>
              <a:t>publikus</a:t>
            </a:r>
            <a:r>
              <a:rPr lang="en-US" dirty="0"/>
              <a:t> (shared) branch-</a:t>
            </a:r>
            <a:r>
              <a:rPr lang="en-US" dirty="0" err="1"/>
              <a:t>en</a:t>
            </a:r>
            <a:r>
              <a:rPr lang="en-US" dirty="0"/>
              <a:t>! 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legfontosabb</a:t>
            </a:r>
            <a:r>
              <a:rPr lang="en-US" dirty="0"/>
              <a:t> </a:t>
            </a:r>
            <a:r>
              <a:rPr lang="en-US" dirty="0" err="1"/>
              <a:t>üzenet</a:t>
            </a:r>
            <a:r>
              <a:rPr lang="en-US" dirty="0"/>
              <a:t>. A 'the golden rule of rebasing' - ha </a:t>
            </a:r>
            <a:r>
              <a:rPr lang="en-US" dirty="0" err="1"/>
              <a:t>mások</a:t>
            </a:r>
            <a:r>
              <a:rPr lang="en-US" dirty="0"/>
              <a:t> is </a:t>
            </a:r>
            <a:r>
              <a:rPr lang="en-US" dirty="0" err="1"/>
              <a:t>dolgoznak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ágon</a:t>
            </a:r>
            <a:r>
              <a:rPr lang="en-US" dirty="0"/>
              <a:t>, a rebase </a:t>
            </a:r>
            <a:r>
              <a:rPr lang="en-US" dirty="0" err="1"/>
              <a:t>felülírja</a:t>
            </a:r>
            <a:r>
              <a:rPr lang="en-US" dirty="0"/>
              <a:t> a commit hash-</a:t>
            </a:r>
            <a:r>
              <a:rPr lang="en-US" dirty="0" err="1"/>
              <a:t>eket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mindenki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en-US" dirty="0"/>
              <a:t> </a:t>
            </a:r>
            <a:r>
              <a:rPr lang="en-US" dirty="0" err="1"/>
              <a:t>káoszt</a:t>
            </a:r>
            <a:r>
              <a:rPr lang="en-US" dirty="0"/>
              <a:t> </a:t>
            </a:r>
            <a:r>
              <a:rPr lang="en-US" dirty="0" err="1"/>
              <a:t>okoz</a:t>
            </a:r>
            <a:r>
              <a:rPr lang="en-US" dirty="0"/>
              <a:t>. </a:t>
            </a:r>
            <a:r>
              <a:rPr lang="en-US" dirty="0" err="1"/>
              <a:t>Lokális</a:t>
            </a:r>
            <a:r>
              <a:rPr lang="en-US" dirty="0"/>
              <a:t> feature branch-</a:t>
            </a:r>
            <a:r>
              <a:rPr lang="en-US" dirty="0" err="1"/>
              <a:t>eken</a:t>
            </a: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 a rebase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elegáns</a:t>
            </a:r>
            <a:r>
              <a:rPr lang="en-US" dirty="0"/>
              <a:t> </a:t>
            </a:r>
            <a:r>
              <a:rPr lang="en-US" dirty="0" err="1"/>
              <a:t>eszköz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2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GitFlow</a:t>
            </a:r>
            <a:r>
              <a:rPr lang="en-US" dirty="0"/>
              <a:t>-t 2010-ben Vincent Driessen </a:t>
            </a:r>
            <a:r>
              <a:rPr lang="en-US" dirty="0" err="1"/>
              <a:t>publikálta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blog </a:t>
            </a:r>
            <a:r>
              <a:rPr lang="en-US" dirty="0" err="1"/>
              <a:t>posztban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azonnal</a:t>
            </a:r>
            <a:r>
              <a:rPr lang="en-US" dirty="0"/>
              <a:t> </a:t>
            </a:r>
            <a:r>
              <a:rPr lang="en-US" dirty="0" err="1"/>
              <a:t>iparistandarddá</a:t>
            </a:r>
            <a:r>
              <a:rPr lang="en-US" dirty="0"/>
              <a:t> </a:t>
            </a:r>
            <a:r>
              <a:rPr lang="en-US" dirty="0" err="1"/>
              <a:t>vált</a:t>
            </a:r>
            <a:r>
              <a:rPr lang="en-US" dirty="0"/>
              <a:t>. Ma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Driessen is </a:t>
            </a:r>
            <a:r>
              <a:rPr lang="en-US" dirty="0" err="1"/>
              <a:t>hozzáteszi</a:t>
            </a:r>
            <a:r>
              <a:rPr lang="en-US" dirty="0"/>
              <a:t>: 'Ha </a:t>
            </a:r>
            <a:r>
              <a:rPr lang="en-US" dirty="0" err="1"/>
              <a:t>folyamatos</a:t>
            </a:r>
            <a:r>
              <a:rPr lang="en-US" dirty="0"/>
              <a:t> </a:t>
            </a:r>
            <a:r>
              <a:rPr lang="en-US" dirty="0" err="1"/>
              <a:t>szállítást</a:t>
            </a:r>
            <a:r>
              <a:rPr lang="en-US" dirty="0"/>
              <a:t> </a:t>
            </a:r>
            <a:r>
              <a:rPr lang="en-US" dirty="0" err="1"/>
              <a:t>végzel</a:t>
            </a:r>
            <a:r>
              <a:rPr lang="en-US" dirty="0"/>
              <a:t>, </a:t>
            </a:r>
            <a:r>
              <a:rPr lang="en-US" dirty="0" err="1"/>
              <a:t>ez</a:t>
            </a:r>
            <a:r>
              <a:rPr lang="en-US" dirty="0"/>
              <a:t> a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neked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.'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GitHub Flow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népszerű</a:t>
            </a:r>
            <a:r>
              <a:rPr lang="en-US" dirty="0"/>
              <a:t> </a:t>
            </a:r>
            <a:r>
              <a:rPr lang="en-US" dirty="0" err="1"/>
              <a:t>startupok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small teams </a:t>
            </a:r>
            <a:r>
              <a:rPr lang="en-US" dirty="0" err="1"/>
              <a:t>esetén</a:t>
            </a:r>
            <a:r>
              <a:rPr lang="en-US" dirty="0"/>
              <a:t>. A </a:t>
            </a:r>
            <a:r>
              <a:rPr lang="en-US" dirty="0" err="1"/>
              <a:t>kulcseleme</a:t>
            </a:r>
            <a:r>
              <a:rPr lang="en-US" dirty="0"/>
              <a:t>: a main branch MINDIG </a:t>
            </a:r>
            <a:r>
              <a:rPr lang="en-US" dirty="0" err="1"/>
              <a:t>deployolható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en-US" dirty="0"/>
              <a:t>. 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robusztus</a:t>
            </a:r>
            <a:r>
              <a:rPr lang="en-US" dirty="0"/>
              <a:t> CI/CD pipeline </a:t>
            </a:r>
            <a:r>
              <a:rPr lang="en-US" dirty="0" err="1"/>
              <a:t>szükséges</a:t>
            </a:r>
            <a:r>
              <a:rPr lang="en-US" dirty="0"/>
              <a:t>. Ide </a:t>
            </a:r>
            <a:r>
              <a:rPr lang="en-US" dirty="0" err="1"/>
              <a:t>tartozik</a:t>
            </a:r>
            <a:r>
              <a:rPr lang="en-US" dirty="0"/>
              <a:t> a Pull Request </a:t>
            </a:r>
            <a:r>
              <a:rPr lang="en-US" dirty="0" err="1"/>
              <a:t>kultúra</a:t>
            </a:r>
            <a:r>
              <a:rPr lang="en-US" dirty="0"/>
              <a:t> –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kód</a:t>
            </a:r>
            <a:r>
              <a:rPr lang="en-US" dirty="0"/>
              <a:t> review-on </a:t>
            </a:r>
            <a:r>
              <a:rPr lang="en-US" dirty="0" err="1"/>
              <a:t>megy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mielőtt</a:t>
            </a:r>
            <a:r>
              <a:rPr lang="en-US" dirty="0"/>
              <a:t> main-be </a:t>
            </a:r>
            <a:r>
              <a:rPr lang="en-US" dirty="0" err="1"/>
              <a:t>kerül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8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Trunk-Based Development </a:t>
            </a:r>
            <a:r>
              <a:rPr lang="en-US" dirty="0" err="1"/>
              <a:t>stratégiát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'Accelerate' </a:t>
            </a:r>
            <a:r>
              <a:rPr lang="en-US" dirty="0" err="1"/>
              <a:t>könyv</a:t>
            </a:r>
            <a:r>
              <a:rPr lang="en-US" dirty="0"/>
              <a:t> (Forsgren, Humble, Kim, 2018) </a:t>
            </a:r>
            <a:r>
              <a:rPr lang="en-US" dirty="0" err="1"/>
              <a:t>kutatásai</a:t>
            </a:r>
            <a:r>
              <a:rPr lang="en-US" dirty="0"/>
              <a:t> </a:t>
            </a:r>
            <a:r>
              <a:rPr lang="en-US" dirty="0" err="1"/>
              <a:t>szerint</a:t>
            </a:r>
            <a:r>
              <a:rPr lang="en-US" dirty="0"/>
              <a:t> a high-performing </a:t>
            </a:r>
            <a:r>
              <a:rPr lang="en-US" dirty="0" err="1"/>
              <a:t>szoftvercégek</a:t>
            </a:r>
            <a:r>
              <a:rPr lang="en-US" dirty="0"/>
              <a:t> </a:t>
            </a:r>
            <a:r>
              <a:rPr lang="en-US" dirty="0" err="1"/>
              <a:t>szinte</a:t>
            </a:r>
            <a:r>
              <a:rPr lang="en-US" dirty="0"/>
              <a:t> mind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en-US" dirty="0"/>
              <a:t>. A feature flag </a:t>
            </a:r>
            <a:r>
              <a:rPr lang="en-US" dirty="0" err="1"/>
              <a:t>fogalma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hallgatónak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– </a:t>
            </a:r>
            <a:r>
              <a:rPr lang="en-US" dirty="0" err="1"/>
              <a:t>érdemes</a:t>
            </a:r>
            <a:r>
              <a:rPr lang="en-US" dirty="0"/>
              <a:t> </a:t>
            </a:r>
            <a:r>
              <a:rPr lang="en-US" dirty="0" err="1"/>
              <a:t>részletezni</a:t>
            </a:r>
            <a:r>
              <a:rPr lang="en-US" dirty="0"/>
              <a:t>: a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dirty="0" err="1"/>
              <a:t>bekerül</a:t>
            </a:r>
            <a:r>
              <a:rPr lang="en-US" dirty="0"/>
              <a:t> production-</a:t>
            </a:r>
            <a:r>
              <a:rPr lang="en-US" dirty="0" err="1"/>
              <a:t>ba</a:t>
            </a:r>
            <a:r>
              <a:rPr lang="en-US" dirty="0"/>
              <a:t>, de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kapcsolóval</a:t>
            </a:r>
            <a:r>
              <a:rPr lang="en-US" dirty="0"/>
              <a:t> ki van </a:t>
            </a:r>
            <a:r>
              <a:rPr lang="en-US" dirty="0" err="1"/>
              <a:t>kapcsolva</a:t>
            </a:r>
            <a:r>
              <a:rPr lang="en-US" dirty="0"/>
              <a:t> a </a:t>
            </a:r>
            <a:r>
              <a:rPr lang="en-US" dirty="0" err="1"/>
              <a:t>végfelhasználók</a:t>
            </a:r>
            <a:r>
              <a:rPr lang="en-US" dirty="0"/>
              <a:t> </a:t>
            </a:r>
            <a:r>
              <a:rPr lang="en-US" dirty="0" err="1"/>
              <a:t>elől</a:t>
            </a:r>
            <a:r>
              <a:rPr lang="en-US" dirty="0"/>
              <a:t>. Ez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a continuous deployment-et </a:t>
            </a:r>
            <a:r>
              <a:rPr lang="en-US" dirty="0" err="1"/>
              <a:t>befejezetlen</a:t>
            </a:r>
            <a:r>
              <a:rPr lang="en-US" dirty="0"/>
              <a:t> feature-</a:t>
            </a:r>
            <a:r>
              <a:rPr lang="en-US" dirty="0" err="1"/>
              <a:t>ökkel</a:t>
            </a:r>
            <a:r>
              <a:rPr lang="en-US" dirty="0"/>
              <a:t>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79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</a:t>
            </a:r>
            <a:r>
              <a:rPr lang="en-US" dirty="0" err="1"/>
              <a:t>arról</a:t>
            </a:r>
            <a:r>
              <a:rPr lang="en-US" dirty="0"/>
              <a:t> van </a:t>
            </a:r>
            <a:r>
              <a:rPr lang="en-US" dirty="0" err="1"/>
              <a:t>szó</a:t>
            </a:r>
            <a:r>
              <a:rPr lang="en-US" dirty="0"/>
              <a:t>, </a:t>
            </a:r>
            <a:r>
              <a:rPr lang="en-US" dirty="0" err="1"/>
              <a:t>melyik</a:t>
            </a:r>
            <a:r>
              <a:rPr lang="en-US" dirty="0"/>
              <a:t> a '</a:t>
            </a:r>
            <a:r>
              <a:rPr lang="en-US" dirty="0" err="1"/>
              <a:t>legjobb</a:t>
            </a:r>
            <a:r>
              <a:rPr lang="en-US" dirty="0"/>
              <a:t>',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melyik</a:t>
            </a:r>
            <a:r>
              <a:rPr lang="en-US" dirty="0"/>
              <a:t> </a:t>
            </a:r>
            <a:r>
              <a:rPr lang="en-US" dirty="0" err="1"/>
              <a:t>illik</a:t>
            </a:r>
            <a:r>
              <a:rPr lang="en-US" dirty="0"/>
              <a:t> a </a:t>
            </a:r>
            <a:r>
              <a:rPr lang="en-US" dirty="0" err="1"/>
              <a:t>csapathoz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projekthez</a:t>
            </a:r>
            <a:r>
              <a:rPr lang="en-US" dirty="0"/>
              <a:t>. Sok </a:t>
            </a:r>
            <a:r>
              <a:rPr lang="en-US" dirty="0" err="1"/>
              <a:t>cég</a:t>
            </a:r>
            <a:r>
              <a:rPr lang="en-US" dirty="0"/>
              <a:t> </a:t>
            </a:r>
            <a:r>
              <a:rPr lang="en-US" dirty="0" err="1"/>
              <a:t>GitFlow-val</a:t>
            </a:r>
            <a:r>
              <a:rPr lang="en-US" dirty="0"/>
              <a:t> </a:t>
            </a:r>
            <a:r>
              <a:rPr lang="en-US" dirty="0" err="1"/>
              <a:t>kezd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átvált</a:t>
            </a:r>
            <a:r>
              <a:rPr lang="en-US" dirty="0"/>
              <a:t> GitHub Flow-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trunk-based </a:t>
            </a:r>
            <a:r>
              <a:rPr lang="en-US" dirty="0" err="1"/>
              <a:t>fejlesztésre</a:t>
            </a:r>
            <a:r>
              <a:rPr lang="en-US" dirty="0"/>
              <a:t> </a:t>
            </a:r>
            <a:r>
              <a:rPr lang="en-US" dirty="0" err="1"/>
              <a:t>ahogy</a:t>
            </a:r>
            <a:r>
              <a:rPr lang="en-US" dirty="0"/>
              <a:t> </a:t>
            </a:r>
            <a:r>
              <a:rPr lang="en-US" dirty="0" err="1"/>
              <a:t>nő</a:t>
            </a:r>
            <a:r>
              <a:rPr lang="en-US" dirty="0"/>
              <a:t> a CI/CD </a:t>
            </a:r>
            <a:r>
              <a:rPr lang="en-US" dirty="0" err="1"/>
              <a:t>érettségük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24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 dirty="0"/>
              <a:t>Please add cover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 dirty="0">
                <a:solidFill>
                  <a:schemeClr val="bg1"/>
                </a:solidFill>
                <a:latin typeface="+mj-lt"/>
              </a:rPr>
            </a:b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 dirty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 dirty="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332311"/>
            <a:ext cx="8329612" cy="314732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marL="130302" marR="0" lvl="0" indent="-130302" algn="l" defTabSz="3429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0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add bulleted list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indent="0">
              <a:buNone/>
              <a:defRPr sz="20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148" y="987552"/>
            <a:ext cx="1480576" cy="264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1603246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5.emf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2026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2026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1466" y="1761860"/>
            <a:ext cx="4315968" cy="738293"/>
          </a:xfrm>
        </p:spPr>
        <p:txBody>
          <a:bodyPr/>
          <a:lstStyle/>
          <a:p>
            <a:r>
              <a:rPr lang="en-US" dirty="0" err="1"/>
              <a:t>Verziókezelés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1466" y="3381640"/>
            <a:ext cx="4315968" cy="313932"/>
          </a:xfrm>
        </p:spPr>
        <p:txBody>
          <a:bodyPr/>
          <a:lstStyle/>
          <a:p>
            <a:r>
              <a:rPr lang="en-US" dirty="0"/>
              <a:t>Szilard Szabo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433143" y="4867516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2026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  <a:endParaRPr lang="en-US" dirty="0"/>
          </a:p>
        </p:txBody>
      </p:sp>
      <p:pic>
        <p:nvPicPr>
          <p:cNvPr id="7" name="Picture Placeholder 6" descr="A person using a computer&#10;&#10;Description automatically generated">
            <a:extLst>
              <a:ext uri="{FF2B5EF4-FFF2-40B4-BE49-F238E27FC236}">
                <a16:creationId xmlns:a16="http://schemas.microsoft.com/office/drawing/2014/main" id="{C335CE7A-98B6-4D9A-9C0D-C196EBC0CF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3" r="20353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57188" y="908243"/>
            <a:ext cx="356616" cy="356616"/>
          </a:xfrm>
        </p:spPr>
        <p:txBody>
          <a:bodyPr/>
          <a:lstStyle/>
          <a:p>
            <a:r>
              <a:rPr lang="hu-HU" dirty="0"/>
              <a:t>1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710972" y="908243"/>
            <a:ext cx="3632428" cy="356616"/>
          </a:xfrm>
        </p:spPr>
        <p:txBody>
          <a:bodyPr/>
          <a:lstStyle/>
          <a:p>
            <a:r>
              <a:rPr lang="en-US" dirty="0" err="1">
                <a:solidFill>
                  <a:srgbClr val="444444"/>
                </a:solidFill>
              </a:rPr>
              <a:t>verziókezelés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357188" y="1513772"/>
            <a:ext cx="356616" cy="356616"/>
          </a:xfrm>
        </p:spPr>
        <p:txBody>
          <a:bodyPr/>
          <a:lstStyle/>
          <a:p>
            <a:r>
              <a:rPr lang="hu-HU" dirty="0"/>
              <a:t>2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357188" y="2119301"/>
            <a:ext cx="356616" cy="356616"/>
          </a:xfrm>
        </p:spPr>
        <p:txBody>
          <a:bodyPr/>
          <a:lstStyle/>
          <a:p>
            <a:r>
              <a:rPr lang="hu-HU" dirty="0"/>
              <a:t>3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>
          <a:xfrm>
            <a:off x="710972" y="1513360"/>
            <a:ext cx="3632428" cy="356616"/>
          </a:xfrm>
        </p:spPr>
        <p:txBody>
          <a:bodyPr/>
          <a:lstStyle/>
          <a:p>
            <a:r>
              <a:rPr lang="en-US" dirty="0" err="1">
                <a:solidFill>
                  <a:srgbClr val="444444"/>
                </a:solidFill>
              </a:rPr>
              <a:t>Verziókezelő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rendszerek</a:t>
            </a:r>
            <a:r>
              <a:rPr lang="en-US" dirty="0">
                <a:solidFill>
                  <a:srgbClr val="444444"/>
                </a:solidFill>
              </a:rPr>
              <a:t> (VCS) </a:t>
            </a:r>
            <a:r>
              <a:rPr lang="en-US" dirty="0" err="1">
                <a:solidFill>
                  <a:srgbClr val="444444"/>
                </a:solidFill>
              </a:rPr>
              <a:t>típusai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710972" y="2118477"/>
            <a:ext cx="3632428" cy="356616"/>
          </a:xfrm>
        </p:spPr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, GITHUB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C89A-3E1B-FF47-B76F-3E8ED7756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352636" y="2653838"/>
            <a:ext cx="356616" cy="356616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706420" y="2653014"/>
            <a:ext cx="3632428" cy="356616"/>
          </a:xfrm>
        </p:spPr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architecktúrája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354908" y="3202025"/>
            <a:ext cx="356616" cy="356616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4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708692" y="3201201"/>
            <a:ext cx="3632428" cy="356616"/>
          </a:xfrm>
        </p:spPr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parancsok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357180" y="3729742"/>
            <a:ext cx="356616" cy="356616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6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710964" y="3728918"/>
            <a:ext cx="3632428" cy="356616"/>
          </a:xfrm>
        </p:spPr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352628" y="4243810"/>
            <a:ext cx="356616" cy="356616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706412" y="4242986"/>
            <a:ext cx="3632428" cy="356616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56821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Mi</a:t>
            </a:r>
            <a:r>
              <a:rPr lang="en-US" sz="3200" dirty="0"/>
              <a:t> a </a:t>
            </a:r>
            <a:r>
              <a:rPr lang="en-US" sz="3200" dirty="0" err="1"/>
              <a:t>verziókezelés</a:t>
            </a:r>
            <a:r>
              <a:rPr lang="en-US" sz="3200" dirty="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artalom helye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err="1"/>
              <a:t>Változások</a:t>
            </a:r>
            <a:r>
              <a:rPr lang="en-US" sz="2800" dirty="0"/>
              <a:t> </a:t>
            </a:r>
            <a:r>
              <a:rPr lang="en-US" sz="2800" dirty="0" err="1"/>
              <a:t>követése</a:t>
            </a:r>
            <a:r>
              <a:rPr lang="en-US" sz="2800" dirty="0"/>
              <a:t> </a:t>
            </a:r>
            <a:r>
              <a:rPr lang="en-US" sz="2800" dirty="0" err="1"/>
              <a:t>az</a:t>
            </a:r>
            <a:r>
              <a:rPr lang="en-US" sz="2800" dirty="0"/>
              <a:t> </a:t>
            </a:r>
            <a:r>
              <a:rPr lang="en-US" sz="2800" dirty="0" err="1"/>
              <a:t>időben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Ki, </a:t>
            </a:r>
            <a:r>
              <a:rPr lang="en-US" sz="2800" dirty="0" err="1"/>
              <a:t>mit</a:t>
            </a:r>
            <a:r>
              <a:rPr lang="en-US" sz="2800" dirty="0"/>
              <a:t>, </a:t>
            </a:r>
            <a:r>
              <a:rPr lang="en-US" sz="2800" dirty="0" err="1"/>
              <a:t>mikor</a:t>
            </a:r>
            <a:r>
              <a:rPr lang="en-US" sz="2800" dirty="0"/>
              <a:t> </a:t>
            </a:r>
            <a:r>
              <a:rPr lang="en-US" sz="2800" dirty="0" err="1"/>
              <a:t>és</a:t>
            </a:r>
            <a:r>
              <a:rPr lang="en-US" sz="2800" dirty="0"/>
              <a:t> </a:t>
            </a:r>
            <a:r>
              <a:rPr lang="en-US" sz="2800" dirty="0" err="1"/>
              <a:t>miért</a:t>
            </a:r>
            <a:r>
              <a:rPr lang="en-US" sz="2800" dirty="0"/>
              <a:t> </a:t>
            </a:r>
            <a:r>
              <a:rPr lang="en-US" sz="2800" dirty="0" err="1"/>
              <a:t>módosított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Visszaállási</a:t>
            </a:r>
            <a:r>
              <a:rPr lang="en-US" sz="2800" dirty="0"/>
              <a:t> </a:t>
            </a:r>
            <a:r>
              <a:rPr lang="en-US" sz="2800" dirty="0" err="1"/>
              <a:t>lehetőség</a:t>
            </a:r>
            <a:r>
              <a:rPr lang="en-US" sz="2800" dirty="0"/>
              <a:t> (Rollback).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Párhuzamos</a:t>
            </a:r>
            <a:r>
              <a:rPr lang="en-US" sz="2800" dirty="0"/>
              <a:t> </a:t>
            </a:r>
            <a:r>
              <a:rPr lang="en-US" sz="2800" dirty="0" err="1"/>
              <a:t>munkavégzés</a:t>
            </a:r>
            <a:r>
              <a:rPr lang="en-US" sz="2800" dirty="0"/>
              <a:t> </a:t>
            </a:r>
            <a:r>
              <a:rPr lang="en-US" sz="2800" dirty="0" err="1"/>
              <a:t>támogatása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799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Verziókezelés</a:t>
            </a:r>
            <a:r>
              <a:rPr lang="en-US" sz="2400" dirty="0"/>
              <a:t> </a:t>
            </a:r>
            <a:r>
              <a:rPr lang="en-US" sz="2400" dirty="0" err="1"/>
              <a:t>nélkül</a:t>
            </a: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8" y="1422400"/>
            <a:ext cx="4580571" cy="21132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sz="2000" dirty="0"/>
              <a:t>final_v2.java</a:t>
            </a:r>
          </a:p>
          <a:p>
            <a:pPr>
              <a:lnSpc>
                <a:spcPct val="150000"/>
              </a:lnSpc>
            </a:pPr>
            <a:r>
              <a:rPr lang="hu-HU" sz="2000" dirty="0"/>
              <a:t>final_final.java</a:t>
            </a:r>
          </a:p>
          <a:p>
            <a:pPr>
              <a:lnSpc>
                <a:spcPct val="150000"/>
              </a:lnSpc>
            </a:pPr>
            <a:r>
              <a:rPr lang="hu-HU" sz="2000" dirty="0"/>
              <a:t>final_final_REAL.java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Verziókezelő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(VCS)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0364" y="1074381"/>
            <a:ext cx="5941253" cy="28561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 err="1"/>
              <a:t>Helyi</a:t>
            </a:r>
            <a:r>
              <a:rPr lang="en-US" sz="1800" b="1" dirty="0"/>
              <a:t> (Local): </a:t>
            </a:r>
            <a:r>
              <a:rPr lang="en-US" sz="1800" dirty="0" err="1"/>
              <a:t>csak</a:t>
            </a:r>
            <a:r>
              <a:rPr lang="en-US" sz="1800" dirty="0"/>
              <a:t> a </a:t>
            </a:r>
            <a:r>
              <a:rPr lang="en-US" sz="1800" dirty="0" err="1"/>
              <a:t>saját</a:t>
            </a:r>
            <a:r>
              <a:rPr lang="en-US" sz="1800" dirty="0"/>
              <a:t> </a:t>
            </a:r>
            <a:r>
              <a:rPr lang="en-US" sz="1800" dirty="0" err="1"/>
              <a:t>gépen</a:t>
            </a:r>
            <a:r>
              <a:rPr lang="en-US" sz="1800" dirty="0"/>
              <a:t> (pl. RCS)</a:t>
            </a:r>
            <a:endParaRPr lang="hu-HU" sz="1800" dirty="0"/>
          </a:p>
          <a:p>
            <a:pPr>
              <a:lnSpc>
                <a:spcPct val="150000"/>
              </a:lnSpc>
            </a:pPr>
            <a:r>
              <a:rPr lang="en-US" sz="1800" b="1" dirty="0" err="1"/>
              <a:t>Központosított</a:t>
            </a:r>
            <a:r>
              <a:rPr lang="en-US" sz="1800" b="1" dirty="0"/>
              <a:t> (CVCS):</a:t>
            </a:r>
            <a:r>
              <a:rPr lang="en-US" sz="1800" dirty="0"/>
              <a:t> </a:t>
            </a:r>
            <a:r>
              <a:rPr lang="en-US" sz="1800" dirty="0" err="1"/>
              <a:t>egy</a:t>
            </a:r>
            <a:r>
              <a:rPr lang="en-US" sz="1800" dirty="0"/>
              <a:t> </a:t>
            </a:r>
            <a:r>
              <a:rPr lang="en-US" sz="1800" dirty="0" err="1"/>
              <a:t>szerver</a:t>
            </a:r>
            <a:r>
              <a:rPr lang="en-US" sz="1800" dirty="0"/>
              <a:t>, </a:t>
            </a:r>
            <a:r>
              <a:rPr lang="en-US" sz="1800" dirty="0" err="1"/>
              <a:t>mindenki</a:t>
            </a:r>
            <a:r>
              <a:rPr lang="en-US" sz="1800" dirty="0"/>
              <a:t> </a:t>
            </a:r>
            <a:r>
              <a:rPr lang="en-US" sz="1800" dirty="0" err="1"/>
              <a:t>oda</a:t>
            </a:r>
            <a:r>
              <a:rPr lang="en-US" sz="1800" dirty="0"/>
              <a:t> </a:t>
            </a:r>
            <a:r>
              <a:rPr lang="en-US" sz="1800" dirty="0" err="1"/>
              <a:t>commitol</a:t>
            </a:r>
            <a:r>
              <a:rPr lang="en-US" sz="1800" dirty="0"/>
              <a:t> (pl. SVN, Perforce, VSS)</a:t>
            </a:r>
            <a:br>
              <a:rPr lang="en-US" sz="1800" dirty="0"/>
            </a:br>
            <a:r>
              <a:rPr lang="en-US" sz="1800" i="1" dirty="0" err="1"/>
              <a:t>Hibaforrás</a:t>
            </a:r>
            <a:r>
              <a:rPr lang="en-US" sz="1800" i="1" dirty="0"/>
              <a:t>: Single Point of Failure</a:t>
            </a:r>
            <a:endParaRPr lang="hu-HU" sz="1800" dirty="0"/>
          </a:p>
          <a:p>
            <a:pPr>
              <a:lnSpc>
                <a:spcPct val="150000"/>
              </a:lnSpc>
            </a:pPr>
            <a:r>
              <a:rPr lang="en-US" sz="1800" b="1" dirty="0" err="1"/>
              <a:t>Elosztott</a:t>
            </a:r>
            <a:r>
              <a:rPr lang="en-US" sz="1800" b="1" dirty="0"/>
              <a:t> (DVCS): </a:t>
            </a:r>
            <a:r>
              <a:rPr lang="en-US" sz="1800" dirty="0" err="1"/>
              <a:t>mindenkinél</a:t>
            </a:r>
            <a:r>
              <a:rPr lang="en-US" sz="1800" dirty="0"/>
              <a:t> </a:t>
            </a:r>
            <a:r>
              <a:rPr lang="en-US" sz="1800" dirty="0" err="1"/>
              <a:t>ott</a:t>
            </a:r>
            <a:r>
              <a:rPr lang="en-US" sz="1800" dirty="0"/>
              <a:t> a </a:t>
            </a:r>
            <a:r>
              <a:rPr lang="en-US" sz="1800" dirty="0" err="1"/>
              <a:t>teljes</a:t>
            </a:r>
            <a:r>
              <a:rPr lang="en-US" sz="1800" dirty="0"/>
              <a:t> </a:t>
            </a:r>
            <a:r>
              <a:rPr lang="en-US" sz="1800" dirty="0" err="1"/>
              <a:t>történet</a:t>
            </a:r>
            <a:r>
              <a:rPr lang="en-US" sz="1800" dirty="0"/>
              <a:t> (pl. </a:t>
            </a:r>
            <a:r>
              <a:rPr lang="en-US" sz="1800" dirty="0" err="1"/>
              <a:t>Git</a:t>
            </a:r>
            <a:r>
              <a:rPr lang="en-US" sz="1800" dirty="0"/>
              <a:t>, Mercurial).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17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maga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szoftver</a:t>
            </a:r>
            <a:r>
              <a:rPr lang="en-US" sz="1800" dirty="0">
                <a:solidFill>
                  <a:srgbClr val="444444"/>
                </a:solidFill>
              </a:rPr>
              <a:t> (</a:t>
            </a:r>
            <a:r>
              <a:rPr lang="en-US" sz="1800" dirty="0" err="1">
                <a:solidFill>
                  <a:srgbClr val="444444"/>
                </a:solidFill>
              </a:rPr>
              <a:t>verziókezelő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rendszer</a:t>
            </a:r>
            <a:r>
              <a:rPr lang="en-US" sz="1800" dirty="0">
                <a:solidFill>
                  <a:srgbClr val="444444"/>
                </a:solidFill>
              </a:rPr>
              <a:t>).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GitHub/</a:t>
            </a:r>
            <a:r>
              <a:rPr lang="en-US" sz="1800" b="1" dirty="0" err="1">
                <a:solidFill>
                  <a:srgbClr val="444444"/>
                </a:solidFill>
              </a:rPr>
              <a:t>GitLab</a:t>
            </a:r>
            <a:r>
              <a:rPr lang="en-US" sz="1800" b="1" dirty="0">
                <a:solidFill>
                  <a:srgbClr val="444444"/>
                </a:solidFill>
              </a:rPr>
              <a:t>/</a:t>
            </a:r>
            <a:r>
              <a:rPr lang="en-US" sz="1800" b="1" dirty="0" err="1">
                <a:solidFill>
                  <a:srgbClr val="444444"/>
                </a:solidFill>
              </a:rPr>
              <a:t>Bitbucket</a:t>
            </a:r>
            <a:r>
              <a:rPr lang="en-US" sz="1800" b="1" dirty="0">
                <a:solidFill>
                  <a:srgbClr val="444444"/>
                </a:solidFill>
              </a:rPr>
              <a:t>: </a:t>
            </a:r>
            <a:r>
              <a:rPr lang="en-US" sz="1800" dirty="0" err="1">
                <a:solidFill>
                  <a:srgbClr val="444444"/>
                </a:solidFill>
              </a:rPr>
              <a:t>tárhelyszolgáltatók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és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kollaborációs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platformok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Fun fact: </a:t>
            </a:r>
            <a:r>
              <a:rPr lang="en-US" sz="1800" dirty="0">
                <a:solidFill>
                  <a:srgbClr val="444444"/>
                </a:solidFill>
              </a:rPr>
              <a:t>Linus Torvalds (a Linux </a:t>
            </a:r>
            <a:r>
              <a:rPr lang="en-US" sz="1800" dirty="0" err="1">
                <a:solidFill>
                  <a:srgbClr val="444444"/>
                </a:solidFill>
              </a:rPr>
              <a:t>atyja</a:t>
            </a:r>
            <a:r>
              <a:rPr lang="en-US" sz="1800" dirty="0">
                <a:solidFill>
                  <a:srgbClr val="444444"/>
                </a:solidFill>
              </a:rPr>
              <a:t>) </a:t>
            </a:r>
            <a:r>
              <a:rPr lang="en-US" sz="1800" dirty="0" err="1">
                <a:solidFill>
                  <a:srgbClr val="444444"/>
                </a:solidFill>
              </a:rPr>
              <a:t>mindössze</a:t>
            </a:r>
            <a:r>
              <a:rPr lang="en-US" sz="1800" dirty="0">
                <a:solidFill>
                  <a:srgbClr val="444444"/>
                </a:solidFill>
              </a:rPr>
              <a:t> kb. 2 </a:t>
            </a:r>
            <a:r>
              <a:rPr lang="en-US" sz="1800" dirty="0" err="1">
                <a:solidFill>
                  <a:srgbClr val="444444"/>
                </a:solidFill>
              </a:rPr>
              <a:t>hét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alatt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írta</a:t>
            </a:r>
            <a:r>
              <a:rPr lang="en-US" sz="1800" dirty="0">
                <a:solidFill>
                  <a:srgbClr val="444444"/>
                </a:solidFill>
              </a:rPr>
              <a:t> meg a 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alapjait</a:t>
            </a:r>
            <a:r>
              <a:rPr lang="en-US" sz="1800" dirty="0">
                <a:solidFill>
                  <a:srgbClr val="444444"/>
                </a:solidFill>
              </a:rPr>
              <a:t>, </a:t>
            </a:r>
            <a:r>
              <a:rPr lang="en-US" sz="1800" dirty="0" err="1">
                <a:solidFill>
                  <a:srgbClr val="444444"/>
                </a:solidFill>
              </a:rPr>
              <a:t>mert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dühös</a:t>
            </a:r>
            <a:r>
              <a:rPr lang="en-US" sz="1800" dirty="0">
                <a:solidFill>
                  <a:srgbClr val="444444"/>
                </a:solidFill>
              </a:rPr>
              <a:t> volt a </a:t>
            </a:r>
            <a:r>
              <a:rPr lang="en-US" sz="1800" dirty="0" err="1">
                <a:solidFill>
                  <a:srgbClr val="444444"/>
                </a:solidFill>
              </a:rPr>
              <a:t>korábbi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rendszerre</a:t>
            </a:r>
            <a:r>
              <a:rPr lang="en-US" sz="1800" dirty="0">
                <a:solidFill>
                  <a:srgbClr val="444444"/>
                </a:solidFill>
              </a:rPr>
              <a:t> (</a:t>
            </a:r>
            <a:r>
              <a:rPr lang="en-US" sz="1800" dirty="0" err="1">
                <a:solidFill>
                  <a:srgbClr val="444444"/>
                </a:solidFill>
              </a:rPr>
              <a:t>BitKeeper</a:t>
            </a:r>
            <a:r>
              <a:rPr lang="en-US" sz="1800" dirty="0">
                <a:solidFill>
                  <a:srgbClr val="444444"/>
                </a:solidFill>
              </a:rPr>
              <a:t>). A </a:t>
            </a:r>
            <a:r>
              <a:rPr lang="en-US" sz="1800" dirty="0" err="1">
                <a:solidFill>
                  <a:srgbClr val="444444"/>
                </a:solidFill>
              </a:rPr>
              <a:t>név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jelentése</a:t>
            </a:r>
            <a:r>
              <a:rPr lang="en-US" sz="1800" dirty="0">
                <a:solidFill>
                  <a:srgbClr val="444444"/>
                </a:solidFill>
              </a:rPr>
              <a:t> a brit </a:t>
            </a:r>
            <a:r>
              <a:rPr lang="en-US" sz="1800" dirty="0" err="1">
                <a:solidFill>
                  <a:srgbClr val="444444"/>
                </a:solidFill>
              </a:rPr>
              <a:t>szlengben</a:t>
            </a:r>
            <a:r>
              <a:rPr lang="en-US" sz="1800" dirty="0">
                <a:solidFill>
                  <a:srgbClr val="444444"/>
                </a:solidFill>
              </a:rPr>
              <a:t>: "</a:t>
            </a:r>
            <a:r>
              <a:rPr lang="en-US" sz="1800" dirty="0" err="1">
                <a:solidFill>
                  <a:srgbClr val="444444"/>
                </a:solidFill>
              </a:rPr>
              <a:t>idióta</a:t>
            </a:r>
            <a:r>
              <a:rPr lang="en-US" sz="1800" dirty="0">
                <a:solidFill>
                  <a:srgbClr val="444444"/>
                </a:solidFill>
              </a:rPr>
              <a:t>/</a:t>
            </a:r>
            <a:r>
              <a:rPr lang="en-US" sz="1800" dirty="0" err="1">
                <a:solidFill>
                  <a:srgbClr val="444444"/>
                </a:solidFill>
              </a:rPr>
              <a:t>tahó</a:t>
            </a:r>
            <a:r>
              <a:rPr lang="en-US" sz="1800" dirty="0">
                <a:solidFill>
                  <a:srgbClr val="444444"/>
                </a:solidFill>
              </a:rPr>
              <a:t>". Linus </a:t>
            </a:r>
            <a:r>
              <a:rPr lang="en-US" sz="1800" dirty="0" err="1">
                <a:solidFill>
                  <a:srgbClr val="444444"/>
                </a:solidFill>
              </a:rPr>
              <a:t>szerint</a:t>
            </a:r>
            <a:r>
              <a:rPr lang="en-US" sz="1800" dirty="0">
                <a:solidFill>
                  <a:srgbClr val="444444"/>
                </a:solidFill>
              </a:rPr>
              <a:t>: "I'm an egotistical bastard, and I name all my projects after myself. First 'Linux', now '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'."</a:t>
            </a:r>
            <a:endParaRPr lang="en-US" sz="1400" dirty="0">
              <a:solidFill>
                <a:srgbClr val="444444"/>
              </a:solidFill>
            </a:endParaRPr>
          </a:p>
          <a:p>
            <a:pPr marL="0" indent="0">
              <a:lnSpc>
                <a:spcPct val="130000"/>
              </a:lnSpc>
              <a:buClr>
                <a:srgbClr val="2FC2D9"/>
              </a:buClr>
              <a:buNone/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Git</a:t>
            </a:r>
            <a:r>
              <a:rPr lang="en-US" dirty="0">
                <a:latin typeface="+mn-lt"/>
              </a:rPr>
              <a:t> vs. </a:t>
            </a:r>
            <a:r>
              <a:rPr lang="en-US" dirty="0" err="1">
                <a:latin typeface="+mn-lt"/>
              </a:rPr>
              <a:t>Github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397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 </a:t>
            </a:r>
            <a:r>
              <a:rPr lang="en-US" dirty="0" err="1">
                <a:latin typeface="+mn-lt"/>
              </a:rPr>
              <a:t>Git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architektúrája</a:t>
            </a:r>
            <a:endParaRPr lang="en-US" dirty="0">
              <a:latin typeface="+mn-lt"/>
            </a:endParaRPr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60363" y="1319215"/>
            <a:ext cx="8329612" cy="30074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Working Directory: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ahol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fájlokat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szerkesztjük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Staging Area (Index): </a:t>
            </a:r>
            <a:r>
              <a:rPr lang="en-US" sz="1800" dirty="0">
                <a:solidFill>
                  <a:srgbClr val="444444"/>
                </a:solidFill>
              </a:rPr>
              <a:t>a “puffer”, ide </a:t>
            </a:r>
            <a:r>
              <a:rPr lang="en-US" sz="1800" dirty="0" err="1">
                <a:solidFill>
                  <a:srgbClr val="444444"/>
                </a:solidFill>
              </a:rPr>
              <a:t>készítjük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össze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következő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csomagot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Repository (.</a:t>
            </a: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</a:t>
            </a:r>
            <a:r>
              <a:rPr lang="en-US" sz="1800" b="1" dirty="0" err="1">
                <a:solidFill>
                  <a:srgbClr val="444444"/>
                </a:solidFill>
              </a:rPr>
              <a:t>mappa</a:t>
            </a:r>
            <a:r>
              <a:rPr lang="en-US" sz="1800" b="1" dirty="0">
                <a:solidFill>
                  <a:srgbClr val="444444"/>
                </a:solidFill>
              </a:rPr>
              <a:t>):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ahol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tárolja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véglegesített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pillanatképeket</a:t>
            </a:r>
            <a:r>
              <a:rPr lang="en-US" sz="1800" dirty="0">
                <a:solidFill>
                  <a:srgbClr val="444444"/>
                </a:solidFill>
              </a:rPr>
              <a:t> (snapshots).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dirty="0" err="1"/>
              <a:t>git</a:t>
            </a:r>
            <a:r>
              <a:rPr lang="en-US" dirty="0"/>
              <a:t> add -&gt; </a:t>
            </a:r>
            <a:r>
              <a:rPr lang="en-US" dirty="0" err="1"/>
              <a:t>mozgatás</a:t>
            </a:r>
            <a:r>
              <a:rPr lang="en-US" dirty="0"/>
              <a:t> a Stage-re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dirty="0" err="1"/>
              <a:t>git</a:t>
            </a:r>
            <a:r>
              <a:rPr lang="en-US" dirty="0"/>
              <a:t> commit -&gt; </a:t>
            </a:r>
            <a:r>
              <a:rPr lang="en-US" dirty="0" err="1"/>
              <a:t>mozgatás</a:t>
            </a:r>
            <a:r>
              <a:rPr lang="en-US" dirty="0"/>
              <a:t> a </a:t>
            </a:r>
            <a:r>
              <a:rPr lang="en-US" dirty="0" err="1"/>
              <a:t>mentett</a:t>
            </a:r>
            <a:r>
              <a:rPr lang="en-US" dirty="0"/>
              <a:t> </a:t>
            </a:r>
            <a:r>
              <a:rPr lang="en-US" dirty="0" err="1"/>
              <a:t>történetbe</a:t>
            </a:r>
            <a:endParaRPr lang="en-US" sz="14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80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Git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objektum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modell</a:t>
            </a:r>
            <a:endParaRPr lang="en-US" dirty="0">
              <a:latin typeface="+mn-lt"/>
            </a:endParaRP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07194" y="1030890"/>
            <a:ext cx="8329612" cy="37580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2000" b="1" dirty="0">
                <a:solidFill>
                  <a:srgbClr val="444444"/>
                </a:solidFill>
              </a:rPr>
              <a:t>Blob: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fájl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tartalom</a:t>
            </a:r>
            <a:endParaRPr lang="en-US" sz="20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2000" b="1" dirty="0">
                <a:solidFill>
                  <a:srgbClr val="444444"/>
                </a:solidFill>
              </a:rPr>
              <a:t>Tree: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könyvtár-szerkezet</a:t>
            </a:r>
            <a:r>
              <a:rPr lang="en-US" sz="2000" dirty="0">
                <a:solidFill>
                  <a:srgbClr val="444444"/>
                </a:solidFill>
              </a:rPr>
              <a:t>: </a:t>
            </a:r>
            <a:r>
              <a:rPr lang="en-US" sz="2000" dirty="0" err="1">
                <a:solidFill>
                  <a:srgbClr val="444444"/>
                </a:solidFill>
              </a:rPr>
              <a:t>blobokra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és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más</a:t>
            </a:r>
            <a:r>
              <a:rPr lang="en-US" sz="2000" dirty="0">
                <a:solidFill>
                  <a:srgbClr val="444444"/>
                </a:solidFill>
              </a:rPr>
              <a:t> tree-</a:t>
            </a:r>
            <a:r>
              <a:rPr lang="en-US" sz="2000" dirty="0" err="1">
                <a:solidFill>
                  <a:srgbClr val="444444"/>
                </a:solidFill>
              </a:rPr>
              <a:t>kre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mutató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pointerek</a:t>
            </a:r>
            <a:endParaRPr lang="en-US" sz="20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2000" b="1" dirty="0">
                <a:solidFill>
                  <a:srgbClr val="444444"/>
                </a:solidFill>
              </a:rPr>
              <a:t>Commit: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egy</a:t>
            </a:r>
            <a:r>
              <a:rPr lang="en-US" sz="2000" dirty="0">
                <a:solidFill>
                  <a:srgbClr val="444444"/>
                </a:solidFill>
              </a:rPr>
              <a:t> tree + </a:t>
            </a:r>
            <a:r>
              <a:rPr lang="en-US" sz="2000" dirty="0" err="1">
                <a:solidFill>
                  <a:srgbClr val="444444"/>
                </a:solidFill>
              </a:rPr>
              <a:t>metaadat</a:t>
            </a:r>
            <a:r>
              <a:rPr lang="en-US" sz="2000" dirty="0">
                <a:solidFill>
                  <a:srgbClr val="444444"/>
                </a:solidFill>
              </a:rPr>
              <a:t> (</a:t>
            </a:r>
            <a:r>
              <a:rPr lang="en-US" sz="2000" dirty="0" err="1">
                <a:solidFill>
                  <a:srgbClr val="444444"/>
                </a:solidFill>
              </a:rPr>
              <a:t>szerző</a:t>
            </a:r>
            <a:r>
              <a:rPr lang="en-US" sz="2000" dirty="0">
                <a:solidFill>
                  <a:srgbClr val="444444"/>
                </a:solidFill>
              </a:rPr>
              <a:t>, </a:t>
            </a:r>
            <a:r>
              <a:rPr lang="en-US" sz="2000" dirty="0" err="1">
                <a:solidFill>
                  <a:srgbClr val="444444"/>
                </a:solidFill>
              </a:rPr>
              <a:t>időbélyeg</a:t>
            </a:r>
            <a:r>
              <a:rPr lang="en-US" sz="2000" dirty="0">
                <a:solidFill>
                  <a:srgbClr val="444444"/>
                </a:solidFill>
              </a:rPr>
              <a:t>, </a:t>
            </a:r>
            <a:r>
              <a:rPr lang="en-US" sz="2000" dirty="0" err="1">
                <a:solidFill>
                  <a:srgbClr val="444444"/>
                </a:solidFill>
              </a:rPr>
              <a:t>üzenet</a:t>
            </a:r>
            <a:r>
              <a:rPr lang="en-US" sz="2000" dirty="0">
                <a:solidFill>
                  <a:srgbClr val="444444"/>
                </a:solidFill>
              </a:rPr>
              <a:t>, </a:t>
            </a:r>
            <a:r>
              <a:rPr lang="en-US" sz="2000" dirty="0" err="1">
                <a:solidFill>
                  <a:srgbClr val="444444"/>
                </a:solidFill>
              </a:rPr>
              <a:t>szülő</a:t>
            </a:r>
            <a:r>
              <a:rPr lang="en-US" sz="2000" dirty="0">
                <a:solidFill>
                  <a:srgbClr val="444444"/>
                </a:solidFill>
              </a:rPr>
              <a:t> commit hash)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2000" b="1" dirty="0">
                <a:solidFill>
                  <a:srgbClr val="444444"/>
                </a:solidFill>
              </a:rPr>
              <a:t>Tag: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annotált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hivatkozás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egy</a:t>
            </a:r>
            <a:r>
              <a:rPr lang="en-US" sz="2000" dirty="0">
                <a:solidFill>
                  <a:srgbClr val="444444"/>
                </a:solidFill>
              </a:rPr>
              <a:t> commit-</a:t>
            </a:r>
            <a:r>
              <a:rPr lang="en-US" sz="2000" dirty="0" err="1">
                <a:solidFill>
                  <a:srgbClr val="444444"/>
                </a:solidFill>
              </a:rPr>
              <a:t>ra</a:t>
            </a:r>
            <a:r>
              <a:rPr lang="en-US" sz="2000" dirty="0">
                <a:solidFill>
                  <a:srgbClr val="444444"/>
                </a:solidFill>
              </a:rPr>
              <a:t> (release-</a:t>
            </a:r>
            <a:r>
              <a:rPr lang="en-US" sz="2000" dirty="0" err="1">
                <a:solidFill>
                  <a:srgbClr val="444444"/>
                </a:solidFill>
              </a:rPr>
              <a:t>eknél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használják</a:t>
            </a:r>
            <a:r>
              <a:rPr lang="en-US" sz="2000" dirty="0">
                <a:solidFill>
                  <a:srgbClr val="444444"/>
                </a:solidFill>
              </a:rPr>
              <a:t>)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2000" dirty="0">
                <a:solidFill>
                  <a:srgbClr val="444444"/>
                </a:solidFill>
              </a:rPr>
              <a:t>A Git SHA-1 hash-t </a:t>
            </a:r>
            <a:r>
              <a:rPr lang="en-US" sz="2000" dirty="0" err="1">
                <a:solidFill>
                  <a:srgbClr val="444444"/>
                </a:solidFill>
              </a:rPr>
              <a:t>használ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az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objektumok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azonosításához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és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az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adatintegritás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en-US" sz="2000" dirty="0" err="1">
                <a:solidFill>
                  <a:srgbClr val="444444"/>
                </a:solidFill>
              </a:rPr>
              <a:t>biztosításához</a:t>
            </a:r>
            <a:r>
              <a:rPr lang="en-US" sz="20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30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Fontosabb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parancsok</a:t>
            </a:r>
            <a:endParaRPr lang="en-US" dirty="0">
              <a:latin typeface="+mn-lt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60363" y="1319215"/>
            <a:ext cx="8329612" cy="37441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</a:t>
            </a:r>
            <a:r>
              <a:rPr lang="en-US" sz="1800" b="1" dirty="0" err="1">
                <a:solidFill>
                  <a:srgbClr val="444444"/>
                </a:solidFill>
              </a:rPr>
              <a:t>init</a:t>
            </a:r>
            <a:r>
              <a:rPr lang="en-US" sz="1800" b="1" dirty="0">
                <a:solidFill>
                  <a:srgbClr val="444444"/>
                </a:solidFill>
              </a:rPr>
              <a:t>: </a:t>
            </a:r>
            <a:r>
              <a:rPr lang="en-US" sz="1800" dirty="0" err="1">
                <a:solidFill>
                  <a:srgbClr val="444444"/>
                </a:solidFill>
              </a:rPr>
              <a:t>új</a:t>
            </a:r>
            <a:r>
              <a:rPr lang="en-US" sz="1800" dirty="0">
                <a:solidFill>
                  <a:srgbClr val="444444"/>
                </a:solidFill>
              </a:rPr>
              <a:t> project </a:t>
            </a:r>
            <a:r>
              <a:rPr lang="en-US" sz="1800" dirty="0" err="1">
                <a:solidFill>
                  <a:srgbClr val="444444"/>
                </a:solidFill>
              </a:rPr>
              <a:t>kezdése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clone: </a:t>
            </a:r>
            <a:r>
              <a:rPr lang="en-US" sz="1800" dirty="0" err="1">
                <a:solidFill>
                  <a:srgbClr val="444444"/>
                </a:solidFill>
              </a:rPr>
              <a:t>létező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projekt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letöltése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status: </a:t>
            </a:r>
            <a:r>
              <a:rPr lang="en-US" sz="1800" dirty="0">
                <a:solidFill>
                  <a:srgbClr val="444444"/>
                </a:solidFill>
              </a:rPr>
              <a:t>a repository </a:t>
            </a:r>
            <a:r>
              <a:rPr lang="en-US" sz="1800" dirty="0" err="1">
                <a:solidFill>
                  <a:srgbClr val="444444"/>
                </a:solidFill>
              </a:rPr>
              <a:t>aktuális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állapotának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megjelenítésére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szolgál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add . : </a:t>
            </a:r>
            <a:r>
              <a:rPr lang="en-US" sz="1800" dirty="0" err="1">
                <a:solidFill>
                  <a:srgbClr val="444444"/>
                </a:solidFill>
              </a:rPr>
              <a:t>minden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változás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előkészítése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commit –m “</a:t>
            </a:r>
            <a:r>
              <a:rPr lang="en-US" sz="1800" b="1" dirty="0" err="1">
                <a:solidFill>
                  <a:srgbClr val="444444"/>
                </a:solidFill>
              </a:rPr>
              <a:t>üzenet</a:t>
            </a:r>
            <a:r>
              <a:rPr lang="en-US" sz="1800" b="1" dirty="0">
                <a:solidFill>
                  <a:srgbClr val="444444"/>
                </a:solidFill>
              </a:rPr>
              <a:t>”: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pillanatkép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mentése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log: </a:t>
            </a:r>
            <a:r>
              <a:rPr lang="en-US" sz="1800" dirty="0">
                <a:solidFill>
                  <a:srgbClr val="444444"/>
                </a:solidFill>
              </a:rPr>
              <a:t>a </a:t>
            </a:r>
            <a:r>
              <a:rPr lang="en-US" sz="1800" dirty="0" err="1">
                <a:solidFill>
                  <a:srgbClr val="444444"/>
                </a:solidFill>
              </a:rPr>
              <a:t>múlt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áttekintése</a:t>
            </a:r>
            <a:endParaRPr lang="en-US" sz="18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18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Távoli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elérés</a:t>
            </a:r>
            <a:r>
              <a:rPr lang="en-US" dirty="0">
                <a:latin typeface="+mn-lt"/>
              </a:rPr>
              <a:t> (Collaboration)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407194" y="1308941"/>
            <a:ext cx="8329612" cy="30649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remote add origin &lt;</a:t>
            </a:r>
            <a:r>
              <a:rPr lang="en-US" sz="1800" b="1" dirty="0" err="1">
                <a:solidFill>
                  <a:srgbClr val="444444"/>
                </a:solidFill>
              </a:rPr>
              <a:t>url</a:t>
            </a:r>
            <a:r>
              <a:rPr lang="en-US" sz="1800" b="1" dirty="0">
                <a:solidFill>
                  <a:srgbClr val="444444"/>
                </a:solidFill>
              </a:rPr>
              <a:t>&gt;:</a:t>
            </a:r>
            <a:r>
              <a:rPr lang="en-US" sz="1800" dirty="0">
                <a:solidFill>
                  <a:srgbClr val="444444"/>
                </a:solidFill>
              </a:rPr>
              <a:t> remote repository </a:t>
            </a:r>
            <a:r>
              <a:rPr lang="en-US" sz="1800" dirty="0" err="1">
                <a:solidFill>
                  <a:srgbClr val="444444"/>
                </a:solidFill>
              </a:rPr>
              <a:t>kapcsolat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létrehozására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szolgál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lokális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repository </a:t>
            </a:r>
            <a:r>
              <a:rPr lang="en-US" sz="1800" dirty="0" err="1">
                <a:solidFill>
                  <a:srgbClr val="444444"/>
                </a:solidFill>
              </a:rPr>
              <a:t>és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egy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távoli</a:t>
            </a:r>
            <a:r>
              <a:rPr lang="en-US" sz="1800" dirty="0">
                <a:solidFill>
                  <a:srgbClr val="444444"/>
                </a:solidFill>
              </a:rPr>
              <a:t> repository </a:t>
            </a:r>
            <a:r>
              <a:rPr lang="en-US" sz="1800" dirty="0" err="1">
                <a:solidFill>
                  <a:srgbClr val="444444"/>
                </a:solidFill>
              </a:rPr>
              <a:t>között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  <a:endParaRPr lang="en-US" sz="18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push: </a:t>
            </a:r>
            <a:r>
              <a:rPr lang="en-US" sz="1800" dirty="0" err="1">
                <a:solidFill>
                  <a:srgbClr val="444444"/>
                </a:solidFill>
              </a:rPr>
              <a:t>saját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kód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feltöltése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pull: </a:t>
            </a:r>
            <a:r>
              <a:rPr lang="en-US" sz="1800" dirty="0" err="1">
                <a:solidFill>
                  <a:srgbClr val="444444"/>
                </a:solidFill>
              </a:rPr>
              <a:t>mások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kódjának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letöltése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és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összefésülése</a:t>
            </a:r>
            <a:endParaRPr lang="en-US" sz="18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git</a:t>
            </a:r>
            <a:r>
              <a:rPr lang="en-US" sz="1800" b="1" dirty="0">
                <a:solidFill>
                  <a:srgbClr val="444444"/>
                </a:solidFill>
              </a:rPr>
              <a:t> fetch: </a:t>
            </a:r>
            <a:r>
              <a:rPr lang="en-US" sz="1800" dirty="0" err="1">
                <a:solidFill>
                  <a:srgbClr val="444444"/>
                </a:solidFill>
              </a:rPr>
              <a:t>csak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megnézzük</a:t>
            </a:r>
            <a:r>
              <a:rPr lang="en-US" sz="1800" dirty="0">
                <a:solidFill>
                  <a:srgbClr val="444444"/>
                </a:solidFill>
              </a:rPr>
              <a:t>, mi van a </a:t>
            </a:r>
            <a:r>
              <a:rPr lang="en-US" sz="1800" dirty="0" err="1">
                <a:solidFill>
                  <a:srgbClr val="444444"/>
                </a:solidFill>
              </a:rPr>
              <a:t>szerveren</a:t>
            </a:r>
            <a:r>
              <a:rPr lang="en-US" sz="1800" dirty="0">
                <a:solidFill>
                  <a:srgbClr val="444444"/>
                </a:solidFill>
              </a:rPr>
              <a:t>, de </a:t>
            </a:r>
            <a:r>
              <a:rPr lang="en-US" sz="1800" dirty="0" err="1">
                <a:solidFill>
                  <a:srgbClr val="444444"/>
                </a:solidFill>
              </a:rPr>
              <a:t>nem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nyúlunk</a:t>
            </a:r>
            <a:r>
              <a:rPr lang="en-US" sz="1800" dirty="0">
                <a:solidFill>
                  <a:srgbClr val="444444"/>
                </a:solidFill>
              </a:rPr>
              <a:t> a </a:t>
            </a:r>
            <a:r>
              <a:rPr lang="en-US" sz="1800" dirty="0" err="1">
                <a:solidFill>
                  <a:srgbClr val="444444"/>
                </a:solidFill>
              </a:rPr>
              <a:t>kódunkhoz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  <a:endParaRPr lang="en-US" sz="18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87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Branching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407194" y="1308941"/>
            <a:ext cx="8329612" cy="25073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Branch: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egy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elkülönített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fejlesztési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ág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 err="1">
                <a:solidFill>
                  <a:srgbClr val="444444"/>
                </a:solidFill>
              </a:rPr>
              <a:t>Lehetővé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teszi</a:t>
            </a:r>
            <a:r>
              <a:rPr lang="en-US" sz="1800" dirty="0">
                <a:solidFill>
                  <a:srgbClr val="444444"/>
                </a:solidFill>
              </a:rPr>
              <a:t>: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 err="1">
                <a:solidFill>
                  <a:srgbClr val="444444"/>
                </a:solidFill>
              </a:rPr>
              <a:t>az</a:t>
            </a:r>
            <a:r>
              <a:rPr lang="en-US" sz="1600" dirty="0">
                <a:solidFill>
                  <a:srgbClr val="444444"/>
                </a:solidFill>
              </a:rPr>
              <a:t> </a:t>
            </a:r>
            <a:r>
              <a:rPr lang="en-US" sz="1600" dirty="0" err="1">
                <a:solidFill>
                  <a:srgbClr val="444444"/>
                </a:solidFill>
              </a:rPr>
              <a:t>új</a:t>
            </a:r>
            <a:r>
              <a:rPr lang="en-US" sz="1600" dirty="0">
                <a:solidFill>
                  <a:srgbClr val="444444"/>
                </a:solidFill>
              </a:rPr>
              <a:t> feature-</a:t>
            </a:r>
            <a:r>
              <a:rPr lang="en-US" sz="1600" dirty="0" err="1">
                <a:solidFill>
                  <a:srgbClr val="444444"/>
                </a:solidFill>
              </a:rPr>
              <a:t>ök</a:t>
            </a:r>
            <a:r>
              <a:rPr lang="en-US" sz="1600" dirty="0">
                <a:solidFill>
                  <a:srgbClr val="444444"/>
                </a:solidFill>
              </a:rPr>
              <a:t> </a:t>
            </a:r>
            <a:r>
              <a:rPr lang="en-US" sz="1600" dirty="0" err="1">
                <a:solidFill>
                  <a:srgbClr val="444444"/>
                </a:solidFill>
              </a:rPr>
              <a:t>biztonságos</a:t>
            </a:r>
            <a:r>
              <a:rPr lang="en-US" sz="1600" dirty="0">
                <a:solidFill>
                  <a:srgbClr val="444444"/>
                </a:solidFill>
              </a:rPr>
              <a:t> </a:t>
            </a:r>
            <a:r>
              <a:rPr lang="en-US" sz="1600" dirty="0" err="1">
                <a:solidFill>
                  <a:srgbClr val="444444"/>
                </a:solidFill>
              </a:rPr>
              <a:t>fejlesztését</a:t>
            </a:r>
            <a:endParaRPr lang="en-US" sz="1600" dirty="0">
              <a:solidFill>
                <a:srgbClr val="444444"/>
              </a:solidFill>
            </a:endParaRP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 err="1">
                <a:solidFill>
                  <a:srgbClr val="444444"/>
                </a:solidFill>
              </a:rPr>
              <a:t>Kísérletezést</a:t>
            </a:r>
            <a:endParaRPr lang="en-US" sz="1600" dirty="0">
              <a:solidFill>
                <a:srgbClr val="444444"/>
              </a:solidFill>
            </a:endParaRP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 err="1">
                <a:solidFill>
                  <a:srgbClr val="444444"/>
                </a:solidFill>
              </a:rPr>
              <a:t>Hibajavítást</a:t>
            </a:r>
            <a:endParaRPr lang="en-US" sz="16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</a:t>
            </a:r>
            <a:r>
              <a:rPr lang="en-US" sz="1800" dirty="0" err="1">
                <a:solidFill>
                  <a:srgbClr val="444444"/>
                </a:solidFill>
              </a:rPr>
              <a:t>cél</a:t>
            </a:r>
            <a:r>
              <a:rPr lang="en-US" sz="1800" dirty="0">
                <a:solidFill>
                  <a:srgbClr val="444444"/>
                </a:solidFill>
              </a:rPr>
              <a:t>, </a:t>
            </a:r>
            <a:r>
              <a:rPr lang="en-US" sz="1800" dirty="0" err="1">
                <a:solidFill>
                  <a:srgbClr val="444444"/>
                </a:solidFill>
              </a:rPr>
              <a:t>hogy</a:t>
            </a:r>
            <a:r>
              <a:rPr lang="en-US" sz="1800" dirty="0">
                <a:solidFill>
                  <a:srgbClr val="444444"/>
                </a:solidFill>
              </a:rPr>
              <a:t> a main (</a:t>
            </a:r>
            <a:r>
              <a:rPr lang="en-US" sz="1800" dirty="0" err="1">
                <a:solidFill>
                  <a:srgbClr val="444444"/>
                </a:solidFill>
              </a:rPr>
              <a:t>vagy</a:t>
            </a:r>
            <a:r>
              <a:rPr lang="en-US" sz="1800" dirty="0">
                <a:solidFill>
                  <a:srgbClr val="444444"/>
                </a:solidFill>
              </a:rPr>
              <a:t> master) branch </a:t>
            </a:r>
            <a:r>
              <a:rPr lang="en-US" sz="1800" dirty="0" err="1">
                <a:solidFill>
                  <a:srgbClr val="444444"/>
                </a:solidFill>
              </a:rPr>
              <a:t>mindig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maradjon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stabil</a:t>
            </a:r>
            <a:r>
              <a:rPr lang="en-US" sz="1800" dirty="0">
                <a:solidFill>
                  <a:srgbClr val="444444"/>
                </a:solidFill>
              </a:rPr>
              <a:t>/</a:t>
            </a:r>
            <a:r>
              <a:rPr lang="en-US" sz="1800" dirty="0" err="1">
                <a:solidFill>
                  <a:srgbClr val="444444"/>
                </a:solidFill>
              </a:rPr>
              <a:t>futtatható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256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branch-</a:t>
            </a:r>
            <a:r>
              <a:rPr lang="en-US" sz="1800" dirty="0" err="1">
                <a:solidFill>
                  <a:srgbClr val="444444"/>
                </a:solidFill>
              </a:rPr>
              <a:t>ek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egyesítésére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szolgál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Ha </a:t>
            </a:r>
            <a:r>
              <a:rPr lang="en-US" sz="1800" dirty="0" err="1">
                <a:solidFill>
                  <a:srgbClr val="444444"/>
                </a:solidFill>
              </a:rPr>
              <a:t>ugyanazt</a:t>
            </a:r>
            <a:r>
              <a:rPr lang="en-US" sz="1800" dirty="0">
                <a:solidFill>
                  <a:srgbClr val="444444"/>
                </a:solidFill>
              </a:rPr>
              <a:t> a sort </a:t>
            </a:r>
            <a:r>
              <a:rPr lang="en-US" sz="1800" dirty="0" err="1">
                <a:solidFill>
                  <a:srgbClr val="444444"/>
                </a:solidFill>
              </a:rPr>
              <a:t>többen</a:t>
            </a:r>
            <a:r>
              <a:rPr lang="en-US" sz="1800" dirty="0">
                <a:solidFill>
                  <a:srgbClr val="444444"/>
                </a:solidFill>
              </a:rPr>
              <a:t> is </a:t>
            </a:r>
            <a:r>
              <a:rPr lang="en-US" sz="1800" dirty="0" err="1">
                <a:solidFill>
                  <a:srgbClr val="444444"/>
                </a:solidFill>
              </a:rPr>
              <a:t>módosították</a:t>
            </a:r>
            <a:r>
              <a:rPr lang="en-US" sz="1800" dirty="0">
                <a:solidFill>
                  <a:srgbClr val="444444"/>
                </a:solidFill>
              </a:rPr>
              <a:t>, merge conflict </a:t>
            </a:r>
            <a:r>
              <a:rPr lang="en-US" sz="1800" dirty="0" err="1">
                <a:solidFill>
                  <a:srgbClr val="444444"/>
                </a:solidFill>
              </a:rPr>
              <a:t>jön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létre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</a:t>
            </a:r>
            <a:r>
              <a:rPr lang="en-US" sz="1800" dirty="0" err="1">
                <a:solidFill>
                  <a:srgbClr val="444444"/>
                </a:solidFill>
              </a:rPr>
              <a:t>konfliktus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manuális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szerkesztéssel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feloldható</a:t>
            </a:r>
            <a:r>
              <a:rPr lang="en-US" sz="1800" dirty="0">
                <a:solidFill>
                  <a:srgbClr val="444444"/>
                </a:solidFill>
              </a:rPr>
              <a:t>, </a:t>
            </a:r>
            <a:r>
              <a:rPr lang="en-US" sz="1800" dirty="0" err="1">
                <a:solidFill>
                  <a:srgbClr val="444444"/>
                </a:solidFill>
              </a:rPr>
              <a:t>amit</a:t>
            </a:r>
            <a:r>
              <a:rPr lang="en-US" sz="1800" dirty="0">
                <a:solidFill>
                  <a:srgbClr val="444444"/>
                </a:solidFill>
              </a:rPr>
              <a:t> a normal 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workflow </a:t>
            </a:r>
            <a:r>
              <a:rPr lang="en-US" sz="1800" dirty="0" err="1">
                <a:solidFill>
                  <a:srgbClr val="444444"/>
                </a:solidFill>
              </a:rPr>
              <a:t>követ</a:t>
            </a:r>
            <a:r>
              <a:rPr lang="en-US" sz="1800" dirty="0">
                <a:solidFill>
                  <a:srgbClr val="444444"/>
                </a:solidFill>
              </a:rPr>
              <a:t> (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add, </a:t>
            </a:r>
            <a:r>
              <a:rPr lang="en-US" sz="1800" dirty="0" err="1">
                <a:solidFill>
                  <a:srgbClr val="444444"/>
                </a:solidFill>
              </a:rPr>
              <a:t>git</a:t>
            </a:r>
            <a:r>
              <a:rPr lang="en-US" sz="1800" dirty="0">
                <a:solidFill>
                  <a:srgbClr val="444444"/>
                </a:solidFill>
              </a:rPr>
              <a:t> commit).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Merge (pull) request: 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Code review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 err="1">
                <a:solidFill>
                  <a:srgbClr val="444444"/>
                </a:solidFill>
              </a:rPr>
              <a:t>csapatmunka</a:t>
            </a:r>
            <a:endParaRPr lang="en-US" sz="1600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4924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7FAE-106B-C571-112A-EEC25395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D056A-9740-077F-D929-31E452CB2E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Merge vs. Rebase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E30B64F-2D64-946F-13E7-1EBDA6EF68D3}"/>
              </a:ext>
            </a:extLst>
          </p:cNvPr>
          <p:cNvSpPr/>
          <p:nvPr/>
        </p:nvSpPr>
        <p:spPr>
          <a:xfrm>
            <a:off x="274320" y="779958"/>
            <a:ext cx="41148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BCAADF1-AFA7-1767-4F53-CB8F0004B709}"/>
              </a:ext>
            </a:extLst>
          </p:cNvPr>
          <p:cNvSpPr/>
          <p:nvPr/>
        </p:nvSpPr>
        <p:spPr>
          <a:xfrm>
            <a:off x="274320" y="779958"/>
            <a:ext cx="4114800" cy="4114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564BD75-1667-2193-E8E0-882F316079BC}"/>
              </a:ext>
            </a:extLst>
          </p:cNvPr>
          <p:cNvSpPr/>
          <p:nvPr/>
        </p:nvSpPr>
        <p:spPr>
          <a:xfrm>
            <a:off x="365760" y="798246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F4A59A6-F40C-DD2C-C908-F3BE2CC62632}"/>
              </a:ext>
            </a:extLst>
          </p:cNvPr>
          <p:cNvSpPr/>
          <p:nvPr/>
        </p:nvSpPr>
        <p:spPr>
          <a:xfrm>
            <a:off x="411480" y="127373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működik?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2E92FA2-0A69-E3D6-2BEC-9F9BAB6BEFAC}"/>
              </a:ext>
            </a:extLst>
          </p:cNvPr>
          <p:cNvSpPr/>
          <p:nvPr/>
        </p:nvSpPr>
        <p:spPr>
          <a:xfrm>
            <a:off x="411480" y="154805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'merge commit'-ot hoz létre, amely összeköti a két ág historyjét. A teljes fejlesztési napló megmarad.</a:t>
            </a:r>
            <a:endParaRPr lang="en-US" sz="10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892FE76-6686-7D93-021C-C13FE124586A}"/>
              </a:ext>
            </a:extLst>
          </p:cNvPr>
          <p:cNvSpPr/>
          <p:nvPr/>
        </p:nvSpPr>
        <p:spPr>
          <a:xfrm>
            <a:off x="411480" y="221556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Előnyök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678BAEE-E924-F11C-3408-25A19B40E775}"/>
              </a:ext>
            </a:extLst>
          </p:cNvPr>
          <p:cNvSpPr/>
          <p:nvPr/>
        </p:nvSpPr>
        <p:spPr>
          <a:xfrm>
            <a:off x="502920" y="251731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Megőrzi a teljes, valós historyt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4390FA6-D360-4268-C966-81FDCBD218B3}"/>
              </a:ext>
            </a:extLst>
          </p:cNvPr>
          <p:cNvSpPr/>
          <p:nvPr/>
        </p:nvSpPr>
        <p:spPr>
          <a:xfrm>
            <a:off x="502920" y="279163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Non-destructive – meglévő commitok nem változnak</a:t>
            </a:r>
            <a:endParaRPr lang="en-US" sz="1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932D72D-FF3C-5C47-E475-1056763E9742}"/>
              </a:ext>
            </a:extLst>
          </p:cNvPr>
          <p:cNvSpPr/>
          <p:nvPr/>
        </p:nvSpPr>
        <p:spPr>
          <a:xfrm>
            <a:off x="502920" y="306595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Egyszerű, biztonságos, sharedrepo-ban is OK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D4E2CB5-10BB-F036-9A0B-D62ACA0558E4}"/>
              </a:ext>
            </a:extLst>
          </p:cNvPr>
          <p:cNvSpPr/>
          <p:nvPr/>
        </p:nvSpPr>
        <p:spPr>
          <a:xfrm>
            <a:off x="502920" y="334027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Konfliktus egyszer kell megoldani</a:t>
            </a:r>
            <a:endParaRPr lang="en-US" sz="10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C4A5E8F-50F0-81E0-56B4-640019EB84D3}"/>
              </a:ext>
            </a:extLst>
          </p:cNvPr>
          <p:cNvSpPr/>
          <p:nvPr/>
        </p:nvSpPr>
        <p:spPr>
          <a:xfrm>
            <a:off x="411480" y="363288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Hátrányok</a:t>
            </a:r>
            <a:endParaRPr lang="en-US" sz="11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9799DAF-7205-5BBD-278C-CC61C4910239}"/>
              </a:ext>
            </a:extLst>
          </p:cNvPr>
          <p:cNvSpPr/>
          <p:nvPr/>
        </p:nvSpPr>
        <p:spPr>
          <a:xfrm>
            <a:off x="502920" y="393463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'Dirty' history: sok merge commit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C9A2A78-E3D3-F630-1AF6-E10EF9408337}"/>
              </a:ext>
            </a:extLst>
          </p:cNvPr>
          <p:cNvSpPr/>
          <p:nvPr/>
        </p:nvSpPr>
        <p:spPr>
          <a:xfrm>
            <a:off x="502920" y="420895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log nehezebben olvasható</a:t>
            </a:r>
            <a:endParaRPr lang="en-US" sz="10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152693F-8113-3BF6-3136-559C5076E1FF}"/>
              </a:ext>
            </a:extLst>
          </p:cNvPr>
          <p:cNvSpPr/>
          <p:nvPr/>
        </p:nvSpPr>
        <p:spPr>
          <a:xfrm>
            <a:off x="4754880" y="779958"/>
            <a:ext cx="41148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ACA9431-9593-CA93-194F-9900AA878F36}"/>
              </a:ext>
            </a:extLst>
          </p:cNvPr>
          <p:cNvSpPr/>
          <p:nvPr/>
        </p:nvSpPr>
        <p:spPr>
          <a:xfrm>
            <a:off x="4754880" y="779958"/>
            <a:ext cx="411480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014F9FF-FB06-586D-9BA1-E456A51A65E9}"/>
              </a:ext>
            </a:extLst>
          </p:cNvPr>
          <p:cNvSpPr/>
          <p:nvPr/>
        </p:nvSpPr>
        <p:spPr>
          <a:xfrm>
            <a:off x="4846320" y="798246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F4280D5-0B39-7ABA-2039-6ACB9BE21DBF}"/>
              </a:ext>
            </a:extLst>
          </p:cNvPr>
          <p:cNvSpPr/>
          <p:nvPr/>
        </p:nvSpPr>
        <p:spPr>
          <a:xfrm>
            <a:off x="4892040" y="127373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működik?</a:t>
            </a:r>
            <a:endParaRPr lang="en-US" sz="11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165A42A-B78D-9F94-6FF0-F72C5B56D4FA}"/>
              </a:ext>
            </a:extLst>
          </p:cNvPr>
          <p:cNvSpPr/>
          <p:nvPr/>
        </p:nvSpPr>
        <p:spPr>
          <a:xfrm>
            <a:off x="4892040" y="154805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commitokat 'átírja' az új base-re. Lineáris, tiszta historyt eredményez. A commitok új hash-t kapnak!</a:t>
            </a:r>
            <a:endParaRPr lang="en-US" sz="10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A78AFB0-B616-5272-C6B9-E591223A5D45}"/>
              </a:ext>
            </a:extLst>
          </p:cNvPr>
          <p:cNvSpPr/>
          <p:nvPr/>
        </p:nvSpPr>
        <p:spPr>
          <a:xfrm>
            <a:off x="4892040" y="221556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Előnyök</a:t>
            </a:r>
            <a:endParaRPr lang="en-US" sz="11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768F923-E99D-31A5-C0B3-52DDEA73CEB3}"/>
              </a:ext>
            </a:extLst>
          </p:cNvPr>
          <p:cNvSpPr/>
          <p:nvPr/>
        </p:nvSpPr>
        <p:spPr>
          <a:xfrm>
            <a:off x="4983480" y="251731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Tiszta, lineáris commit history</a:t>
            </a:r>
            <a:endParaRPr lang="en-US" sz="10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316CC63F-9398-76E0-E293-F82FE50D6C55}"/>
              </a:ext>
            </a:extLst>
          </p:cNvPr>
          <p:cNvSpPr/>
          <p:nvPr/>
        </p:nvSpPr>
        <p:spPr>
          <a:xfrm>
            <a:off x="4983480" y="279163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log könnyen olvasható</a:t>
            </a:r>
            <a:endParaRPr lang="en-US" sz="10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66955FB-C37C-1373-29FA-A35108EDEE0F}"/>
              </a:ext>
            </a:extLst>
          </p:cNvPr>
          <p:cNvSpPr/>
          <p:nvPr/>
        </p:nvSpPr>
        <p:spPr>
          <a:xfrm>
            <a:off x="4983480" y="306595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review-hoz elegánsabb</a:t>
            </a:r>
            <a:endParaRPr lang="en-US" sz="1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1944885A-C132-085A-A276-F6A3D4DB2172}"/>
              </a:ext>
            </a:extLst>
          </p:cNvPr>
          <p:cNvSpPr/>
          <p:nvPr/>
        </p:nvSpPr>
        <p:spPr>
          <a:xfrm>
            <a:off x="4983480" y="334027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Interaktív rebase = commit tisztítás</a:t>
            </a:r>
            <a:endParaRPr lang="en-US" sz="10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3BDBCD1-CDF5-4EA0-4105-6B77EA10F444}"/>
              </a:ext>
            </a:extLst>
          </p:cNvPr>
          <p:cNvSpPr/>
          <p:nvPr/>
        </p:nvSpPr>
        <p:spPr>
          <a:xfrm>
            <a:off x="4892040" y="363288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Hátrányok</a:t>
            </a:r>
            <a:endParaRPr lang="en-US" sz="11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F41EE015-4F23-46A8-2EA4-3F16440DE5E7}"/>
              </a:ext>
            </a:extLst>
          </p:cNvPr>
          <p:cNvSpPr/>
          <p:nvPr/>
        </p:nvSpPr>
        <p:spPr>
          <a:xfrm>
            <a:off x="4983480" y="393463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branch-en TILOS használni!</a:t>
            </a:r>
            <a:endParaRPr lang="en-US" sz="10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43B7C6B8-DC5B-93E9-E8C3-588AC08DDE38}"/>
              </a:ext>
            </a:extLst>
          </p:cNvPr>
          <p:cNvSpPr/>
          <p:nvPr/>
        </p:nvSpPr>
        <p:spPr>
          <a:xfrm>
            <a:off x="4983480" y="420895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Konfliktust minden commitnál meg kell oldani</a:t>
            </a:r>
            <a:endParaRPr lang="en-US" sz="10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3D31CD4-3303-5AC3-FBF9-CC2552263B88}"/>
              </a:ext>
            </a:extLst>
          </p:cNvPr>
          <p:cNvSpPr/>
          <p:nvPr/>
        </p:nvSpPr>
        <p:spPr>
          <a:xfrm>
            <a:off x="4983480" y="448327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History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újraírás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483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Branching </a:t>
            </a:r>
            <a:r>
              <a:rPr lang="en-US" dirty="0" err="1">
                <a:latin typeface="+mn-lt"/>
              </a:rPr>
              <a:t>stratégiák</a:t>
            </a:r>
            <a:r>
              <a:rPr lang="en-US" dirty="0">
                <a:latin typeface="+mn-lt"/>
              </a:rPr>
              <a:t> I. – </a:t>
            </a:r>
            <a:r>
              <a:rPr lang="en-US" dirty="0" err="1">
                <a:latin typeface="+mn-lt"/>
              </a:rPr>
              <a:t>Git</a:t>
            </a:r>
            <a:r>
              <a:rPr lang="en-US" dirty="0">
                <a:latin typeface="+mn-lt"/>
              </a:rPr>
              <a:t> Flow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BBE1DB3-027E-F225-87E0-209AA66B82FB}"/>
              </a:ext>
            </a:extLst>
          </p:cNvPr>
          <p:cNvSpPr/>
          <p:nvPr/>
        </p:nvSpPr>
        <p:spPr>
          <a:xfrm>
            <a:off x="288388" y="39565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Driessen – 2010 · Enterprise &amp; scheduled release projektekhez</a:t>
            </a:r>
            <a:endParaRPr lang="en-US" sz="1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157B3F9B-C6F6-2DBF-9C78-11E8DC31A13D}"/>
              </a:ext>
            </a:extLst>
          </p:cNvPr>
          <p:cNvSpPr/>
          <p:nvPr/>
        </p:nvSpPr>
        <p:spPr>
          <a:xfrm>
            <a:off x="281354" y="742773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AB38EAA-F28A-0B47-EC89-BC493747678F}"/>
              </a:ext>
            </a:extLst>
          </p:cNvPr>
          <p:cNvSpPr/>
          <p:nvPr/>
        </p:nvSpPr>
        <p:spPr>
          <a:xfrm>
            <a:off x="281354" y="742773"/>
            <a:ext cx="146304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08FD0E3-F1F8-C0E9-7CF3-BC048CD16623}"/>
              </a:ext>
            </a:extLst>
          </p:cNvPr>
          <p:cNvSpPr/>
          <p:nvPr/>
        </p:nvSpPr>
        <p:spPr>
          <a:xfrm>
            <a:off x="299642" y="770205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A40617E-3C56-ACFF-9566-62ECA584B7F0}"/>
              </a:ext>
            </a:extLst>
          </p:cNvPr>
          <p:cNvSpPr/>
          <p:nvPr/>
        </p:nvSpPr>
        <p:spPr>
          <a:xfrm>
            <a:off x="1927274" y="834213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production-ready kód. Minden commit egy release.</a:t>
            </a:r>
            <a:endParaRPr lang="en-US" sz="11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6EEDDBA5-1536-0C76-0B51-3B0F39163EA6}"/>
              </a:ext>
            </a:extLst>
          </p:cNvPr>
          <p:cNvSpPr/>
          <p:nvPr/>
        </p:nvSpPr>
        <p:spPr>
          <a:xfrm>
            <a:off x="281354" y="1401141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33712A5B-D062-DC9E-58ED-27C91A43742D}"/>
              </a:ext>
            </a:extLst>
          </p:cNvPr>
          <p:cNvSpPr/>
          <p:nvPr/>
        </p:nvSpPr>
        <p:spPr>
          <a:xfrm>
            <a:off x="281354" y="1401141"/>
            <a:ext cx="1463040" cy="5669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90FD7B1-8380-D3B7-BC7C-B0452B18850E}"/>
              </a:ext>
            </a:extLst>
          </p:cNvPr>
          <p:cNvSpPr/>
          <p:nvPr/>
        </p:nvSpPr>
        <p:spPr>
          <a:xfrm>
            <a:off x="299642" y="1428573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2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44D483AD-7DC6-DC7E-BB08-9960F2F2D514}"/>
              </a:ext>
            </a:extLst>
          </p:cNvPr>
          <p:cNvSpPr/>
          <p:nvPr/>
        </p:nvSpPr>
        <p:spPr>
          <a:xfrm>
            <a:off x="1927274" y="1492581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Integrációs branch. Feature-ök ide merge-elnek.</a:t>
            </a:r>
            <a:endParaRPr lang="en-US" sz="11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62819521-6E7E-2B21-B8F8-5C7A424F2974}"/>
              </a:ext>
            </a:extLst>
          </p:cNvPr>
          <p:cNvSpPr/>
          <p:nvPr/>
        </p:nvSpPr>
        <p:spPr>
          <a:xfrm>
            <a:off x="281354" y="205950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26EC83BD-D1BB-654C-1D05-631FD333AD12}"/>
              </a:ext>
            </a:extLst>
          </p:cNvPr>
          <p:cNvSpPr/>
          <p:nvPr/>
        </p:nvSpPr>
        <p:spPr>
          <a:xfrm>
            <a:off x="281354" y="2059509"/>
            <a:ext cx="146304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21F12F8-9E21-F164-2CE0-D897ED0C09A9}"/>
              </a:ext>
            </a:extLst>
          </p:cNvPr>
          <p:cNvSpPr/>
          <p:nvPr/>
        </p:nvSpPr>
        <p:spPr>
          <a:xfrm>
            <a:off x="299642" y="2086941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2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CC430570-E98D-2B4D-93D6-232662B3D6EB}"/>
              </a:ext>
            </a:extLst>
          </p:cNvPr>
          <p:cNvSpPr/>
          <p:nvPr/>
        </p:nvSpPr>
        <p:spPr>
          <a:xfrm>
            <a:off x="1927274" y="2150949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funkciókhoz. develop-ból ágazik, oda merge-el vissza.</a:t>
            </a:r>
            <a:endParaRPr lang="en-US" sz="11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3923AB85-DBC9-D02B-0B3C-141EABEBBE49}"/>
              </a:ext>
            </a:extLst>
          </p:cNvPr>
          <p:cNvSpPr/>
          <p:nvPr/>
        </p:nvSpPr>
        <p:spPr>
          <a:xfrm>
            <a:off x="281354" y="2717877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C13F0B8B-3D87-2BB4-C3D9-62053F2BC242}"/>
              </a:ext>
            </a:extLst>
          </p:cNvPr>
          <p:cNvSpPr/>
          <p:nvPr/>
        </p:nvSpPr>
        <p:spPr>
          <a:xfrm>
            <a:off x="281354" y="2717877"/>
            <a:ext cx="146304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C892DE5-5E13-8D0B-5009-DDA0BD59D559}"/>
              </a:ext>
            </a:extLst>
          </p:cNvPr>
          <p:cNvSpPr/>
          <p:nvPr/>
        </p:nvSpPr>
        <p:spPr>
          <a:xfrm>
            <a:off x="299642" y="2745309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</a:t>
            </a:r>
            <a:endParaRPr lang="en-US" sz="12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66A7F088-9129-9BCD-CB43-CA2A21598550}"/>
              </a:ext>
            </a:extLst>
          </p:cNvPr>
          <p:cNvSpPr/>
          <p:nvPr/>
        </p:nvSpPr>
        <p:spPr>
          <a:xfrm>
            <a:off x="1927274" y="2809317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előkészítés: bugfix, verzió bump. main + develop-ba merge.</a:t>
            </a:r>
            <a:endParaRPr lang="en-US" sz="11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B751217B-999D-B271-CADE-2B6C2A805EA0}"/>
              </a:ext>
            </a:extLst>
          </p:cNvPr>
          <p:cNvSpPr/>
          <p:nvPr/>
        </p:nvSpPr>
        <p:spPr>
          <a:xfrm>
            <a:off x="281354" y="3376245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36E0BC51-1B42-F4E3-A323-F9FE42F5C27F}"/>
              </a:ext>
            </a:extLst>
          </p:cNvPr>
          <p:cNvSpPr/>
          <p:nvPr/>
        </p:nvSpPr>
        <p:spPr>
          <a:xfrm>
            <a:off x="281354" y="3376245"/>
            <a:ext cx="146304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59081C78-F4DD-72E1-8A4E-74B87A5AF236}"/>
              </a:ext>
            </a:extLst>
          </p:cNvPr>
          <p:cNvSpPr/>
          <p:nvPr/>
        </p:nvSpPr>
        <p:spPr>
          <a:xfrm>
            <a:off x="299642" y="3403677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hotfix/*</a:t>
            </a:r>
            <a:endParaRPr lang="en-US" sz="12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B5BD6A0F-6DAC-7B54-A7A1-08DEEC1093CE}"/>
              </a:ext>
            </a:extLst>
          </p:cNvPr>
          <p:cNvSpPr/>
          <p:nvPr/>
        </p:nvSpPr>
        <p:spPr>
          <a:xfrm>
            <a:off x="1927274" y="3467685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Éles hibák gyors javítása. main-ből ágazik, oda és develop-ba merge.</a:t>
            </a:r>
            <a:endParaRPr lang="en-US" sz="110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429A40C0-6C4D-93CA-0C39-D8F0831A2148}"/>
              </a:ext>
            </a:extLst>
          </p:cNvPr>
          <p:cNvSpPr/>
          <p:nvPr/>
        </p:nvSpPr>
        <p:spPr>
          <a:xfrm>
            <a:off x="281354" y="4062045"/>
            <a:ext cx="411480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DD7C3770-A822-7968-3C16-9BADBE6859D4}"/>
              </a:ext>
            </a:extLst>
          </p:cNvPr>
          <p:cNvSpPr/>
          <p:nvPr/>
        </p:nvSpPr>
        <p:spPr>
          <a:xfrm>
            <a:off x="418514" y="4126053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Előnyök: Egyértelmű struktúra, párhuzamos fejlesztés + hotfix, jó auditálhatóság, enterprise-ready</a:t>
            </a:r>
            <a:endParaRPr lang="en-US" sz="10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6B23BE7A-2638-C2DC-A0D7-36EF7920E71D}"/>
              </a:ext>
            </a:extLst>
          </p:cNvPr>
          <p:cNvSpPr/>
          <p:nvPr/>
        </p:nvSpPr>
        <p:spPr>
          <a:xfrm>
            <a:off x="4761914" y="4062045"/>
            <a:ext cx="411480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AD1470FB-787C-CD78-8169-1AF68F64AF9A}"/>
              </a:ext>
            </a:extLst>
          </p:cNvPr>
          <p:cNvSpPr/>
          <p:nvPr/>
        </p:nvSpPr>
        <p:spPr>
          <a:xfrm>
            <a:off x="4899074" y="4126053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Hátrányok: Komplex, sok branch, CI/CD-vel nehézkes, continuous delivery-re nem optimális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7269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Branching </a:t>
            </a:r>
            <a:r>
              <a:rPr lang="en-US" dirty="0" err="1">
                <a:solidFill>
                  <a:srgbClr val="444444"/>
                </a:solidFill>
                <a:latin typeface="+mn-lt"/>
              </a:rPr>
              <a:t>stratégiák</a:t>
            </a:r>
            <a:r>
              <a:rPr lang="en-US" dirty="0">
                <a:solidFill>
                  <a:srgbClr val="444444"/>
                </a:solidFill>
                <a:latin typeface="+mn-lt"/>
              </a:rPr>
              <a:t> II. – GitHub Flow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860F8C6-E4A9-D0F6-4739-4AEE789EF6E2}"/>
              </a:ext>
            </a:extLst>
          </p:cNvPr>
          <p:cNvSpPr/>
          <p:nvPr/>
        </p:nvSpPr>
        <p:spPr>
          <a:xfrm>
            <a:off x="295421" y="44031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Chacon (GitHub) – 2011 · Continuous deployment · Web alkalmazásokhoz ideális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1E62C67-61FF-C886-A2FE-ED522BACF7B3}"/>
              </a:ext>
            </a:extLst>
          </p:cNvPr>
          <p:cNvSpPr/>
          <p:nvPr/>
        </p:nvSpPr>
        <p:spPr>
          <a:xfrm>
            <a:off x="246184" y="806077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BBD17A1-C885-E662-02F9-052E45D63DC2}"/>
              </a:ext>
            </a:extLst>
          </p:cNvPr>
          <p:cNvSpPr/>
          <p:nvPr/>
        </p:nvSpPr>
        <p:spPr>
          <a:xfrm>
            <a:off x="383344" y="988957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C1369E3-2651-DAD0-4CB6-9E4189D87370}"/>
              </a:ext>
            </a:extLst>
          </p:cNvPr>
          <p:cNvSpPr/>
          <p:nvPr/>
        </p:nvSpPr>
        <p:spPr>
          <a:xfrm>
            <a:off x="383344" y="9889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DB5AADD-A577-DEEF-D87B-BAA7B623D547}"/>
              </a:ext>
            </a:extLst>
          </p:cNvPr>
          <p:cNvSpPr/>
          <p:nvPr/>
        </p:nvSpPr>
        <p:spPr>
          <a:xfrm>
            <a:off x="931984" y="1007245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létrehozása</a:t>
            </a:r>
            <a:endParaRPr lang="en-US" sz="12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5D1B7FD-5641-EC39-154D-1E598DDE6560}"/>
              </a:ext>
            </a:extLst>
          </p:cNvPr>
          <p:cNvSpPr/>
          <p:nvPr/>
        </p:nvSpPr>
        <p:spPr>
          <a:xfrm>
            <a:off x="383344" y="1555885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main-ből új feature branch (leíró névvel)</a:t>
            </a:r>
            <a:endParaRPr lang="en-US" sz="105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DFC13F0-FB27-B44B-A54F-6C777372CBDA}"/>
              </a:ext>
            </a:extLst>
          </p:cNvPr>
          <p:cNvSpPr/>
          <p:nvPr/>
        </p:nvSpPr>
        <p:spPr>
          <a:xfrm>
            <a:off x="3190552" y="806077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CE2D92A-76D2-EB8E-4CB5-42C267662A0F}"/>
              </a:ext>
            </a:extLst>
          </p:cNvPr>
          <p:cNvSpPr/>
          <p:nvPr/>
        </p:nvSpPr>
        <p:spPr>
          <a:xfrm>
            <a:off x="3327712" y="988957"/>
            <a:ext cx="457200" cy="45720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A7E51C6-C4A2-17A8-067D-8169BED48294}"/>
              </a:ext>
            </a:extLst>
          </p:cNvPr>
          <p:cNvSpPr/>
          <p:nvPr/>
        </p:nvSpPr>
        <p:spPr>
          <a:xfrm>
            <a:off x="3327712" y="9889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CB1ACE4-605D-49BE-2573-634626CFBEC6}"/>
              </a:ext>
            </a:extLst>
          </p:cNvPr>
          <p:cNvSpPr/>
          <p:nvPr/>
        </p:nvSpPr>
        <p:spPr>
          <a:xfrm>
            <a:off x="3876352" y="1007245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Commitok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8C7E48D-25CA-230A-72CA-E1EEF8F4E57B}"/>
              </a:ext>
            </a:extLst>
          </p:cNvPr>
          <p:cNvSpPr/>
          <p:nvPr/>
        </p:nvSpPr>
        <p:spPr>
          <a:xfrm>
            <a:off x="3327712" y="1555885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Kis, fókuszált commitok, leíró üzenetekkel</a:t>
            </a:r>
            <a:endParaRPr lang="en-US" sz="105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81F6CB06-A4BB-E02A-BF94-287F56CDA39A}"/>
              </a:ext>
            </a:extLst>
          </p:cNvPr>
          <p:cNvSpPr/>
          <p:nvPr/>
        </p:nvSpPr>
        <p:spPr>
          <a:xfrm>
            <a:off x="6134920" y="806077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E91CE438-47BB-4A50-019C-5D9728FC6A83}"/>
              </a:ext>
            </a:extLst>
          </p:cNvPr>
          <p:cNvSpPr/>
          <p:nvPr/>
        </p:nvSpPr>
        <p:spPr>
          <a:xfrm>
            <a:off x="6272080" y="988957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48F52B9-A138-A2ED-986F-8D98DE004528}"/>
              </a:ext>
            </a:extLst>
          </p:cNvPr>
          <p:cNvSpPr/>
          <p:nvPr/>
        </p:nvSpPr>
        <p:spPr>
          <a:xfrm>
            <a:off x="6272080" y="9889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C23DE74-463B-E407-FF9E-EEA18546298B}"/>
              </a:ext>
            </a:extLst>
          </p:cNvPr>
          <p:cNvSpPr/>
          <p:nvPr/>
        </p:nvSpPr>
        <p:spPr>
          <a:xfrm>
            <a:off x="6820720" y="1007245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 Request</a:t>
            </a:r>
            <a:endParaRPr lang="en-US" sz="12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8CC5B5E-DF62-B34D-3BDA-09E9DD3EC0B1}"/>
              </a:ext>
            </a:extLst>
          </p:cNvPr>
          <p:cNvSpPr/>
          <p:nvPr/>
        </p:nvSpPr>
        <p:spPr>
          <a:xfrm>
            <a:off x="6272080" y="1555885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push-olása, PR nyitása review-ra</a:t>
            </a:r>
            <a:endParaRPr lang="en-US" sz="10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B6D3BD34-F407-1DC7-BFD2-4B890FA8720B}"/>
              </a:ext>
            </a:extLst>
          </p:cNvPr>
          <p:cNvSpPr/>
          <p:nvPr/>
        </p:nvSpPr>
        <p:spPr>
          <a:xfrm>
            <a:off x="246184" y="2525149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CBC27BEF-A79E-D146-D603-4E6462C60331}"/>
              </a:ext>
            </a:extLst>
          </p:cNvPr>
          <p:cNvSpPr/>
          <p:nvPr/>
        </p:nvSpPr>
        <p:spPr>
          <a:xfrm>
            <a:off x="383344" y="2708029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A7BDD594-96F8-ABA2-8B54-8C7C663BF3D8}"/>
              </a:ext>
            </a:extLst>
          </p:cNvPr>
          <p:cNvSpPr/>
          <p:nvPr/>
        </p:nvSpPr>
        <p:spPr>
          <a:xfrm>
            <a:off x="383344" y="27080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BA8B92A6-C129-4218-5138-78AF5E3F96D8}"/>
              </a:ext>
            </a:extLst>
          </p:cNvPr>
          <p:cNvSpPr/>
          <p:nvPr/>
        </p:nvSpPr>
        <p:spPr>
          <a:xfrm>
            <a:off x="931984" y="272631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D63865A9-F14A-D85C-23BA-B3994D2A299B}"/>
              </a:ext>
            </a:extLst>
          </p:cNvPr>
          <p:cNvSpPr/>
          <p:nvPr/>
        </p:nvSpPr>
        <p:spPr>
          <a:xfrm>
            <a:off x="383344" y="3274957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Csapattársak megvizsgálják, kommentelnek</a:t>
            </a:r>
            <a:endParaRPr lang="en-US" sz="10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2EC0F43F-6770-3CCD-CB74-7C02ADB9734D}"/>
              </a:ext>
            </a:extLst>
          </p:cNvPr>
          <p:cNvSpPr/>
          <p:nvPr/>
        </p:nvSpPr>
        <p:spPr>
          <a:xfrm>
            <a:off x="3190552" y="2525149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0B1747B-0666-ACAB-1698-B5755F6F956E}"/>
              </a:ext>
            </a:extLst>
          </p:cNvPr>
          <p:cNvSpPr/>
          <p:nvPr/>
        </p:nvSpPr>
        <p:spPr>
          <a:xfrm>
            <a:off x="3327712" y="2708029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0553BD8-5D8E-F399-BF05-006AA646F75B}"/>
              </a:ext>
            </a:extLst>
          </p:cNvPr>
          <p:cNvSpPr/>
          <p:nvPr/>
        </p:nvSpPr>
        <p:spPr>
          <a:xfrm>
            <a:off x="3327712" y="27080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0EFF2CB6-A32A-4559-EFF8-1E707EA82A28}"/>
              </a:ext>
            </a:extLst>
          </p:cNvPr>
          <p:cNvSpPr/>
          <p:nvPr/>
        </p:nvSpPr>
        <p:spPr>
          <a:xfrm>
            <a:off x="3876352" y="272631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(opcionális)</a:t>
            </a:r>
            <a:endParaRPr lang="en-US" sz="12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E5BACDF6-E396-254F-44E6-B91860B937DC}"/>
              </a:ext>
            </a:extLst>
          </p:cNvPr>
          <p:cNvSpPr/>
          <p:nvPr/>
        </p:nvSpPr>
        <p:spPr>
          <a:xfrm>
            <a:off x="3327712" y="3274957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PR-ból staging deploy a teszteléshez</a:t>
            </a:r>
            <a:endParaRPr lang="en-US" sz="105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E75B869A-CE1D-7EDF-3BAA-876FEEC207F9}"/>
              </a:ext>
            </a:extLst>
          </p:cNvPr>
          <p:cNvSpPr/>
          <p:nvPr/>
        </p:nvSpPr>
        <p:spPr>
          <a:xfrm>
            <a:off x="6134920" y="2525149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D901A51A-D5AE-60D1-AEB1-307C2614F4A2}"/>
              </a:ext>
            </a:extLst>
          </p:cNvPr>
          <p:cNvSpPr/>
          <p:nvPr/>
        </p:nvSpPr>
        <p:spPr>
          <a:xfrm>
            <a:off x="6272080" y="2708029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F5E270D0-480F-A04E-4EDB-B89377B70954}"/>
              </a:ext>
            </a:extLst>
          </p:cNvPr>
          <p:cNvSpPr/>
          <p:nvPr/>
        </p:nvSpPr>
        <p:spPr>
          <a:xfrm>
            <a:off x="6272080" y="27080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A68C9980-9180-0BCE-4732-5BB198CB2DD0}"/>
              </a:ext>
            </a:extLst>
          </p:cNvPr>
          <p:cNvSpPr/>
          <p:nvPr/>
        </p:nvSpPr>
        <p:spPr>
          <a:xfrm>
            <a:off x="6820720" y="272631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main-be</a:t>
            </a:r>
            <a:endParaRPr lang="en-US" sz="12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CBC5F0C9-B829-CE3E-CA9D-A64D9553296A}"/>
              </a:ext>
            </a:extLst>
          </p:cNvPr>
          <p:cNvSpPr/>
          <p:nvPr/>
        </p:nvSpPr>
        <p:spPr>
          <a:xfrm>
            <a:off x="6272080" y="3274957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után squash merge, branch törlése</a:t>
            </a:r>
            <a:endParaRPr lang="en-US" sz="105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F0BE22FE-2792-F0E9-22DC-537107C281EF}"/>
              </a:ext>
            </a:extLst>
          </p:cNvPr>
          <p:cNvSpPr/>
          <p:nvPr/>
        </p:nvSpPr>
        <p:spPr>
          <a:xfrm>
            <a:off x="246184" y="4189357"/>
            <a:ext cx="4114800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7248A322-C2D9-7097-4801-82B6137E2616}"/>
              </a:ext>
            </a:extLst>
          </p:cNvPr>
          <p:cNvSpPr/>
          <p:nvPr/>
        </p:nvSpPr>
        <p:spPr>
          <a:xfrm>
            <a:off x="383344" y="4244221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Egyszerű, gyors, CI/CD-barát, kevés branch, kis csapatoknak kiváló, web-re ideális</a:t>
            </a:r>
            <a:endParaRPr lang="en-US" sz="10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05A39FE2-9F9A-23AE-8F31-E8661EB0BB12}"/>
              </a:ext>
            </a:extLst>
          </p:cNvPr>
          <p:cNvSpPr/>
          <p:nvPr/>
        </p:nvSpPr>
        <p:spPr>
          <a:xfrm>
            <a:off x="4726744" y="4189357"/>
            <a:ext cx="411480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6A5D03F1-58E7-830A-3D72-4FF493539F3D}"/>
              </a:ext>
            </a:extLst>
          </p:cNvPr>
          <p:cNvSpPr/>
          <p:nvPr/>
        </p:nvSpPr>
        <p:spPr>
          <a:xfrm>
            <a:off x="4863904" y="4244221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main mindig production-ready kell legyen; nincs develop buffer; hotfix beolvad a normál flow-ba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9185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Branching </a:t>
            </a:r>
            <a:r>
              <a:rPr lang="en-US" dirty="0" err="1">
                <a:solidFill>
                  <a:srgbClr val="444444"/>
                </a:solidFill>
                <a:latin typeface="+mn-lt"/>
              </a:rPr>
              <a:t>stratégiák</a:t>
            </a:r>
            <a:r>
              <a:rPr lang="en-US" dirty="0">
                <a:solidFill>
                  <a:srgbClr val="444444"/>
                </a:solidFill>
                <a:latin typeface="+mn-lt"/>
              </a:rPr>
              <a:t> III. – GitLab Flow &amp; Trunk-Based Development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108713D0-05ED-EEFC-B48D-2C91F5E57920}"/>
              </a:ext>
            </a:extLst>
          </p:cNvPr>
          <p:cNvSpPr/>
          <p:nvPr/>
        </p:nvSpPr>
        <p:spPr>
          <a:xfrm>
            <a:off x="260252" y="769502"/>
            <a:ext cx="4114800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3A04954-F0A8-773C-B5B2-E1CAB4B79C60}"/>
              </a:ext>
            </a:extLst>
          </p:cNvPr>
          <p:cNvSpPr/>
          <p:nvPr/>
        </p:nvSpPr>
        <p:spPr>
          <a:xfrm>
            <a:off x="260252" y="769502"/>
            <a:ext cx="4114800" cy="438912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13C144B-C5C3-66DE-A647-8B57597F3618}"/>
              </a:ext>
            </a:extLst>
          </p:cNvPr>
          <p:cNvSpPr/>
          <p:nvPr/>
        </p:nvSpPr>
        <p:spPr>
          <a:xfrm>
            <a:off x="351692" y="78779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Flow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642AB85-68BD-7AC8-968E-4E053A13EC66}"/>
              </a:ext>
            </a:extLst>
          </p:cNvPr>
          <p:cNvSpPr/>
          <p:nvPr/>
        </p:nvSpPr>
        <p:spPr>
          <a:xfrm>
            <a:off x="397412" y="129071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és GitHub Flow kompromisszuma. Környezeti ágakat ad hozzá:</a:t>
            </a:r>
            <a:endParaRPr lang="en-US" sz="10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46E73D54-F24E-E0C2-8A3C-CAE5E8B73C14}"/>
              </a:ext>
            </a:extLst>
          </p:cNvPr>
          <p:cNvSpPr/>
          <p:nvPr/>
        </p:nvSpPr>
        <p:spPr>
          <a:xfrm>
            <a:off x="397412" y="1793630"/>
            <a:ext cx="3840480" cy="475488"/>
          </a:xfrm>
          <a:prstGeom prst="rect">
            <a:avLst/>
          </a:prstGeom>
          <a:solidFill>
            <a:srgbClr val="FFF3E0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BF7DBCB-F9BD-BA80-B53B-A415D9693687}"/>
              </a:ext>
            </a:extLst>
          </p:cNvPr>
          <p:cNvSpPr/>
          <p:nvPr/>
        </p:nvSpPr>
        <p:spPr>
          <a:xfrm>
            <a:off x="488852" y="183020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C1617E4-8F0E-BD2D-18D5-F0CFE65776ED}"/>
              </a:ext>
            </a:extLst>
          </p:cNvPr>
          <p:cNvSpPr/>
          <p:nvPr/>
        </p:nvSpPr>
        <p:spPr>
          <a:xfrm>
            <a:off x="1906172" y="186678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integrációs ág</a:t>
            </a:r>
            <a:endParaRPr lang="en-US" sz="105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69DE70F-69AA-87B3-5588-1D8848AB823A}"/>
              </a:ext>
            </a:extLst>
          </p:cNvPr>
          <p:cNvSpPr/>
          <p:nvPr/>
        </p:nvSpPr>
        <p:spPr>
          <a:xfrm>
            <a:off x="397412" y="2360558"/>
            <a:ext cx="3840480" cy="475488"/>
          </a:xfrm>
          <a:prstGeom prst="rect">
            <a:avLst/>
          </a:prstGeom>
          <a:solidFill>
            <a:srgbClr val="FFF3E0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3C20BA8-0C94-D589-9018-5EF51FA8BD4D}"/>
              </a:ext>
            </a:extLst>
          </p:cNvPr>
          <p:cNvSpPr/>
          <p:nvPr/>
        </p:nvSpPr>
        <p:spPr>
          <a:xfrm>
            <a:off x="488852" y="239713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pre-production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68286C1-9879-9DE1-515D-59D88D6C7F4F}"/>
              </a:ext>
            </a:extLst>
          </p:cNvPr>
          <p:cNvSpPr/>
          <p:nvPr/>
        </p:nvSpPr>
        <p:spPr>
          <a:xfrm>
            <a:off x="1906172" y="243371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/ test environment</a:t>
            </a:r>
            <a:endParaRPr lang="en-US" sz="105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5DDDCC02-2E09-D5A1-7F2A-FCA50FC4E120}"/>
              </a:ext>
            </a:extLst>
          </p:cNvPr>
          <p:cNvSpPr/>
          <p:nvPr/>
        </p:nvSpPr>
        <p:spPr>
          <a:xfrm>
            <a:off x="397412" y="2927486"/>
            <a:ext cx="3840480" cy="475488"/>
          </a:xfrm>
          <a:prstGeom prst="rect">
            <a:avLst/>
          </a:prstGeom>
          <a:solidFill>
            <a:srgbClr val="FFF3E0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98A79737-B844-045A-70C1-9105ECB46AC5}"/>
              </a:ext>
            </a:extLst>
          </p:cNvPr>
          <p:cNvSpPr/>
          <p:nvPr/>
        </p:nvSpPr>
        <p:spPr>
          <a:xfrm>
            <a:off x="488852" y="296406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C089B7A-251F-0ED3-BEBF-6DEBA9C03D43}"/>
              </a:ext>
            </a:extLst>
          </p:cNvPr>
          <p:cNvSpPr/>
          <p:nvPr/>
        </p:nvSpPr>
        <p:spPr>
          <a:xfrm>
            <a:off x="1906172" y="300063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Éles környezet</a:t>
            </a:r>
            <a:endParaRPr lang="en-US" sz="105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ED5BC206-E31E-847D-28B8-CEF1DCD165CB}"/>
              </a:ext>
            </a:extLst>
          </p:cNvPr>
          <p:cNvSpPr/>
          <p:nvPr/>
        </p:nvSpPr>
        <p:spPr>
          <a:xfrm>
            <a:off x="397412" y="362243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Egyszerűbb mint GitFlow, deploy kontrollt 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Több environment-et kell menedzselni</a:t>
            </a:r>
            <a:endParaRPr lang="en-US" sz="10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D0285908-6520-3EC5-8C9C-CCCC276DBF25}"/>
              </a:ext>
            </a:extLst>
          </p:cNvPr>
          <p:cNvSpPr/>
          <p:nvPr/>
        </p:nvSpPr>
        <p:spPr>
          <a:xfrm>
            <a:off x="4740812" y="769502"/>
            <a:ext cx="4114800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463B8A11-9C43-B443-9932-A66C776D736B}"/>
              </a:ext>
            </a:extLst>
          </p:cNvPr>
          <p:cNvSpPr/>
          <p:nvPr/>
        </p:nvSpPr>
        <p:spPr>
          <a:xfrm>
            <a:off x="4740812" y="769502"/>
            <a:ext cx="411480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5C905BA3-04A4-2F17-A2DE-6C5A8D6477CA}"/>
              </a:ext>
            </a:extLst>
          </p:cNvPr>
          <p:cNvSpPr/>
          <p:nvPr/>
        </p:nvSpPr>
        <p:spPr>
          <a:xfrm>
            <a:off x="4832252" y="78779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Development</a:t>
            </a:r>
            <a:endParaRPr lang="en-US" sz="14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EDCAF5E-1402-0813-8F0D-4D74CDE75F2A}"/>
              </a:ext>
            </a:extLst>
          </p:cNvPr>
          <p:cNvSpPr/>
          <p:nvPr/>
        </p:nvSpPr>
        <p:spPr>
          <a:xfrm>
            <a:off x="4877972" y="129071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főág (trunk/main). Feature branch-ek nagyon rövidek (&lt; 1-2 nap) vagy feature flag-ek.</a:t>
            </a:r>
            <a:endParaRPr lang="en-US" sz="105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2BE2AA35-1C63-DC15-63AA-4C0F222664AA}"/>
              </a:ext>
            </a:extLst>
          </p:cNvPr>
          <p:cNvSpPr/>
          <p:nvPr/>
        </p:nvSpPr>
        <p:spPr>
          <a:xfrm>
            <a:off x="4877972" y="190335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Minden fejlesztő naponta (!) merge-el main-be</a:t>
            </a:r>
            <a:endParaRPr lang="en-US" sz="105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6735535F-E324-454A-F6CC-DA9E3E1884E7}"/>
              </a:ext>
            </a:extLst>
          </p:cNvPr>
          <p:cNvSpPr/>
          <p:nvPr/>
        </p:nvSpPr>
        <p:spPr>
          <a:xfrm>
            <a:off x="4877972" y="228740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Feature flag-ek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jelölik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befejezetlen kódot</a:t>
            </a:r>
            <a:endParaRPr lang="en-US" sz="105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14329272-8177-9F2D-E132-37C35B55F542}"/>
              </a:ext>
            </a:extLst>
          </p:cNvPr>
          <p:cNvSpPr/>
          <p:nvPr/>
        </p:nvSpPr>
        <p:spPr>
          <a:xfrm>
            <a:off x="4877972" y="267145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Robusztus, automatizált tesztek szükségesek</a:t>
            </a:r>
            <a:endParaRPr lang="en-US" sz="105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5D88FCAE-484D-25F8-A63B-84B3C037B018}"/>
              </a:ext>
            </a:extLst>
          </p:cNvPr>
          <p:cNvSpPr/>
          <p:nvPr/>
        </p:nvSpPr>
        <p:spPr>
          <a:xfrm>
            <a:off x="4877972" y="305550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Kis, inkrementális commitok</a:t>
            </a:r>
            <a:endParaRPr lang="en-US" sz="105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C6D14E17-B191-0209-656D-9476E555A22A}"/>
              </a:ext>
            </a:extLst>
          </p:cNvPr>
          <p:cNvSpPr/>
          <p:nvPr/>
        </p:nvSpPr>
        <p:spPr>
          <a:xfrm>
            <a:off x="4877972" y="343955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Google, Facebook, Netflix használja</a:t>
            </a:r>
            <a:endParaRPr lang="en-US" sz="105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411E1ACB-A83B-D165-EEE3-0684E841AE02}"/>
              </a:ext>
            </a:extLst>
          </p:cNvPr>
          <p:cNvSpPr/>
          <p:nvPr/>
        </p:nvSpPr>
        <p:spPr>
          <a:xfrm>
            <a:off x="4877972" y="375959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Gyors integráció, kevés merge konfliktus, CI/CD barát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Erős tesztkultúra kell, feature flag overhead, kisebb csapatoknak szokatlan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2750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Branching </a:t>
            </a:r>
            <a:r>
              <a:rPr lang="en-US" dirty="0" err="1">
                <a:solidFill>
                  <a:srgbClr val="444444"/>
                </a:solidFill>
                <a:latin typeface="+mn-lt"/>
              </a:rPr>
              <a:t>stratégiák</a:t>
            </a:r>
            <a:r>
              <a:rPr lang="en-US" dirty="0">
                <a:solidFill>
                  <a:srgbClr val="444444"/>
                </a:solidFill>
                <a:latin typeface="+mn-lt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</a:rPr>
              <a:t>összehasonlítása</a:t>
            </a:r>
            <a:endParaRPr lang="en-US" dirty="0">
              <a:latin typeface="+mn-lt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FC2BE3-721B-C8C6-7917-F067DBC33B95}"/>
              </a:ext>
            </a:extLst>
          </p:cNvPr>
          <p:cNvSpPr/>
          <p:nvPr/>
        </p:nvSpPr>
        <p:spPr>
          <a:xfrm>
            <a:off x="302742" y="732342"/>
            <a:ext cx="18288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8D37352-C13C-3ED8-C3BF-430B6D06AB22}"/>
              </a:ext>
            </a:extLst>
          </p:cNvPr>
          <p:cNvSpPr/>
          <p:nvPr/>
        </p:nvSpPr>
        <p:spPr>
          <a:xfrm>
            <a:off x="348462" y="75063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Szempont</a:t>
            </a:r>
            <a:endParaRPr lang="en-US" sz="11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DD8A095-26F3-68BE-1F7A-15D177104667}"/>
              </a:ext>
            </a:extLst>
          </p:cNvPr>
          <p:cNvSpPr/>
          <p:nvPr/>
        </p:nvSpPr>
        <p:spPr>
          <a:xfrm>
            <a:off x="2131542" y="732342"/>
            <a:ext cx="164592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5B3605F-5F87-8871-B0E7-BF28AFDA242A}"/>
              </a:ext>
            </a:extLst>
          </p:cNvPr>
          <p:cNvSpPr/>
          <p:nvPr/>
        </p:nvSpPr>
        <p:spPr>
          <a:xfrm>
            <a:off x="2177262" y="75063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</a:t>
            </a:r>
            <a:endParaRPr lang="en-US" sz="11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7BD67528-93A4-017C-EA6E-4E13E5754D4C}"/>
              </a:ext>
            </a:extLst>
          </p:cNvPr>
          <p:cNvSpPr/>
          <p:nvPr/>
        </p:nvSpPr>
        <p:spPr>
          <a:xfrm>
            <a:off x="3777462" y="732342"/>
            <a:ext cx="1645920" cy="384048"/>
          </a:xfrm>
          <a:prstGeom prst="rect">
            <a:avLst/>
          </a:prstGeom>
          <a:solidFill>
            <a:srgbClr val="FC6D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5EDEA36-600C-3E64-10C2-A2DF9EF26EB5}"/>
              </a:ext>
            </a:extLst>
          </p:cNvPr>
          <p:cNvSpPr/>
          <p:nvPr/>
        </p:nvSpPr>
        <p:spPr>
          <a:xfrm>
            <a:off x="3823182" y="75063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</a:t>
            </a:r>
            <a:endParaRPr lang="en-US" sz="11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E9B2C8B6-6553-6DFE-40A1-D4009000F55B}"/>
              </a:ext>
            </a:extLst>
          </p:cNvPr>
          <p:cNvSpPr/>
          <p:nvPr/>
        </p:nvSpPr>
        <p:spPr>
          <a:xfrm>
            <a:off x="5423382" y="732342"/>
            <a:ext cx="1645920" cy="384048"/>
          </a:xfrm>
          <a:prstGeom prst="rect">
            <a:avLst/>
          </a:prstGeom>
          <a:solidFill>
            <a:srgbClr val="4285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1227ACF-33BC-C448-7981-BEA9DA869A20}"/>
              </a:ext>
            </a:extLst>
          </p:cNvPr>
          <p:cNvSpPr/>
          <p:nvPr/>
        </p:nvSpPr>
        <p:spPr>
          <a:xfrm>
            <a:off x="5469102" y="75063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Flow</a:t>
            </a:r>
            <a:endParaRPr lang="en-US" sz="11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73ABB6F5-131B-C60B-3EE6-D057F05C9ABC}"/>
              </a:ext>
            </a:extLst>
          </p:cNvPr>
          <p:cNvSpPr/>
          <p:nvPr/>
        </p:nvSpPr>
        <p:spPr>
          <a:xfrm>
            <a:off x="7069302" y="732342"/>
            <a:ext cx="1737360" cy="384048"/>
          </a:xfrm>
          <a:prstGeom prst="rect">
            <a:avLst/>
          </a:prstGeom>
          <a:solidFill>
            <a:srgbClr val="4ECD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AD928619-E69D-A06A-67E6-64D146F602B5}"/>
              </a:ext>
            </a:extLst>
          </p:cNvPr>
          <p:cNvSpPr/>
          <p:nvPr/>
        </p:nvSpPr>
        <p:spPr>
          <a:xfrm>
            <a:off x="7115022" y="75063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</a:t>
            </a:r>
            <a:endParaRPr lang="en-US" sz="11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D33AEC48-8D8D-0362-782F-770C762EEAEA}"/>
              </a:ext>
            </a:extLst>
          </p:cNvPr>
          <p:cNvSpPr/>
          <p:nvPr/>
        </p:nvSpPr>
        <p:spPr>
          <a:xfrm>
            <a:off x="302742" y="1116390"/>
            <a:ext cx="18288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CEDDBB2-C261-DCC4-C1DC-C928F90BBC3E}"/>
              </a:ext>
            </a:extLst>
          </p:cNvPr>
          <p:cNvSpPr/>
          <p:nvPr/>
        </p:nvSpPr>
        <p:spPr>
          <a:xfrm>
            <a:off x="348462" y="114382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Komplexitás</a:t>
            </a:r>
            <a:endParaRPr lang="en-US" sz="10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FAC4ED07-3CA9-3608-C1E0-D8CC1BE3DDC2}"/>
              </a:ext>
            </a:extLst>
          </p:cNvPr>
          <p:cNvSpPr/>
          <p:nvPr/>
        </p:nvSpPr>
        <p:spPr>
          <a:xfrm>
            <a:off x="2131542" y="1116390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5D2E4F97-0CB4-9AB1-BA6C-3AEAA5F6A32C}"/>
              </a:ext>
            </a:extLst>
          </p:cNvPr>
          <p:cNvSpPr/>
          <p:nvPr/>
        </p:nvSpPr>
        <p:spPr>
          <a:xfrm>
            <a:off x="2177262" y="114382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</a:t>
            </a:r>
            <a:endParaRPr lang="en-US" sz="10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B10D3476-FD28-5143-3F06-3E32ABF89178}"/>
              </a:ext>
            </a:extLst>
          </p:cNvPr>
          <p:cNvSpPr/>
          <p:nvPr/>
        </p:nvSpPr>
        <p:spPr>
          <a:xfrm>
            <a:off x="3777462" y="1116390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28B3EAF2-E83D-9783-1B8E-84B80F949BC7}"/>
              </a:ext>
            </a:extLst>
          </p:cNvPr>
          <p:cNvSpPr/>
          <p:nvPr/>
        </p:nvSpPr>
        <p:spPr>
          <a:xfrm>
            <a:off x="3823182" y="114382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</a:t>
            </a:r>
            <a:endParaRPr lang="en-US" sz="10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643C5404-60D3-D065-D802-D6CA811A4845}"/>
              </a:ext>
            </a:extLst>
          </p:cNvPr>
          <p:cNvSpPr/>
          <p:nvPr/>
        </p:nvSpPr>
        <p:spPr>
          <a:xfrm>
            <a:off x="5423382" y="1116390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BAC377D-4A2A-F2B8-E364-C6E153CD1623}"/>
              </a:ext>
            </a:extLst>
          </p:cNvPr>
          <p:cNvSpPr/>
          <p:nvPr/>
        </p:nvSpPr>
        <p:spPr>
          <a:xfrm>
            <a:off x="5469102" y="114382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</a:t>
            </a:r>
            <a:endParaRPr lang="en-US" sz="10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64CE5AA5-0E79-3D0A-378E-FB932C9CA5D5}"/>
              </a:ext>
            </a:extLst>
          </p:cNvPr>
          <p:cNvSpPr/>
          <p:nvPr/>
        </p:nvSpPr>
        <p:spPr>
          <a:xfrm>
            <a:off x="7069302" y="1116390"/>
            <a:ext cx="17373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0FE57DAD-C72C-5CA4-0EDB-4834481EB32C}"/>
              </a:ext>
            </a:extLst>
          </p:cNvPr>
          <p:cNvSpPr/>
          <p:nvPr/>
        </p:nvSpPr>
        <p:spPr>
          <a:xfrm>
            <a:off x="7115022" y="114382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</a:t>
            </a:r>
            <a:endParaRPr lang="en-US" sz="10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72E5BF76-6E02-194C-BD19-A19560565170}"/>
              </a:ext>
            </a:extLst>
          </p:cNvPr>
          <p:cNvSpPr/>
          <p:nvPr/>
        </p:nvSpPr>
        <p:spPr>
          <a:xfrm>
            <a:off x="302742" y="164674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A85A1B1F-8172-D165-ABFD-2C0CFF9FB518}"/>
              </a:ext>
            </a:extLst>
          </p:cNvPr>
          <p:cNvSpPr/>
          <p:nvPr/>
        </p:nvSpPr>
        <p:spPr>
          <a:xfrm>
            <a:off x="348462" y="167417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ciklus</a:t>
            </a:r>
            <a:endParaRPr lang="en-US" sz="10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C4E917EA-B871-6DA3-0175-DAAC56F92F5F}"/>
              </a:ext>
            </a:extLst>
          </p:cNvPr>
          <p:cNvSpPr/>
          <p:nvPr/>
        </p:nvSpPr>
        <p:spPr>
          <a:xfrm>
            <a:off x="2131542" y="164674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B2479664-9F02-095A-9605-C0C81AD9F409}"/>
              </a:ext>
            </a:extLst>
          </p:cNvPr>
          <p:cNvSpPr/>
          <p:nvPr/>
        </p:nvSpPr>
        <p:spPr>
          <a:xfrm>
            <a:off x="2177262" y="167417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Ütemezett</a:t>
            </a:r>
            <a:endParaRPr lang="en-US" sz="10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D3A79812-543A-FD9F-208B-4687296BF91F}"/>
              </a:ext>
            </a:extLst>
          </p:cNvPr>
          <p:cNvSpPr/>
          <p:nvPr/>
        </p:nvSpPr>
        <p:spPr>
          <a:xfrm>
            <a:off x="3777462" y="164674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0BF9DA0F-4859-EABA-2DED-A83C8CDF8694}"/>
              </a:ext>
            </a:extLst>
          </p:cNvPr>
          <p:cNvSpPr/>
          <p:nvPr/>
        </p:nvSpPr>
        <p:spPr>
          <a:xfrm>
            <a:off x="3823182" y="167417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5ACB3F7B-1D2A-0F01-A96D-03FE4CA5CCB7}"/>
              </a:ext>
            </a:extLst>
          </p:cNvPr>
          <p:cNvSpPr/>
          <p:nvPr/>
        </p:nvSpPr>
        <p:spPr>
          <a:xfrm>
            <a:off x="5423382" y="164674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6FDA9EBD-D69A-4F4F-A754-7B749CB91F75}"/>
              </a:ext>
            </a:extLst>
          </p:cNvPr>
          <p:cNvSpPr/>
          <p:nvPr/>
        </p:nvSpPr>
        <p:spPr>
          <a:xfrm>
            <a:off x="5469102" y="167417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Rugalmas</a:t>
            </a:r>
            <a:endParaRPr lang="en-US" sz="10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F7AFB373-58B3-68C2-0FD1-CBA748645F1B}"/>
              </a:ext>
            </a:extLst>
          </p:cNvPr>
          <p:cNvSpPr/>
          <p:nvPr/>
        </p:nvSpPr>
        <p:spPr>
          <a:xfrm>
            <a:off x="7069302" y="164674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766E6AAF-BCA5-1669-D639-89407FD8E7B8}"/>
              </a:ext>
            </a:extLst>
          </p:cNvPr>
          <p:cNvSpPr/>
          <p:nvPr/>
        </p:nvSpPr>
        <p:spPr>
          <a:xfrm>
            <a:off x="7115022" y="167417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C151449C-CB3D-F830-9A1A-611E8FB96E56}"/>
              </a:ext>
            </a:extLst>
          </p:cNvPr>
          <p:cNvSpPr/>
          <p:nvPr/>
        </p:nvSpPr>
        <p:spPr>
          <a:xfrm>
            <a:off x="302742" y="2177094"/>
            <a:ext cx="18288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0A2C42D2-CCF4-7A65-D076-2AEAB37FE151}"/>
              </a:ext>
            </a:extLst>
          </p:cNvPr>
          <p:cNvSpPr/>
          <p:nvPr/>
        </p:nvSpPr>
        <p:spPr>
          <a:xfrm>
            <a:off x="348462" y="220452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barát</a:t>
            </a:r>
            <a:endParaRPr lang="en-US" sz="100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B2E36D21-E015-44E7-3199-24ECD7B90C4F}"/>
              </a:ext>
            </a:extLst>
          </p:cNvPr>
          <p:cNvSpPr/>
          <p:nvPr/>
        </p:nvSpPr>
        <p:spPr>
          <a:xfrm>
            <a:off x="2131542" y="2177094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803D3725-27C7-2274-D18F-781957475F48}"/>
              </a:ext>
            </a:extLst>
          </p:cNvPr>
          <p:cNvSpPr/>
          <p:nvPr/>
        </p:nvSpPr>
        <p:spPr>
          <a:xfrm>
            <a:off x="2177262" y="220452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Nehézkes</a:t>
            </a:r>
            <a:endParaRPr lang="en-US" sz="1000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35BD07E0-0C3A-49E3-A2EE-04206DC99BA7}"/>
              </a:ext>
            </a:extLst>
          </p:cNvPr>
          <p:cNvSpPr/>
          <p:nvPr/>
        </p:nvSpPr>
        <p:spPr>
          <a:xfrm>
            <a:off x="3777462" y="2177094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37FDCE20-D8AE-8BAB-5093-37AD0B0614B9}"/>
              </a:ext>
            </a:extLst>
          </p:cNvPr>
          <p:cNvSpPr/>
          <p:nvPr/>
        </p:nvSpPr>
        <p:spPr>
          <a:xfrm>
            <a:off x="3823182" y="220452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Igen</a:t>
            </a:r>
            <a:endParaRPr lang="en-US" sz="10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81E2C3EB-4656-45A8-D98F-67610BE1311D}"/>
              </a:ext>
            </a:extLst>
          </p:cNvPr>
          <p:cNvSpPr/>
          <p:nvPr/>
        </p:nvSpPr>
        <p:spPr>
          <a:xfrm>
            <a:off x="5423382" y="2177094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6CD7EFD1-F277-9084-B37D-D84EB6452437}"/>
              </a:ext>
            </a:extLst>
          </p:cNvPr>
          <p:cNvSpPr/>
          <p:nvPr/>
        </p:nvSpPr>
        <p:spPr>
          <a:xfrm>
            <a:off x="5469102" y="220452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Igen</a:t>
            </a:r>
            <a:endParaRPr lang="en-US" sz="1000" dirty="0"/>
          </a:p>
        </p:txBody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72041D30-EFC4-5C94-6ABE-55FA04090F84}"/>
              </a:ext>
            </a:extLst>
          </p:cNvPr>
          <p:cNvSpPr/>
          <p:nvPr/>
        </p:nvSpPr>
        <p:spPr>
          <a:xfrm>
            <a:off x="7069302" y="2177094"/>
            <a:ext cx="17373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BB0FB473-6812-DB9D-C410-41CEF7414E22}"/>
              </a:ext>
            </a:extLst>
          </p:cNvPr>
          <p:cNvSpPr/>
          <p:nvPr/>
        </p:nvSpPr>
        <p:spPr>
          <a:xfrm>
            <a:off x="7115022" y="220452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✅✅ Ideális</a:t>
            </a:r>
            <a:endParaRPr lang="en-US" sz="1000" dirty="0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6BB273C8-9FF1-47D1-7743-FE1F6EB0245B}"/>
              </a:ext>
            </a:extLst>
          </p:cNvPr>
          <p:cNvSpPr/>
          <p:nvPr/>
        </p:nvSpPr>
        <p:spPr>
          <a:xfrm>
            <a:off x="302742" y="270744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13124C31-5E58-60BB-D82F-64574A87EC3D}"/>
              </a:ext>
            </a:extLst>
          </p:cNvPr>
          <p:cNvSpPr/>
          <p:nvPr/>
        </p:nvSpPr>
        <p:spPr>
          <a:xfrm>
            <a:off x="348462" y="273487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 méret</a:t>
            </a:r>
            <a:endParaRPr lang="en-US" sz="1000" dirty="0"/>
          </a:p>
        </p:txBody>
      </p:sp>
      <p:sp>
        <p:nvSpPr>
          <p:cNvPr id="52" name="Shape 44">
            <a:extLst>
              <a:ext uri="{FF2B5EF4-FFF2-40B4-BE49-F238E27FC236}">
                <a16:creationId xmlns:a16="http://schemas.microsoft.com/office/drawing/2014/main" id="{E01BC57B-9ED4-D3B5-50A0-5FB59BEACD7D}"/>
              </a:ext>
            </a:extLst>
          </p:cNvPr>
          <p:cNvSpPr/>
          <p:nvPr/>
        </p:nvSpPr>
        <p:spPr>
          <a:xfrm>
            <a:off x="2131542" y="270744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D75072EF-8CA6-E8C8-3C5A-4786448B018B}"/>
              </a:ext>
            </a:extLst>
          </p:cNvPr>
          <p:cNvSpPr/>
          <p:nvPr/>
        </p:nvSpPr>
        <p:spPr>
          <a:xfrm>
            <a:off x="2177262" y="273487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</a:t>
            </a:r>
            <a:endParaRPr lang="en-US" sz="1000" dirty="0"/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F86EC53C-F0AC-8CDA-C851-472B4B0FE4B4}"/>
              </a:ext>
            </a:extLst>
          </p:cNvPr>
          <p:cNvSpPr/>
          <p:nvPr/>
        </p:nvSpPr>
        <p:spPr>
          <a:xfrm>
            <a:off x="3777462" y="270744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C24344CE-FDDC-8E31-5A9E-252FE9A562FC}"/>
              </a:ext>
            </a:extLst>
          </p:cNvPr>
          <p:cNvSpPr/>
          <p:nvPr/>
        </p:nvSpPr>
        <p:spPr>
          <a:xfrm>
            <a:off x="3823182" y="273487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Bármilyen</a:t>
            </a:r>
            <a:endParaRPr lang="en-US" sz="1000" dirty="0"/>
          </a:p>
        </p:txBody>
      </p:sp>
      <p:sp>
        <p:nvSpPr>
          <p:cNvPr id="56" name="Shape 48">
            <a:extLst>
              <a:ext uri="{FF2B5EF4-FFF2-40B4-BE49-F238E27FC236}">
                <a16:creationId xmlns:a16="http://schemas.microsoft.com/office/drawing/2014/main" id="{16BCEB32-5FC1-3CCE-F009-872768201271}"/>
              </a:ext>
            </a:extLst>
          </p:cNvPr>
          <p:cNvSpPr/>
          <p:nvPr/>
        </p:nvSpPr>
        <p:spPr>
          <a:xfrm>
            <a:off x="5423382" y="270744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8FB2509D-FFD7-A23F-C115-A67575D4F296}"/>
              </a:ext>
            </a:extLst>
          </p:cNvPr>
          <p:cNvSpPr/>
          <p:nvPr/>
        </p:nvSpPr>
        <p:spPr>
          <a:xfrm>
            <a:off x="5469102" y="273487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Közepes-nagy</a:t>
            </a:r>
            <a:endParaRPr lang="en-US" sz="1000" dirty="0"/>
          </a:p>
        </p:txBody>
      </p:sp>
      <p:sp>
        <p:nvSpPr>
          <p:cNvPr id="58" name="Shape 50">
            <a:extLst>
              <a:ext uri="{FF2B5EF4-FFF2-40B4-BE49-F238E27FC236}">
                <a16:creationId xmlns:a16="http://schemas.microsoft.com/office/drawing/2014/main" id="{3376C1A6-396D-667C-BCAD-F3CCF31A6584}"/>
              </a:ext>
            </a:extLst>
          </p:cNvPr>
          <p:cNvSpPr/>
          <p:nvPr/>
        </p:nvSpPr>
        <p:spPr>
          <a:xfrm>
            <a:off x="7069302" y="270744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C52EA77D-8ED4-A0B5-BF63-2CA891EC6772}"/>
              </a:ext>
            </a:extLst>
          </p:cNvPr>
          <p:cNvSpPr/>
          <p:nvPr/>
        </p:nvSpPr>
        <p:spPr>
          <a:xfrm>
            <a:off x="7115022" y="273487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Bármilyen</a:t>
            </a:r>
            <a:endParaRPr lang="en-US" sz="1000" dirty="0"/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0AA15299-4DB4-CA2E-34CC-38D98AC188C7}"/>
              </a:ext>
            </a:extLst>
          </p:cNvPr>
          <p:cNvSpPr/>
          <p:nvPr/>
        </p:nvSpPr>
        <p:spPr>
          <a:xfrm>
            <a:off x="302742" y="3237798"/>
            <a:ext cx="18288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C47BA461-C119-EA44-47EB-766E3DC456B6}"/>
              </a:ext>
            </a:extLst>
          </p:cNvPr>
          <p:cNvSpPr/>
          <p:nvPr/>
        </p:nvSpPr>
        <p:spPr>
          <a:xfrm>
            <a:off x="348462" y="326523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kezelés</a:t>
            </a:r>
            <a:endParaRPr lang="en-US" sz="1000" dirty="0"/>
          </a:p>
        </p:txBody>
      </p:sp>
      <p:sp>
        <p:nvSpPr>
          <p:cNvPr id="62" name="Shape 54">
            <a:extLst>
              <a:ext uri="{FF2B5EF4-FFF2-40B4-BE49-F238E27FC236}">
                <a16:creationId xmlns:a16="http://schemas.microsoft.com/office/drawing/2014/main" id="{E3CC79B7-9006-0CF3-BE81-B97694EF126D}"/>
              </a:ext>
            </a:extLst>
          </p:cNvPr>
          <p:cNvSpPr/>
          <p:nvPr/>
        </p:nvSpPr>
        <p:spPr>
          <a:xfrm>
            <a:off x="2131542" y="3237798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5">
            <a:extLst>
              <a:ext uri="{FF2B5EF4-FFF2-40B4-BE49-F238E27FC236}">
                <a16:creationId xmlns:a16="http://schemas.microsoft.com/office/drawing/2014/main" id="{48193766-8B23-FCF5-ECFE-5F3401B50D3F}"/>
              </a:ext>
            </a:extLst>
          </p:cNvPr>
          <p:cNvSpPr/>
          <p:nvPr/>
        </p:nvSpPr>
        <p:spPr>
          <a:xfrm>
            <a:off x="2177262" y="326523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Dedikált</a:t>
            </a:r>
            <a:endParaRPr lang="en-US" sz="1000" dirty="0"/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9E1EBFB2-D7A1-E522-DFD7-1C34ED9E2C2D}"/>
              </a:ext>
            </a:extLst>
          </p:cNvPr>
          <p:cNvSpPr/>
          <p:nvPr/>
        </p:nvSpPr>
        <p:spPr>
          <a:xfrm>
            <a:off x="3777462" y="3237798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A64A0520-FF89-E30E-8734-8D625F97F88D}"/>
              </a:ext>
            </a:extLst>
          </p:cNvPr>
          <p:cNvSpPr/>
          <p:nvPr/>
        </p:nvSpPr>
        <p:spPr>
          <a:xfrm>
            <a:off x="3823182" y="326523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PR-on át</a:t>
            </a:r>
            <a:endParaRPr lang="en-US" sz="1000" dirty="0"/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9ABE91DE-8F4B-9D21-5C8E-708535C7D3CF}"/>
              </a:ext>
            </a:extLst>
          </p:cNvPr>
          <p:cNvSpPr/>
          <p:nvPr/>
        </p:nvSpPr>
        <p:spPr>
          <a:xfrm>
            <a:off x="5423382" y="3237798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B09F1CAD-15EE-84E0-68B8-7F3FFDB8FAFD}"/>
              </a:ext>
            </a:extLst>
          </p:cNvPr>
          <p:cNvSpPr/>
          <p:nvPr/>
        </p:nvSpPr>
        <p:spPr>
          <a:xfrm>
            <a:off x="5469102" y="326523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PR-on át</a:t>
            </a:r>
            <a:endParaRPr lang="en-US" sz="1000" dirty="0"/>
          </a:p>
        </p:txBody>
      </p:sp>
      <p:sp>
        <p:nvSpPr>
          <p:cNvPr id="68" name="Shape 60">
            <a:extLst>
              <a:ext uri="{FF2B5EF4-FFF2-40B4-BE49-F238E27FC236}">
                <a16:creationId xmlns:a16="http://schemas.microsoft.com/office/drawing/2014/main" id="{7326E3A2-1A66-7AD9-FF4A-EDA0CC6D1F08}"/>
              </a:ext>
            </a:extLst>
          </p:cNvPr>
          <p:cNvSpPr/>
          <p:nvPr/>
        </p:nvSpPr>
        <p:spPr>
          <a:xfrm>
            <a:off x="7069302" y="3237798"/>
            <a:ext cx="17373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1">
            <a:extLst>
              <a:ext uri="{FF2B5EF4-FFF2-40B4-BE49-F238E27FC236}">
                <a16:creationId xmlns:a16="http://schemas.microsoft.com/office/drawing/2014/main" id="{0A1204D0-6167-36D0-FA4A-8948333AA9AF}"/>
              </a:ext>
            </a:extLst>
          </p:cNvPr>
          <p:cNvSpPr/>
          <p:nvPr/>
        </p:nvSpPr>
        <p:spPr>
          <a:xfrm>
            <a:off x="7115022" y="326523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</a:t>
            </a:r>
            <a:endParaRPr lang="en-US" sz="1000" dirty="0"/>
          </a:p>
        </p:txBody>
      </p:sp>
      <p:sp>
        <p:nvSpPr>
          <p:cNvPr id="70" name="Shape 62">
            <a:extLst>
              <a:ext uri="{FF2B5EF4-FFF2-40B4-BE49-F238E27FC236}">
                <a16:creationId xmlns:a16="http://schemas.microsoft.com/office/drawing/2014/main" id="{E018CAB9-0CEE-53CE-911A-6CDD2FA1D4C2}"/>
              </a:ext>
            </a:extLst>
          </p:cNvPr>
          <p:cNvSpPr/>
          <p:nvPr/>
        </p:nvSpPr>
        <p:spPr>
          <a:xfrm>
            <a:off x="302742" y="376815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>
            <a:extLst>
              <a:ext uri="{FF2B5EF4-FFF2-40B4-BE49-F238E27FC236}">
                <a16:creationId xmlns:a16="http://schemas.microsoft.com/office/drawing/2014/main" id="{5145FC87-69D9-F23B-C1BF-D05B8296209C}"/>
              </a:ext>
            </a:extLst>
          </p:cNvPr>
          <p:cNvSpPr/>
          <p:nvPr/>
        </p:nvSpPr>
        <p:spPr>
          <a:xfrm>
            <a:off x="348462" y="379558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Tanulási görbe</a:t>
            </a:r>
            <a:endParaRPr lang="en-US" sz="1000" dirty="0"/>
          </a:p>
        </p:txBody>
      </p:sp>
      <p:sp>
        <p:nvSpPr>
          <p:cNvPr id="72" name="Shape 64">
            <a:extLst>
              <a:ext uri="{FF2B5EF4-FFF2-40B4-BE49-F238E27FC236}">
                <a16:creationId xmlns:a16="http://schemas.microsoft.com/office/drawing/2014/main" id="{8D599550-B6B8-BA60-DEC2-08AE5D830043}"/>
              </a:ext>
            </a:extLst>
          </p:cNvPr>
          <p:cNvSpPr/>
          <p:nvPr/>
        </p:nvSpPr>
        <p:spPr>
          <a:xfrm>
            <a:off x="2131542" y="376815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5">
            <a:extLst>
              <a:ext uri="{FF2B5EF4-FFF2-40B4-BE49-F238E27FC236}">
                <a16:creationId xmlns:a16="http://schemas.microsoft.com/office/drawing/2014/main" id="{28D27297-E1DA-5048-6D1D-58860204C347}"/>
              </a:ext>
            </a:extLst>
          </p:cNvPr>
          <p:cNvSpPr/>
          <p:nvPr/>
        </p:nvSpPr>
        <p:spPr>
          <a:xfrm>
            <a:off x="2177262" y="379558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Meredek</a:t>
            </a:r>
            <a:endParaRPr lang="en-US" sz="1000" dirty="0"/>
          </a:p>
        </p:txBody>
      </p:sp>
      <p:sp>
        <p:nvSpPr>
          <p:cNvPr id="74" name="Shape 66">
            <a:extLst>
              <a:ext uri="{FF2B5EF4-FFF2-40B4-BE49-F238E27FC236}">
                <a16:creationId xmlns:a16="http://schemas.microsoft.com/office/drawing/2014/main" id="{114FD7B3-41D6-281B-637C-720080F2CB76}"/>
              </a:ext>
            </a:extLst>
          </p:cNvPr>
          <p:cNvSpPr/>
          <p:nvPr/>
        </p:nvSpPr>
        <p:spPr>
          <a:xfrm>
            <a:off x="3777462" y="376815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>
            <a:extLst>
              <a:ext uri="{FF2B5EF4-FFF2-40B4-BE49-F238E27FC236}">
                <a16:creationId xmlns:a16="http://schemas.microsoft.com/office/drawing/2014/main" id="{E231B52E-AFEF-AC6C-14A5-84661A94C54A}"/>
              </a:ext>
            </a:extLst>
          </p:cNvPr>
          <p:cNvSpPr/>
          <p:nvPr/>
        </p:nvSpPr>
        <p:spPr>
          <a:xfrm>
            <a:off x="3823182" y="379558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Enyhe</a:t>
            </a:r>
            <a:endParaRPr lang="en-US" sz="1000" dirty="0"/>
          </a:p>
        </p:txBody>
      </p:sp>
      <p:sp>
        <p:nvSpPr>
          <p:cNvPr id="76" name="Shape 68">
            <a:extLst>
              <a:ext uri="{FF2B5EF4-FFF2-40B4-BE49-F238E27FC236}">
                <a16:creationId xmlns:a16="http://schemas.microsoft.com/office/drawing/2014/main" id="{A6382638-7647-BECD-DB11-7F733300E407}"/>
              </a:ext>
            </a:extLst>
          </p:cNvPr>
          <p:cNvSpPr/>
          <p:nvPr/>
        </p:nvSpPr>
        <p:spPr>
          <a:xfrm>
            <a:off x="5423382" y="376815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9">
            <a:extLst>
              <a:ext uri="{FF2B5EF4-FFF2-40B4-BE49-F238E27FC236}">
                <a16:creationId xmlns:a16="http://schemas.microsoft.com/office/drawing/2014/main" id="{0805821E-8B0E-7F25-ACC9-B86FC544C2FA}"/>
              </a:ext>
            </a:extLst>
          </p:cNvPr>
          <p:cNvSpPr/>
          <p:nvPr/>
        </p:nvSpPr>
        <p:spPr>
          <a:xfrm>
            <a:off x="5469102" y="379558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</a:t>
            </a:r>
            <a:endParaRPr lang="en-US" sz="1000" dirty="0"/>
          </a:p>
        </p:txBody>
      </p:sp>
      <p:sp>
        <p:nvSpPr>
          <p:cNvPr id="78" name="Shape 70">
            <a:extLst>
              <a:ext uri="{FF2B5EF4-FFF2-40B4-BE49-F238E27FC236}">
                <a16:creationId xmlns:a16="http://schemas.microsoft.com/office/drawing/2014/main" id="{71506755-88A5-417B-3161-65CEB6A393AD}"/>
              </a:ext>
            </a:extLst>
          </p:cNvPr>
          <p:cNvSpPr/>
          <p:nvPr/>
        </p:nvSpPr>
        <p:spPr>
          <a:xfrm>
            <a:off x="7069302" y="376815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1">
            <a:extLst>
              <a:ext uri="{FF2B5EF4-FFF2-40B4-BE49-F238E27FC236}">
                <a16:creationId xmlns:a16="http://schemas.microsoft.com/office/drawing/2014/main" id="{5CD791A3-06D6-3F7A-97D1-AA09D5B5A55A}"/>
              </a:ext>
            </a:extLst>
          </p:cNvPr>
          <p:cNvSpPr/>
          <p:nvPr/>
        </p:nvSpPr>
        <p:spPr>
          <a:xfrm>
            <a:off x="7115022" y="379558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</a:t>
            </a:r>
            <a:endParaRPr lang="en-US" sz="1000" dirty="0"/>
          </a:p>
        </p:txBody>
      </p:sp>
      <p:sp>
        <p:nvSpPr>
          <p:cNvPr id="80" name="Shape 72">
            <a:extLst>
              <a:ext uri="{FF2B5EF4-FFF2-40B4-BE49-F238E27FC236}">
                <a16:creationId xmlns:a16="http://schemas.microsoft.com/office/drawing/2014/main" id="{489D8947-35E9-1DCD-B395-4305BB8080E0}"/>
              </a:ext>
            </a:extLst>
          </p:cNvPr>
          <p:cNvSpPr/>
          <p:nvPr/>
        </p:nvSpPr>
        <p:spPr>
          <a:xfrm>
            <a:off x="302742" y="4298502"/>
            <a:ext cx="18288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3">
            <a:extLst>
              <a:ext uri="{FF2B5EF4-FFF2-40B4-BE49-F238E27FC236}">
                <a16:creationId xmlns:a16="http://schemas.microsoft.com/office/drawing/2014/main" id="{D02F2B28-8917-1C09-FEAD-7916AAE7CC2C}"/>
              </a:ext>
            </a:extLst>
          </p:cNvPr>
          <p:cNvSpPr/>
          <p:nvPr/>
        </p:nvSpPr>
        <p:spPr>
          <a:xfrm>
            <a:off x="348462" y="432593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Legjobb:</a:t>
            </a:r>
            <a:endParaRPr lang="en-US" sz="1000" dirty="0"/>
          </a:p>
        </p:txBody>
      </p:sp>
      <p:sp>
        <p:nvSpPr>
          <p:cNvPr id="82" name="Shape 74">
            <a:extLst>
              <a:ext uri="{FF2B5EF4-FFF2-40B4-BE49-F238E27FC236}">
                <a16:creationId xmlns:a16="http://schemas.microsoft.com/office/drawing/2014/main" id="{A2385C73-088B-022B-2C1E-D531ED80975C}"/>
              </a:ext>
            </a:extLst>
          </p:cNvPr>
          <p:cNvSpPr/>
          <p:nvPr/>
        </p:nvSpPr>
        <p:spPr>
          <a:xfrm>
            <a:off x="2131542" y="4298502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5">
            <a:extLst>
              <a:ext uri="{FF2B5EF4-FFF2-40B4-BE49-F238E27FC236}">
                <a16:creationId xmlns:a16="http://schemas.microsoft.com/office/drawing/2014/main" id="{43BDF0C8-2F12-C476-74BB-724C93B4F747}"/>
              </a:ext>
            </a:extLst>
          </p:cNvPr>
          <p:cNvSpPr/>
          <p:nvPr/>
        </p:nvSpPr>
        <p:spPr>
          <a:xfrm>
            <a:off x="2177262" y="432593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v. release</a:t>
            </a:r>
            <a:endParaRPr lang="en-US" sz="1000" dirty="0"/>
          </a:p>
        </p:txBody>
      </p:sp>
      <p:sp>
        <p:nvSpPr>
          <p:cNvPr id="84" name="Shape 76">
            <a:extLst>
              <a:ext uri="{FF2B5EF4-FFF2-40B4-BE49-F238E27FC236}">
                <a16:creationId xmlns:a16="http://schemas.microsoft.com/office/drawing/2014/main" id="{8FA550A6-F056-2AAC-138C-ADF8268C44C8}"/>
              </a:ext>
            </a:extLst>
          </p:cNvPr>
          <p:cNvSpPr/>
          <p:nvPr/>
        </p:nvSpPr>
        <p:spPr>
          <a:xfrm>
            <a:off x="3777462" y="4298502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7">
            <a:extLst>
              <a:ext uri="{FF2B5EF4-FFF2-40B4-BE49-F238E27FC236}">
                <a16:creationId xmlns:a16="http://schemas.microsoft.com/office/drawing/2014/main" id="{AB4F6A88-0E97-090E-4B8D-F78A262C69A0}"/>
              </a:ext>
            </a:extLst>
          </p:cNvPr>
          <p:cNvSpPr/>
          <p:nvPr/>
        </p:nvSpPr>
        <p:spPr>
          <a:xfrm>
            <a:off x="3823182" y="432593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SaaS</a:t>
            </a:r>
            <a:endParaRPr lang="en-US" sz="1000" dirty="0"/>
          </a:p>
        </p:txBody>
      </p:sp>
      <p:sp>
        <p:nvSpPr>
          <p:cNvPr id="86" name="Shape 78">
            <a:extLst>
              <a:ext uri="{FF2B5EF4-FFF2-40B4-BE49-F238E27FC236}">
                <a16:creationId xmlns:a16="http://schemas.microsoft.com/office/drawing/2014/main" id="{57146A72-F8AA-69BC-C4B2-F06990B4513B}"/>
              </a:ext>
            </a:extLst>
          </p:cNvPr>
          <p:cNvSpPr/>
          <p:nvPr/>
        </p:nvSpPr>
        <p:spPr>
          <a:xfrm>
            <a:off x="5423382" y="4298502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9">
            <a:extLst>
              <a:ext uri="{FF2B5EF4-FFF2-40B4-BE49-F238E27FC236}">
                <a16:creationId xmlns:a16="http://schemas.microsoft.com/office/drawing/2014/main" id="{F5D970C3-F610-259E-EE7B-6F3068966A5C}"/>
              </a:ext>
            </a:extLst>
          </p:cNvPr>
          <p:cNvSpPr/>
          <p:nvPr/>
        </p:nvSpPr>
        <p:spPr>
          <a:xfrm>
            <a:off x="5469102" y="432593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env.</a:t>
            </a:r>
            <a:endParaRPr lang="en-US" sz="1000" dirty="0"/>
          </a:p>
        </p:txBody>
      </p:sp>
      <p:sp>
        <p:nvSpPr>
          <p:cNvPr id="88" name="Shape 80">
            <a:extLst>
              <a:ext uri="{FF2B5EF4-FFF2-40B4-BE49-F238E27FC236}">
                <a16:creationId xmlns:a16="http://schemas.microsoft.com/office/drawing/2014/main" id="{CD16F3A6-B254-D80B-72C8-C3188D16EE1D}"/>
              </a:ext>
            </a:extLst>
          </p:cNvPr>
          <p:cNvSpPr/>
          <p:nvPr/>
        </p:nvSpPr>
        <p:spPr>
          <a:xfrm>
            <a:off x="7069302" y="4298502"/>
            <a:ext cx="17373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1">
            <a:extLst>
              <a:ext uri="{FF2B5EF4-FFF2-40B4-BE49-F238E27FC236}">
                <a16:creationId xmlns:a16="http://schemas.microsoft.com/office/drawing/2014/main" id="{1C8FECA1-3B1F-DE32-10E8-0BDD176A6FA2}"/>
              </a:ext>
            </a:extLst>
          </p:cNvPr>
          <p:cNvSpPr/>
          <p:nvPr/>
        </p:nvSpPr>
        <p:spPr>
          <a:xfrm>
            <a:off x="7115022" y="432593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Tech, DevOps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3254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 err="1">
                <a:solidFill>
                  <a:srgbClr val="444444"/>
                </a:solidFill>
              </a:rPr>
              <a:t>Commitoljunk</a:t>
            </a:r>
            <a:r>
              <a:rPr lang="en-US" sz="1800" b="1" dirty="0">
                <a:solidFill>
                  <a:srgbClr val="444444"/>
                </a:solidFill>
              </a:rPr>
              <a:t> </a:t>
            </a:r>
            <a:r>
              <a:rPr lang="en-US" sz="1800" b="1" dirty="0" err="1">
                <a:solidFill>
                  <a:srgbClr val="444444"/>
                </a:solidFill>
              </a:rPr>
              <a:t>gyakran</a:t>
            </a:r>
            <a:r>
              <a:rPr lang="en-US" sz="1800" b="1" dirty="0">
                <a:solidFill>
                  <a:srgbClr val="444444"/>
                </a:solidFill>
              </a:rPr>
              <a:t>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kisebb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egységeket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könnyebb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javítani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  <a:endParaRPr lang="en-US" sz="18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Atomic commits: </a:t>
            </a:r>
            <a:r>
              <a:rPr lang="en-US" sz="1800" dirty="0" err="1">
                <a:solidFill>
                  <a:srgbClr val="444444"/>
                </a:solidFill>
              </a:rPr>
              <a:t>egy</a:t>
            </a:r>
            <a:r>
              <a:rPr lang="en-US" sz="1800" dirty="0">
                <a:solidFill>
                  <a:srgbClr val="444444"/>
                </a:solidFill>
              </a:rPr>
              <a:t> commit = </a:t>
            </a:r>
            <a:r>
              <a:rPr lang="en-US" sz="1800" dirty="0" err="1">
                <a:solidFill>
                  <a:srgbClr val="444444"/>
                </a:solidFill>
              </a:rPr>
              <a:t>egy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logikai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változás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Ne </a:t>
            </a:r>
            <a:r>
              <a:rPr lang="en-US" sz="1800" b="1" dirty="0" err="1">
                <a:solidFill>
                  <a:srgbClr val="444444"/>
                </a:solidFill>
              </a:rPr>
              <a:t>commitoljunk</a:t>
            </a:r>
            <a:r>
              <a:rPr lang="en-US" sz="1800" b="1" dirty="0">
                <a:solidFill>
                  <a:srgbClr val="444444"/>
                </a:solidFill>
              </a:rPr>
              <a:t> </a:t>
            </a:r>
            <a:r>
              <a:rPr lang="en-US" sz="1800" b="1" dirty="0" err="1">
                <a:solidFill>
                  <a:srgbClr val="444444"/>
                </a:solidFill>
              </a:rPr>
              <a:t>binárisokat</a:t>
            </a:r>
            <a:r>
              <a:rPr lang="en-US" sz="1800" b="1" dirty="0">
                <a:solidFill>
                  <a:srgbClr val="444444"/>
                </a:solidFill>
              </a:rPr>
              <a:t>: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használjuk</a:t>
            </a:r>
            <a:r>
              <a:rPr lang="en-US" sz="1800" dirty="0">
                <a:solidFill>
                  <a:srgbClr val="444444"/>
                </a:solidFill>
              </a:rPr>
              <a:t> a .</a:t>
            </a:r>
            <a:r>
              <a:rPr lang="en-US" sz="1800" dirty="0" err="1">
                <a:solidFill>
                  <a:srgbClr val="444444"/>
                </a:solidFill>
              </a:rPr>
              <a:t>gitignore</a:t>
            </a:r>
            <a:r>
              <a:rPr lang="en-US" sz="1800" dirty="0">
                <a:solidFill>
                  <a:srgbClr val="444444"/>
                </a:solidFill>
              </a:rPr>
              <a:t>-t (</a:t>
            </a:r>
            <a:r>
              <a:rPr lang="en-US" sz="1800" dirty="0" err="1">
                <a:solidFill>
                  <a:srgbClr val="444444"/>
                </a:solidFill>
              </a:rPr>
              <a:t>node_modules</a:t>
            </a:r>
            <a:r>
              <a:rPr lang="en-US" sz="1800" dirty="0">
                <a:solidFill>
                  <a:srgbClr val="444444"/>
                </a:solidFill>
              </a:rPr>
              <a:t>, </a:t>
            </a:r>
            <a:r>
              <a:rPr lang="en-US" sz="1800" dirty="0" err="1">
                <a:solidFill>
                  <a:srgbClr val="444444"/>
                </a:solidFill>
              </a:rPr>
              <a:t>fordított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fájlok</a:t>
            </a:r>
            <a:r>
              <a:rPr lang="en-US" sz="1800" dirty="0">
                <a:solidFill>
                  <a:srgbClr val="444444"/>
                </a:solidFill>
              </a:rPr>
              <a:t> [.exe, .class]) </a:t>
            </a:r>
            <a:r>
              <a:rPr lang="en-US" sz="1800" dirty="0" err="1">
                <a:solidFill>
                  <a:srgbClr val="444444"/>
                </a:solidFill>
              </a:rPr>
              <a:t>mellőzése</a:t>
            </a:r>
            <a:r>
              <a:rPr lang="en-US" sz="1800" dirty="0">
                <a:solidFill>
                  <a:srgbClr val="444444"/>
                </a:solidFill>
              </a:rPr>
              <a:t> </a:t>
            </a:r>
            <a:r>
              <a:rPr lang="en-US" sz="1800" dirty="0" err="1">
                <a:solidFill>
                  <a:srgbClr val="444444"/>
                </a:solidFill>
              </a:rPr>
              <a:t>érdekében</a:t>
            </a:r>
            <a:r>
              <a:rPr lang="en-US" sz="1800" dirty="0">
                <a:solidFill>
                  <a:srgbClr val="444444"/>
                </a:solidFill>
              </a:rPr>
              <a:t>.</a:t>
            </a:r>
            <a:endParaRPr lang="en-US" sz="1800" b="1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b="1" dirty="0">
                <a:solidFill>
                  <a:srgbClr val="444444"/>
                </a:solidFill>
              </a:rPr>
              <a:t>Soha ne </a:t>
            </a:r>
            <a:r>
              <a:rPr lang="en-US" sz="1800" b="1" dirty="0" err="1">
                <a:solidFill>
                  <a:srgbClr val="444444"/>
                </a:solidFill>
              </a:rPr>
              <a:t>pusholjunk</a:t>
            </a:r>
            <a:r>
              <a:rPr lang="en-US" sz="1800" b="1" dirty="0">
                <a:solidFill>
                  <a:srgbClr val="444444"/>
                </a:solidFill>
              </a:rPr>
              <a:t> </a:t>
            </a:r>
            <a:r>
              <a:rPr lang="en-US" sz="1800" b="1" dirty="0" err="1">
                <a:solidFill>
                  <a:srgbClr val="444444"/>
                </a:solidFill>
              </a:rPr>
              <a:t>jelszót</a:t>
            </a:r>
            <a:r>
              <a:rPr lang="en-US" sz="1800" b="1" dirty="0">
                <a:solidFill>
                  <a:srgbClr val="444444"/>
                </a:solidFill>
              </a:rPr>
              <a:t>/API </a:t>
            </a:r>
            <a:r>
              <a:rPr lang="en-US" sz="1800" b="1" dirty="0" err="1">
                <a:solidFill>
                  <a:srgbClr val="444444"/>
                </a:solidFill>
              </a:rPr>
              <a:t>kulcsot</a:t>
            </a:r>
            <a:r>
              <a:rPr lang="en-US" sz="1800" b="1" dirty="0">
                <a:solidFill>
                  <a:srgbClr val="444444"/>
                </a:solidFill>
              </a:rPr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Best practices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922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Best practices 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8C006AD-2503-076D-31F1-78332FBAC483}"/>
              </a:ext>
            </a:extLst>
          </p:cNvPr>
          <p:cNvSpPr/>
          <p:nvPr/>
        </p:nvSpPr>
        <p:spPr>
          <a:xfrm>
            <a:off x="266082" y="763482"/>
            <a:ext cx="4114800" cy="39485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63E4D43-9C0E-4673-CB7A-1734C7A47538}"/>
              </a:ext>
            </a:extLst>
          </p:cNvPr>
          <p:cNvSpPr/>
          <p:nvPr/>
        </p:nvSpPr>
        <p:spPr>
          <a:xfrm>
            <a:off x="266082" y="763482"/>
            <a:ext cx="411480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2F6CBC0-37D6-553D-EFDA-1432B009C81E}"/>
              </a:ext>
            </a:extLst>
          </p:cNvPr>
          <p:cNvSpPr/>
          <p:nvPr/>
        </p:nvSpPr>
        <p:spPr>
          <a:xfrm>
            <a:off x="357522" y="781770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86D8419-831E-9E54-CD19-8942C0EEAFE1}"/>
              </a:ext>
            </a:extLst>
          </p:cNvPr>
          <p:cNvSpPr/>
          <p:nvPr/>
        </p:nvSpPr>
        <p:spPr>
          <a:xfrm>
            <a:off x="403242" y="125725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Mely fájlokat NE kövesse a Git?</a:t>
            </a:r>
            <a:endParaRPr lang="en-US" sz="11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4558204-5BFD-4D21-8350-F3A9AA9BB6F7}"/>
              </a:ext>
            </a:extLst>
          </p:cNvPr>
          <p:cNvSpPr/>
          <p:nvPr/>
        </p:nvSpPr>
        <p:spPr>
          <a:xfrm>
            <a:off x="357522" y="1586442"/>
            <a:ext cx="38404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27EEB93-BBB4-78BB-EBDE-D8BBD2C3910F}"/>
              </a:ext>
            </a:extLst>
          </p:cNvPr>
          <p:cNvSpPr/>
          <p:nvPr/>
        </p:nvSpPr>
        <p:spPr>
          <a:xfrm>
            <a:off x="467250" y="162301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outputok</a:t>
            </a:r>
            <a:endParaRPr lang="en-US" sz="9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9ECC46A-2462-2BF5-5592-DEC6F8506324}"/>
              </a:ext>
            </a:extLst>
          </p:cNvPr>
          <p:cNvSpPr/>
          <p:nvPr/>
        </p:nvSpPr>
        <p:spPr>
          <a:xfrm>
            <a:off x="467250" y="175560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9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6E1A393-5AFA-BC12-D248-BB44BE9C3536}"/>
              </a:ext>
            </a:extLst>
          </p:cNvPr>
          <p:cNvSpPr/>
          <p:nvPr/>
        </p:nvSpPr>
        <p:spPr>
          <a:xfrm>
            <a:off x="467250" y="188819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9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85E423C-78E8-75B6-7C46-DBEFCA026E67}"/>
              </a:ext>
            </a:extLst>
          </p:cNvPr>
          <p:cNvSpPr/>
          <p:nvPr/>
        </p:nvSpPr>
        <p:spPr>
          <a:xfrm>
            <a:off x="467250" y="202078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*.class</a:t>
            </a:r>
            <a:endParaRPr lang="en-US" sz="9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DECE482-9A49-EACF-386F-80FE00FA38F9}"/>
              </a:ext>
            </a:extLst>
          </p:cNvPr>
          <p:cNvSpPr/>
          <p:nvPr/>
        </p:nvSpPr>
        <p:spPr>
          <a:xfrm>
            <a:off x="467250" y="228595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 fájlok</a:t>
            </a:r>
            <a:endParaRPr lang="en-US" sz="9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F245CD5-DF06-5868-7A48-31E45BAD8AA6}"/>
              </a:ext>
            </a:extLst>
          </p:cNvPr>
          <p:cNvSpPr/>
          <p:nvPr/>
        </p:nvSpPr>
        <p:spPr>
          <a:xfrm>
            <a:off x="467250" y="241854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3E2E613-4071-0DAB-76E0-490904671B06}"/>
              </a:ext>
            </a:extLst>
          </p:cNvPr>
          <p:cNvSpPr/>
          <p:nvPr/>
        </p:nvSpPr>
        <p:spPr>
          <a:xfrm>
            <a:off x="467250" y="255113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</a:t>
            </a:r>
            <a:endParaRPr lang="en-US" sz="9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5D706A0-3879-ACD1-1218-F961229C7B2E}"/>
              </a:ext>
            </a:extLst>
          </p:cNvPr>
          <p:cNvSpPr/>
          <p:nvPr/>
        </p:nvSpPr>
        <p:spPr>
          <a:xfrm>
            <a:off x="467250" y="281631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Secrets!</a:t>
            </a:r>
            <a:endParaRPr lang="en-US" sz="95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3C4B5BF-C160-9628-34F5-D86176E355E4}"/>
              </a:ext>
            </a:extLst>
          </p:cNvPr>
          <p:cNvSpPr/>
          <p:nvPr/>
        </p:nvSpPr>
        <p:spPr>
          <a:xfrm>
            <a:off x="467250" y="294889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9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478B2F4-41D1-4024-C9AE-F3D82CA68DE0}"/>
              </a:ext>
            </a:extLst>
          </p:cNvPr>
          <p:cNvSpPr/>
          <p:nvPr/>
        </p:nvSpPr>
        <p:spPr>
          <a:xfrm>
            <a:off x="467250" y="308148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*.pem</a:t>
            </a:r>
            <a:endParaRPr lang="en-US" sz="9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3A8E33C-401D-B34C-7112-9FA6361D6342}"/>
              </a:ext>
            </a:extLst>
          </p:cNvPr>
          <p:cNvSpPr/>
          <p:nvPr/>
        </p:nvSpPr>
        <p:spPr>
          <a:xfrm>
            <a:off x="467250" y="334666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 fájlok</a:t>
            </a:r>
            <a:endParaRPr lang="en-US" sz="9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9835BE6-821F-2285-810F-E5D39587C8EF}"/>
              </a:ext>
            </a:extLst>
          </p:cNvPr>
          <p:cNvSpPr/>
          <p:nvPr/>
        </p:nvSpPr>
        <p:spPr>
          <a:xfrm>
            <a:off x="467250" y="347925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9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8C7AD6C-519F-08BF-6E24-A6A3255352F1}"/>
              </a:ext>
            </a:extLst>
          </p:cNvPr>
          <p:cNvSpPr/>
          <p:nvPr/>
        </p:nvSpPr>
        <p:spPr>
          <a:xfrm>
            <a:off x="467250" y="361183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Thumbs.db</a:t>
            </a:r>
            <a:endParaRPr lang="en-US" sz="9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3FD8118-1331-6E19-D86F-B97AE2FE2B8D}"/>
              </a:ext>
            </a:extLst>
          </p:cNvPr>
          <p:cNvSpPr/>
          <p:nvPr/>
        </p:nvSpPr>
        <p:spPr>
          <a:xfrm>
            <a:off x="357522" y="407978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Soha ne commitolj API kulcsokat, jelszavakat, .env fájlokat!</a:t>
            </a:r>
            <a:endParaRPr lang="en-US" sz="10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E0300B2-0C6E-B7E2-9B0A-FE632EE8F1C4}"/>
              </a:ext>
            </a:extLst>
          </p:cNvPr>
          <p:cNvSpPr/>
          <p:nvPr/>
        </p:nvSpPr>
        <p:spPr>
          <a:xfrm>
            <a:off x="4746642" y="763482"/>
            <a:ext cx="4114800" cy="39485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28DD2284-C208-57B5-FABB-1B45AA101357}"/>
              </a:ext>
            </a:extLst>
          </p:cNvPr>
          <p:cNvSpPr/>
          <p:nvPr/>
        </p:nvSpPr>
        <p:spPr>
          <a:xfrm>
            <a:off x="4746642" y="763482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4A429293-8084-0F5E-6D71-CF2051A07683}"/>
              </a:ext>
            </a:extLst>
          </p:cNvPr>
          <p:cNvSpPr/>
          <p:nvPr/>
        </p:nvSpPr>
        <p:spPr>
          <a:xfrm>
            <a:off x="4838082" y="781770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commit üzenetek</a:t>
            </a:r>
            <a:endParaRPr lang="en-US" sz="14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C6F27FB5-76FA-C6EA-36A4-7462E5C61748}"/>
              </a:ext>
            </a:extLst>
          </p:cNvPr>
          <p:cNvSpPr/>
          <p:nvPr/>
        </p:nvSpPr>
        <p:spPr>
          <a:xfrm>
            <a:off x="4883802" y="125725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szabvány:</a:t>
            </a:r>
            <a:endParaRPr lang="en-US" sz="11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74B71854-1B61-6FB6-4E1D-6256DCB6DBCE}"/>
              </a:ext>
            </a:extLst>
          </p:cNvPr>
          <p:cNvSpPr/>
          <p:nvPr/>
        </p:nvSpPr>
        <p:spPr>
          <a:xfrm>
            <a:off x="4838082" y="1586442"/>
            <a:ext cx="384048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78938BA0-F557-B372-DF45-C4C465DDF175}"/>
              </a:ext>
            </a:extLst>
          </p:cNvPr>
          <p:cNvSpPr/>
          <p:nvPr/>
        </p:nvSpPr>
        <p:spPr>
          <a:xfrm>
            <a:off x="4911234" y="160473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</a:t>
            </a:r>
            <a:endParaRPr lang="en-US" sz="10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F4284DD3-E33F-7920-5E8C-16F84CAA95D3}"/>
              </a:ext>
            </a:extLst>
          </p:cNvPr>
          <p:cNvSpPr/>
          <p:nvPr/>
        </p:nvSpPr>
        <p:spPr>
          <a:xfrm>
            <a:off x="5862210" y="160473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funkció hozzáadása</a:t>
            </a:r>
            <a:endParaRPr lang="en-US" sz="1000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85DAF487-F13D-3271-B125-70C9DCD91F32}"/>
              </a:ext>
            </a:extLst>
          </p:cNvPr>
          <p:cNvSpPr/>
          <p:nvPr/>
        </p:nvSpPr>
        <p:spPr>
          <a:xfrm>
            <a:off x="4838082" y="1933914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FDF9D19B-1161-CE62-ADDD-CA8D9868E2E0}"/>
              </a:ext>
            </a:extLst>
          </p:cNvPr>
          <p:cNvSpPr/>
          <p:nvPr/>
        </p:nvSpPr>
        <p:spPr>
          <a:xfrm>
            <a:off x="4911234" y="195220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</a:t>
            </a:r>
            <a:endParaRPr lang="en-US" sz="10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638B73BF-5E8B-E858-29E1-B6F9FF459A9B}"/>
              </a:ext>
            </a:extLst>
          </p:cNvPr>
          <p:cNvSpPr/>
          <p:nvPr/>
        </p:nvSpPr>
        <p:spPr>
          <a:xfrm>
            <a:off x="5862210" y="195220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Hibajavítás</a:t>
            </a:r>
            <a:endParaRPr lang="en-US" sz="10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E4D19BB6-77A7-1FC9-CBD1-334360CC6BE5}"/>
              </a:ext>
            </a:extLst>
          </p:cNvPr>
          <p:cNvSpPr/>
          <p:nvPr/>
        </p:nvSpPr>
        <p:spPr>
          <a:xfrm>
            <a:off x="4838082" y="2281386"/>
            <a:ext cx="384048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6409664F-EEBF-EA21-3BF8-50F7768C3716}"/>
              </a:ext>
            </a:extLst>
          </p:cNvPr>
          <p:cNvSpPr/>
          <p:nvPr/>
        </p:nvSpPr>
        <p:spPr>
          <a:xfrm>
            <a:off x="4911234" y="229967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</a:t>
            </a:r>
            <a:endParaRPr lang="en-US" sz="10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CEABB418-825D-323C-9D6E-BA51169F2F58}"/>
              </a:ext>
            </a:extLst>
          </p:cNvPr>
          <p:cNvSpPr/>
          <p:nvPr/>
        </p:nvSpPr>
        <p:spPr>
          <a:xfrm>
            <a:off x="5862210" y="229967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 változás</a:t>
            </a:r>
            <a:endParaRPr lang="en-US" sz="1000" dirty="0"/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F5E95C62-F648-B56B-AE50-45051BA8A662}"/>
              </a:ext>
            </a:extLst>
          </p:cNvPr>
          <p:cNvSpPr/>
          <p:nvPr/>
        </p:nvSpPr>
        <p:spPr>
          <a:xfrm>
            <a:off x="4838082" y="2628858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C3353A4-0EEF-CCA7-39CD-FC6C62A91D1C}"/>
              </a:ext>
            </a:extLst>
          </p:cNvPr>
          <p:cNvSpPr/>
          <p:nvPr/>
        </p:nvSpPr>
        <p:spPr>
          <a:xfrm>
            <a:off x="4911234" y="264714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refactor:</a:t>
            </a:r>
            <a:endParaRPr lang="en-US" sz="10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76B1AB1C-C4EB-0D77-3FFD-3860ADB89F4F}"/>
              </a:ext>
            </a:extLst>
          </p:cNvPr>
          <p:cNvSpPr/>
          <p:nvPr/>
        </p:nvSpPr>
        <p:spPr>
          <a:xfrm>
            <a:off x="5862210" y="264714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refaktorálás</a:t>
            </a:r>
            <a:endParaRPr lang="en-US" sz="1000" dirty="0"/>
          </a:p>
        </p:txBody>
      </p:sp>
      <p:sp>
        <p:nvSpPr>
          <p:cNvPr id="43" name="Shape 38">
            <a:extLst>
              <a:ext uri="{FF2B5EF4-FFF2-40B4-BE49-F238E27FC236}">
                <a16:creationId xmlns:a16="http://schemas.microsoft.com/office/drawing/2014/main" id="{D4EB91E4-C907-67AD-D71E-6E606D490973}"/>
              </a:ext>
            </a:extLst>
          </p:cNvPr>
          <p:cNvSpPr/>
          <p:nvPr/>
        </p:nvSpPr>
        <p:spPr>
          <a:xfrm>
            <a:off x="4838082" y="2976330"/>
            <a:ext cx="384048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B6CF0BBE-38B1-91AD-CB37-E9C1AFFEEF2F}"/>
              </a:ext>
            </a:extLst>
          </p:cNvPr>
          <p:cNvSpPr/>
          <p:nvPr/>
        </p:nvSpPr>
        <p:spPr>
          <a:xfrm>
            <a:off x="4911234" y="299461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</a:t>
            </a:r>
            <a:endParaRPr lang="en-US" sz="1000" dirty="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995652D4-9BCD-9D9F-512C-7D3D464EF2C9}"/>
              </a:ext>
            </a:extLst>
          </p:cNvPr>
          <p:cNvSpPr/>
          <p:nvPr/>
        </p:nvSpPr>
        <p:spPr>
          <a:xfrm>
            <a:off x="5862210" y="299461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Tesztek hozzáadása</a:t>
            </a:r>
            <a:endParaRPr lang="en-US" sz="1000" dirty="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13B9BDDA-E747-A8C1-79C0-D0D8427A843F}"/>
              </a:ext>
            </a:extLst>
          </p:cNvPr>
          <p:cNvSpPr/>
          <p:nvPr/>
        </p:nvSpPr>
        <p:spPr>
          <a:xfrm>
            <a:off x="4838082" y="3323802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885575C1-7035-A47E-A6A6-9FA777DC55AC}"/>
              </a:ext>
            </a:extLst>
          </p:cNvPr>
          <p:cNvSpPr/>
          <p:nvPr/>
        </p:nvSpPr>
        <p:spPr>
          <a:xfrm>
            <a:off x="4911234" y="334209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</a:t>
            </a:r>
            <a:endParaRPr lang="en-US" sz="100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3546F0F7-EC42-F652-9025-2F173027E4CB}"/>
              </a:ext>
            </a:extLst>
          </p:cNvPr>
          <p:cNvSpPr/>
          <p:nvPr/>
        </p:nvSpPr>
        <p:spPr>
          <a:xfrm>
            <a:off x="5862210" y="334209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konfiguráció</a:t>
            </a:r>
            <a:endParaRPr lang="en-US" sz="1000" dirty="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5159C2F9-2A33-12A1-4E2B-706FA66CB1AD}"/>
              </a:ext>
            </a:extLst>
          </p:cNvPr>
          <p:cNvSpPr/>
          <p:nvPr/>
        </p:nvSpPr>
        <p:spPr>
          <a:xfrm>
            <a:off x="4883802" y="3645654"/>
            <a:ext cx="3840480" cy="106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Rossz: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stuff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Jó: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null pointer in UserService.findById()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OAuth2 login with Google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68908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+mn-lt"/>
              </a:rPr>
              <a:t>Ajánlott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források</a:t>
            </a:r>
            <a:endParaRPr lang="en-US" dirty="0">
              <a:latin typeface="+mn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24405-4CC4-D216-27A8-78CCCFD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94" y="998087"/>
            <a:ext cx="8329612" cy="3147325"/>
          </a:xfrm>
        </p:spPr>
        <p:txBody>
          <a:bodyPr>
            <a:normAutofit/>
          </a:bodyPr>
          <a:lstStyle/>
          <a:p>
            <a:r>
              <a:rPr lang="en-US" sz="1800" dirty="0"/>
              <a:t>Pro Git </a:t>
            </a:r>
            <a:r>
              <a:rPr lang="en-US" sz="1800" dirty="0" err="1"/>
              <a:t>könyv</a:t>
            </a:r>
            <a:r>
              <a:rPr lang="en-US" sz="1800" dirty="0"/>
              <a:t> (</a:t>
            </a:r>
            <a:r>
              <a:rPr lang="en-US" sz="1800" dirty="0" err="1"/>
              <a:t>Ingyenes</a:t>
            </a:r>
            <a:r>
              <a:rPr lang="en-US" sz="1800" dirty="0"/>
              <a:t> online: git-scm.com/book)</a:t>
            </a:r>
          </a:p>
          <a:p>
            <a:r>
              <a:rPr lang="en-US" sz="1800" dirty="0"/>
              <a:t>Learn Git Branching (</a:t>
            </a:r>
            <a:r>
              <a:rPr lang="en-US" sz="1800" dirty="0" err="1"/>
              <a:t>Interaktív</a:t>
            </a:r>
            <a:r>
              <a:rPr lang="en-US" sz="1800" dirty="0"/>
              <a:t> </a:t>
            </a:r>
            <a:r>
              <a:rPr lang="en-US" sz="1800" dirty="0" err="1"/>
              <a:t>játék</a:t>
            </a:r>
            <a:r>
              <a:rPr lang="en-US" sz="1800" dirty="0"/>
              <a:t>: learngitbranching.js.org)</a:t>
            </a:r>
          </a:p>
          <a:p>
            <a:r>
              <a:rPr lang="en-US" sz="1800" dirty="0"/>
              <a:t>Atlassian Git Tutorials</a:t>
            </a:r>
          </a:p>
        </p:txBody>
      </p:sp>
    </p:spTree>
    <p:extLst>
      <p:ext uri="{BB962C8B-B14F-4D97-AF65-F5344CB8AC3E}">
        <p14:creationId xmlns:p14="http://schemas.microsoft.com/office/powerpoint/2010/main" val="255220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Köszönöm</a:t>
            </a:r>
            <a:r>
              <a:rPr lang="en-US" dirty="0"/>
              <a:t> a </a:t>
            </a:r>
            <a:r>
              <a:rPr lang="en-US" dirty="0" err="1"/>
              <a:t>figyelmet</a:t>
            </a:r>
            <a:r>
              <a:rPr lang="en-US" dirty="0"/>
              <a:t>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492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3947</TotalTime>
  <Words>1566</Words>
  <Application>Microsoft Office PowerPoint</Application>
  <PresentationFormat>On-screen Show (16:9)</PresentationFormat>
  <Paragraphs>259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Consolas</vt:lpstr>
      <vt:lpstr>Covers</vt:lpstr>
      <vt:lpstr>General</vt:lpstr>
      <vt:lpstr>Breakers</vt:lpstr>
      <vt:lpstr>Verziókezelés és Git</vt:lpstr>
      <vt:lpstr>Agenda</vt:lpstr>
      <vt:lpstr>Mi a verziókezelés?</vt:lpstr>
      <vt:lpstr>Verziókezelés nélkül</vt:lpstr>
      <vt:lpstr>Verziókezelő rendszerek (VCS)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Markowitz</dc:creator>
  <cp:lastModifiedBy>Szilard Szabo1</cp:lastModifiedBy>
  <cp:revision>43</cp:revision>
  <dcterms:created xsi:type="dcterms:W3CDTF">2018-01-26T19:23:30Z</dcterms:created>
  <dcterms:modified xsi:type="dcterms:W3CDTF">2026-03-10T08:58:40Z</dcterms:modified>
</cp:coreProperties>
</file>