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134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Spring Core ismétlés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Egyetemi előadás – 2. hét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Bevezetés a Spring keretrendszerbe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 err="1"/>
              <a:t>Nyílt</a:t>
            </a:r>
            <a:r>
              <a:rPr dirty="0"/>
              <a:t> </a:t>
            </a:r>
            <a:r>
              <a:rPr dirty="0" err="1"/>
              <a:t>forráskódú</a:t>
            </a:r>
            <a:r>
              <a:rPr dirty="0"/>
              <a:t> Java </a:t>
            </a:r>
            <a:r>
              <a:rPr dirty="0" err="1"/>
              <a:t>keretrendszer</a:t>
            </a:r>
            <a:endParaRPr dirty="0"/>
          </a:p>
          <a:p>
            <a:pPr>
              <a:defRPr sz="2000"/>
            </a:pPr>
            <a:r>
              <a:rPr dirty="0" err="1"/>
              <a:t>Cél</a:t>
            </a:r>
            <a:r>
              <a:rPr dirty="0"/>
              <a:t>: </a:t>
            </a:r>
            <a:r>
              <a:rPr dirty="0" err="1"/>
              <a:t>vállalati</a:t>
            </a:r>
            <a:r>
              <a:rPr dirty="0"/>
              <a:t> </a:t>
            </a:r>
            <a:r>
              <a:rPr dirty="0" err="1"/>
              <a:t>alkalmazásfejlesztés</a:t>
            </a:r>
            <a:r>
              <a:rPr dirty="0"/>
              <a:t> </a:t>
            </a:r>
            <a:r>
              <a:rPr dirty="0" err="1"/>
              <a:t>egyszerűsítése</a:t>
            </a:r>
            <a:endParaRPr dirty="0"/>
          </a:p>
          <a:p>
            <a:pPr>
              <a:defRPr sz="2000"/>
            </a:pPr>
            <a:r>
              <a:rPr dirty="0" err="1"/>
              <a:t>Fő</a:t>
            </a:r>
            <a:r>
              <a:rPr dirty="0"/>
              <a:t> </a:t>
            </a:r>
            <a:r>
              <a:rPr dirty="0" err="1"/>
              <a:t>előnyök</a:t>
            </a:r>
            <a:r>
              <a:rPr dirty="0"/>
              <a:t>: </a:t>
            </a:r>
            <a:r>
              <a:rPr dirty="0" err="1"/>
              <a:t>könnyű</a:t>
            </a:r>
            <a:r>
              <a:rPr dirty="0"/>
              <a:t> </a:t>
            </a:r>
            <a:r>
              <a:rPr dirty="0" err="1"/>
              <a:t>tesztelhetőség</a:t>
            </a:r>
            <a:r>
              <a:rPr dirty="0"/>
              <a:t>, </a:t>
            </a:r>
            <a:r>
              <a:rPr dirty="0" err="1"/>
              <a:t>moduláris</a:t>
            </a:r>
            <a:r>
              <a:rPr dirty="0"/>
              <a:t> </a:t>
            </a:r>
            <a:r>
              <a:rPr dirty="0" err="1"/>
              <a:t>felépítés</a:t>
            </a:r>
            <a:r>
              <a:rPr dirty="0"/>
              <a:t>, </a:t>
            </a:r>
            <a:r>
              <a:rPr dirty="0" err="1"/>
              <a:t>széles</a:t>
            </a:r>
            <a:r>
              <a:rPr dirty="0"/>
              <a:t> </a:t>
            </a:r>
            <a:r>
              <a:rPr dirty="0" err="1"/>
              <a:t>ökoszisztéma</a:t>
            </a:r>
            <a:endParaRPr dirty="0"/>
          </a:p>
        </p:txBody>
      </p:sp>
      <p:pic>
        <p:nvPicPr>
          <p:cNvPr id="2050" name="Picture 2" descr="Pros and Cons of Using Spring Boot - Bamboo Agile">
            <a:extLst>
              <a:ext uri="{FF2B5EF4-FFF2-40B4-BE49-F238E27FC236}">
                <a16:creationId xmlns:a16="http://schemas.microsoft.com/office/drawing/2014/main" id="{BEEAAF93-7DBA-8E1A-F74F-85F8512F6C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7503" y="3060936"/>
            <a:ext cx="6368993" cy="3715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Spring architektúra áttekintés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Spring Core – </a:t>
            </a:r>
            <a:r>
              <a:rPr dirty="0" err="1"/>
              <a:t>alapfunkciók</a:t>
            </a:r>
            <a:r>
              <a:rPr dirty="0"/>
              <a:t> (IoC, DI)</a:t>
            </a:r>
          </a:p>
          <a:p>
            <a:pPr>
              <a:defRPr sz="2000"/>
            </a:pPr>
            <a:r>
              <a:rPr dirty="0"/>
              <a:t>Spring Context – </a:t>
            </a:r>
            <a:r>
              <a:rPr dirty="0" err="1"/>
              <a:t>konfiguráció</a:t>
            </a:r>
            <a:r>
              <a:rPr dirty="0"/>
              <a:t> </a:t>
            </a:r>
            <a:r>
              <a:rPr dirty="0" err="1"/>
              <a:t>és</a:t>
            </a:r>
            <a:r>
              <a:rPr dirty="0"/>
              <a:t> bean </a:t>
            </a:r>
            <a:r>
              <a:rPr dirty="0" err="1"/>
              <a:t>kezelés</a:t>
            </a:r>
            <a:endParaRPr dirty="0"/>
          </a:p>
          <a:p>
            <a:pPr>
              <a:defRPr sz="2000"/>
            </a:pPr>
            <a:r>
              <a:rPr dirty="0"/>
              <a:t>Spring Web – </a:t>
            </a:r>
            <a:r>
              <a:rPr dirty="0" err="1"/>
              <a:t>webes</a:t>
            </a:r>
            <a:r>
              <a:rPr dirty="0"/>
              <a:t> </a:t>
            </a:r>
            <a:r>
              <a:rPr dirty="0" err="1"/>
              <a:t>támogatás</a:t>
            </a:r>
            <a:r>
              <a:rPr dirty="0"/>
              <a:t> (MVC, REST)</a:t>
            </a:r>
          </a:p>
          <a:p>
            <a:pPr>
              <a:defRPr sz="2000"/>
            </a:pPr>
            <a:r>
              <a:rPr dirty="0" err="1"/>
              <a:t>További</a:t>
            </a:r>
            <a:r>
              <a:rPr dirty="0"/>
              <a:t> </a:t>
            </a:r>
            <a:r>
              <a:rPr dirty="0" err="1"/>
              <a:t>modulok</a:t>
            </a:r>
            <a:r>
              <a:rPr dirty="0"/>
              <a:t>: Data, Security, AOP, Batch</a:t>
            </a:r>
          </a:p>
        </p:txBody>
      </p:sp>
      <p:pic>
        <p:nvPicPr>
          <p:cNvPr id="1026" name="Picture 2" descr="What is Spring Framework?. Spring is like a toolbox with many… | by Hamza  elzarw | Medium">
            <a:extLst>
              <a:ext uri="{FF2B5EF4-FFF2-40B4-BE49-F238E27FC236}">
                <a16:creationId xmlns:a16="http://schemas.microsoft.com/office/drawing/2014/main" id="{95AA68F4-3919-8D3E-B4EF-3B0F5D4BEC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137" y="3229088"/>
            <a:ext cx="6249725" cy="351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Inversion of Control (IoC)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 vezérlés átadása a keretrendszernek</a:t>
            </a:r>
          </a:p>
          <a:p>
            <a:pPr>
              <a:defRPr sz="2000"/>
            </a:pPr>
            <a:r>
              <a:t>Nem a fejlesztő példányosít, hanem a Spring</a:t>
            </a:r>
          </a:p>
          <a:p>
            <a:pPr>
              <a:defRPr sz="2000"/>
            </a:pPr>
            <a:r>
              <a:t>Analógia: étterem (rendelsz, a séf főz helyetted)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8847A62D-F5EB-A59C-1091-EE2FDEDB4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2" y="3179539"/>
            <a:ext cx="9144000" cy="36784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Dependency Injection (DI)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 err="1"/>
              <a:t>Objektumok</a:t>
            </a:r>
            <a:r>
              <a:rPr dirty="0"/>
              <a:t> </a:t>
            </a:r>
            <a:r>
              <a:rPr dirty="0" err="1"/>
              <a:t>közti</a:t>
            </a:r>
            <a:r>
              <a:rPr dirty="0"/>
              <a:t> </a:t>
            </a:r>
            <a:r>
              <a:rPr dirty="0" err="1"/>
              <a:t>függőségek</a:t>
            </a:r>
            <a:r>
              <a:rPr dirty="0"/>
              <a:t> </a:t>
            </a:r>
            <a:r>
              <a:rPr dirty="0" err="1"/>
              <a:t>automatikus</a:t>
            </a:r>
            <a:r>
              <a:rPr dirty="0"/>
              <a:t> </a:t>
            </a:r>
            <a:r>
              <a:rPr dirty="0" err="1"/>
              <a:t>betöltése</a:t>
            </a:r>
            <a:endParaRPr dirty="0"/>
          </a:p>
          <a:p>
            <a:pPr>
              <a:defRPr sz="2000"/>
            </a:pPr>
            <a:r>
              <a:rPr dirty="0" err="1"/>
              <a:t>Típusok</a:t>
            </a:r>
            <a:r>
              <a:rPr dirty="0"/>
              <a:t>: </a:t>
            </a:r>
            <a:r>
              <a:rPr dirty="0" err="1"/>
              <a:t>konstruktor</a:t>
            </a:r>
            <a:r>
              <a:rPr dirty="0"/>
              <a:t> injection, setter injection</a:t>
            </a:r>
            <a:r>
              <a:rPr lang="en-US" dirty="0"/>
              <a:t>, field injection</a:t>
            </a:r>
            <a:endParaRPr dirty="0"/>
          </a:p>
          <a:p>
            <a:pPr>
              <a:defRPr sz="2000"/>
            </a:pPr>
            <a:r>
              <a:rPr dirty="0" err="1"/>
              <a:t>Előny</a:t>
            </a:r>
            <a:r>
              <a:rPr dirty="0"/>
              <a:t>: </a:t>
            </a:r>
            <a:r>
              <a:rPr dirty="0" err="1"/>
              <a:t>lazán</a:t>
            </a:r>
            <a:r>
              <a:rPr dirty="0"/>
              <a:t> </a:t>
            </a:r>
            <a:r>
              <a:rPr dirty="0" err="1"/>
              <a:t>csatolt</a:t>
            </a:r>
            <a:r>
              <a:rPr dirty="0"/>
              <a:t> </a:t>
            </a:r>
            <a:r>
              <a:rPr dirty="0" err="1"/>
              <a:t>kód</a:t>
            </a:r>
            <a:r>
              <a:rPr dirty="0"/>
              <a:t>, </a:t>
            </a:r>
            <a:r>
              <a:rPr dirty="0" err="1"/>
              <a:t>könnyebb</a:t>
            </a:r>
            <a:r>
              <a:rPr dirty="0"/>
              <a:t> </a:t>
            </a:r>
            <a:r>
              <a:rPr dirty="0" err="1"/>
              <a:t>tesztelés</a:t>
            </a:r>
            <a:endParaRPr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9CBF5730-593A-C89E-7F80-44FA4CD97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671497"/>
            <a:ext cx="4261898" cy="4134116"/>
          </a:xfrm>
          <a:prstGeom prst="rect">
            <a:avLst/>
          </a:prstGeom>
        </p:spPr>
      </p:pic>
      <p:pic>
        <p:nvPicPr>
          <p:cNvPr id="3076" name="Picture 4" descr="What is Dependency Injection in Java + Spring?">
            <a:extLst>
              <a:ext uri="{FF2B5EF4-FFF2-40B4-BE49-F238E27FC236}">
                <a16:creationId xmlns:a16="http://schemas.microsoft.com/office/drawing/2014/main" id="{DC2D872A-B8A6-EF7D-9014-F426EEBEBC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5527" y="2957885"/>
            <a:ext cx="4441034" cy="2217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Bean és ApplicationContext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Bean = Spring által kezelt objektum</a:t>
            </a:r>
          </a:p>
          <a:p>
            <a:pPr>
              <a:defRPr sz="2000"/>
            </a:pPr>
            <a:r>
              <a:t>ApplicationContext = Spring konténer</a:t>
            </a:r>
          </a:p>
          <a:p>
            <a:pPr>
              <a:defRPr sz="2000"/>
            </a:pPr>
            <a:r>
              <a:t>Bean lifecycle: példányosítás → függőségek → inicializálás → használat → megszüntetés</a:t>
            </a:r>
          </a:p>
        </p:txBody>
      </p:sp>
      <p:sp>
        <p:nvSpPr>
          <p:cNvPr id="4" name="AutoShape 2" descr="Inside Spring Boot: Managing Bean Lifecycle | by Ahmed Safwat | Medium">
            <a:extLst>
              <a:ext uri="{FF2B5EF4-FFF2-40B4-BE49-F238E27FC236}">
                <a16:creationId xmlns:a16="http://schemas.microsoft.com/office/drawing/2014/main" id="{BD3932AB-13D5-D468-8C88-8F5F47884C9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10748" y="3276600"/>
            <a:ext cx="3213652" cy="3213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sp>
        <p:nvSpPr>
          <p:cNvPr id="5" name="AutoShape 4" descr="Inside Spring Boot: Managing Bean Lifecycle | by Ahmed Safwat | Medium">
            <a:extLst>
              <a:ext uri="{FF2B5EF4-FFF2-40B4-BE49-F238E27FC236}">
                <a16:creationId xmlns:a16="http://schemas.microsoft.com/office/drawing/2014/main" id="{47276B0B-3022-39DE-197D-ACE2C0A807D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21102" y="418304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2AB9B2CD-B4F0-AEFE-FF36-3E5CEAC30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447" y="3104626"/>
            <a:ext cx="7201905" cy="37533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Bean scope-ok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singleton – 1 példány az egész alkalmazásban</a:t>
            </a:r>
          </a:p>
          <a:p>
            <a:pPr>
              <a:defRPr sz="2000"/>
            </a:pPr>
            <a:r>
              <a:t>prototype – minden kérésnél új példány</a:t>
            </a:r>
          </a:p>
          <a:p>
            <a:pPr>
              <a:defRPr sz="2000"/>
            </a:pPr>
            <a:r>
              <a:t>request – web context</a:t>
            </a:r>
          </a:p>
          <a:p>
            <a:pPr>
              <a:defRPr sz="2000"/>
            </a:pPr>
            <a:r>
              <a:t>session – web context</a:t>
            </a:r>
          </a:p>
        </p:txBody>
      </p:sp>
      <p:pic>
        <p:nvPicPr>
          <p:cNvPr id="5122" name="Picture 2" descr="Understanding Java Bean Scopes in Spring: A Detailed Guide | by Pratik T |  Medium">
            <a:extLst>
              <a:ext uri="{FF2B5EF4-FFF2-40B4-BE49-F238E27FC236}">
                <a16:creationId xmlns:a16="http://schemas.microsoft.com/office/drawing/2014/main" id="{E01825DF-A945-D268-4A8A-E89488267A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704" y="3128404"/>
            <a:ext cx="6856592" cy="3729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Konfigurációs lehetőségek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XML </a:t>
            </a:r>
            <a:r>
              <a:rPr dirty="0" err="1"/>
              <a:t>konfiguráció</a:t>
            </a:r>
            <a:r>
              <a:rPr dirty="0"/>
              <a:t> (</a:t>
            </a:r>
            <a:r>
              <a:rPr dirty="0" err="1"/>
              <a:t>régebbi</a:t>
            </a:r>
            <a:r>
              <a:rPr dirty="0"/>
              <a:t>)</a:t>
            </a:r>
          </a:p>
          <a:p>
            <a:pPr>
              <a:defRPr sz="2000"/>
            </a:pPr>
            <a:r>
              <a:rPr dirty="0" err="1"/>
              <a:t>Annotációk</a:t>
            </a:r>
            <a:r>
              <a:rPr dirty="0"/>
              <a:t>: @Component, @Service, @Repository, @Controller</a:t>
            </a:r>
          </a:p>
          <a:p>
            <a:pPr>
              <a:defRPr sz="2000"/>
            </a:pPr>
            <a:r>
              <a:rPr dirty="0"/>
              <a:t>@Autowired – </a:t>
            </a:r>
            <a:r>
              <a:rPr dirty="0" err="1"/>
              <a:t>függőség</a:t>
            </a:r>
            <a:r>
              <a:rPr dirty="0"/>
              <a:t> </a:t>
            </a:r>
            <a:r>
              <a:rPr dirty="0" err="1"/>
              <a:t>bekötése</a:t>
            </a:r>
            <a:endParaRPr dirty="0"/>
          </a:p>
          <a:p>
            <a:pPr>
              <a:defRPr sz="2000"/>
            </a:pPr>
            <a:r>
              <a:rPr dirty="0"/>
              <a:t>Java-based </a:t>
            </a:r>
            <a:r>
              <a:rPr dirty="0" err="1"/>
              <a:t>konfiguráció</a:t>
            </a:r>
            <a:r>
              <a:rPr dirty="0"/>
              <a:t>: @Configuration, @Bean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Spring vs. sima Java objektumkezelés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Java-ban: kézzel példányosítás és összekapcsolás</a:t>
            </a:r>
          </a:p>
          <a:p>
            <a:pPr>
              <a:defRPr sz="2000"/>
            </a:pPr>
            <a:r>
              <a:t>Spring-ben: ApplicationContext kezeli a beane-ket</a:t>
            </a:r>
          </a:p>
          <a:p>
            <a:pPr>
              <a:defRPr sz="2000"/>
            </a:pPr>
            <a:r>
              <a:t>Előny: fejlesztő helyett a Spring intézi a példányosítást</a:t>
            </a:r>
          </a:p>
        </p:txBody>
      </p:sp>
      <p:pic>
        <p:nvPicPr>
          <p:cNvPr id="6146" name="Picture 2" descr="BeanFactory vs ApplicationContext in Spring - GeeksforGeeks">
            <a:extLst>
              <a:ext uri="{FF2B5EF4-FFF2-40B4-BE49-F238E27FC236}">
                <a16:creationId xmlns:a16="http://schemas.microsoft.com/office/drawing/2014/main" id="{5D4D1E1B-F0A9-C362-82E2-66E38E265A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" y="2844187"/>
            <a:ext cx="5739468" cy="2040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2C2EE26C-9347-016F-C8E4-2E0887BA72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559642"/>
            <a:ext cx="4572000" cy="229835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Összefoglalás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Spring Core </a:t>
            </a:r>
            <a:r>
              <a:rPr dirty="0" err="1"/>
              <a:t>alapfogalmak</a:t>
            </a:r>
            <a:r>
              <a:rPr dirty="0"/>
              <a:t>: IoC, DI, Bean </a:t>
            </a:r>
            <a:r>
              <a:rPr dirty="0" err="1"/>
              <a:t>kezelés</a:t>
            </a:r>
            <a:endParaRPr dirty="0"/>
          </a:p>
          <a:p>
            <a:pPr>
              <a:defRPr sz="2000"/>
            </a:pPr>
            <a:r>
              <a:rPr dirty="0" err="1"/>
              <a:t>Konfiguráció</a:t>
            </a:r>
            <a:r>
              <a:rPr dirty="0"/>
              <a:t>: XML, </a:t>
            </a:r>
            <a:r>
              <a:rPr dirty="0" err="1"/>
              <a:t>annotáció</a:t>
            </a:r>
            <a:r>
              <a:rPr dirty="0"/>
              <a:t>, Java-based</a:t>
            </a:r>
          </a:p>
          <a:p>
            <a:pPr>
              <a:defRPr sz="2000"/>
            </a:pPr>
            <a:r>
              <a:rPr dirty="0"/>
              <a:t>Spring </a:t>
            </a:r>
            <a:r>
              <a:rPr dirty="0" err="1"/>
              <a:t>előnye</a:t>
            </a:r>
            <a:r>
              <a:rPr dirty="0"/>
              <a:t>: </a:t>
            </a:r>
            <a:r>
              <a:rPr dirty="0" err="1"/>
              <a:t>lazán</a:t>
            </a:r>
            <a:r>
              <a:rPr dirty="0"/>
              <a:t> </a:t>
            </a:r>
            <a:r>
              <a:rPr dirty="0" err="1"/>
              <a:t>csatolt</a:t>
            </a:r>
            <a:r>
              <a:rPr dirty="0"/>
              <a:t>, </a:t>
            </a:r>
            <a:r>
              <a:rPr dirty="0" err="1"/>
              <a:t>könnyen</a:t>
            </a:r>
            <a:r>
              <a:rPr dirty="0"/>
              <a:t> </a:t>
            </a:r>
            <a:r>
              <a:rPr dirty="0" err="1"/>
              <a:t>tesztelhető</a:t>
            </a:r>
            <a:r>
              <a:rPr dirty="0"/>
              <a:t> </a:t>
            </a:r>
            <a:r>
              <a:rPr dirty="0" err="1"/>
              <a:t>kód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265</Words>
  <Application>Microsoft Office PowerPoint</Application>
  <PresentationFormat>Diavetítés a képernyőre (4:3 oldalarány)</PresentationFormat>
  <Paragraphs>41</Paragraphs>
  <Slides>10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Spring Core ismétlés</vt:lpstr>
      <vt:lpstr>Bevezetés a Spring keretrendszerbe</vt:lpstr>
      <vt:lpstr>Spring architektúra áttekintés</vt:lpstr>
      <vt:lpstr>Inversion of Control (IoC)</vt:lpstr>
      <vt:lpstr>Dependency Injection (DI)</vt:lpstr>
      <vt:lpstr>Bean és ApplicationContext</vt:lpstr>
      <vt:lpstr>Bean scope-ok</vt:lpstr>
      <vt:lpstr>Konfigurációs lehetőségek</vt:lpstr>
      <vt:lpstr>Spring vs. sima Java objektumkezelés</vt:lpstr>
      <vt:lpstr>Összefoglalás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Kristof Lovasz</cp:lastModifiedBy>
  <cp:revision>10</cp:revision>
  <dcterms:created xsi:type="dcterms:W3CDTF">2013-01-27T09:14:16Z</dcterms:created>
  <dcterms:modified xsi:type="dcterms:W3CDTF">2026-02-18T07:37:38Z</dcterms:modified>
  <cp:category/>
</cp:coreProperties>
</file>